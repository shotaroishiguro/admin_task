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4.1_ナショナル・ブランド・メーカーのPB商品" id="{50886D8D-B3C0-4131-89DF-0892924E8484}">
          <p14:sldIdLst>
            <p14:sldId id="256"/>
            <p14:sldId id="257"/>
          </p14:sldIdLst>
        </p14:section>
        <p14:section name="4.2_卸店ネットワーク再編" id="{1738708F-AACB-48BA-97AC-5E422E32FA1F}">
          <p14:sldIdLst>
            <p14:sldId id="258"/>
          </p14:sldIdLst>
        </p14:section>
        <p14:section name="4.3_アマゾンvs楽天" id="{A23B6CAF-93EF-4CC2-B845-DE5E93AC8B49}">
          <p14:sldIdLst>
            <p14:sldId id="259"/>
          </p14:sldIdLst>
        </p14:section>
        <p14:section name="4.4_花王の直販vsP&amp;Gの卸" id="{19A4A462-79A3-4DA2-A72B-09EFF54EF253}">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E3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14" autoAdjust="0"/>
    <p:restoredTop sz="90603" autoAdjust="0"/>
  </p:normalViewPr>
  <p:slideViewPr>
    <p:cSldViewPr snapToGrid="0" showGuides="1">
      <p:cViewPr varScale="1">
        <p:scale>
          <a:sx n="61" d="100"/>
          <a:sy n="61" d="100"/>
        </p:scale>
        <p:origin x="96" y="2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D25CD4-97A0-4A8B-8B68-79239C598E73}" type="datetimeFigureOut">
              <a:rPr kumimoji="1" lang="ja-JP" altLang="en-US" smtClean="0"/>
              <a:t>2026/4/19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FED925-DE13-4A90-A87A-3369165250F3}" type="slidenum">
              <a:rPr kumimoji="1" lang="ja-JP" altLang="en-US" smtClean="0"/>
              <a:t>‹#›</a:t>
            </a:fld>
            <a:endParaRPr kumimoji="1" lang="ja-JP" altLang="en-US"/>
          </a:p>
        </p:txBody>
      </p:sp>
    </p:spTree>
    <p:extLst>
      <p:ext uri="{BB962C8B-B14F-4D97-AF65-F5344CB8AC3E}">
        <p14:creationId xmlns:p14="http://schemas.microsoft.com/office/powerpoint/2010/main" val="375710628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7FED925-DE13-4A90-A87A-3369165250F3}" type="slidenum">
              <a:rPr kumimoji="1" lang="ja-JP" altLang="en-US" smtClean="0"/>
              <a:t>4</a:t>
            </a:fld>
            <a:endParaRPr kumimoji="1" lang="ja-JP" altLang="en-US"/>
          </a:p>
        </p:txBody>
      </p:sp>
    </p:spTree>
    <p:extLst>
      <p:ext uri="{BB962C8B-B14F-4D97-AF65-F5344CB8AC3E}">
        <p14:creationId xmlns:p14="http://schemas.microsoft.com/office/powerpoint/2010/main" val="3205190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7FED925-DE13-4A90-A87A-3369165250F3}" type="slidenum">
              <a:rPr kumimoji="1" lang="ja-JP" altLang="en-US" smtClean="0"/>
              <a:t>5</a:t>
            </a:fld>
            <a:endParaRPr kumimoji="1" lang="ja-JP" altLang="en-US"/>
          </a:p>
        </p:txBody>
      </p:sp>
    </p:spTree>
    <p:extLst>
      <p:ext uri="{BB962C8B-B14F-4D97-AF65-F5344CB8AC3E}">
        <p14:creationId xmlns:p14="http://schemas.microsoft.com/office/powerpoint/2010/main" val="2841955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E6D315-CFA7-F18F-5611-0E390411DD47}"/>
              </a:ext>
            </a:extLst>
          </p:cNvPr>
          <p:cNvSpPr>
            <a:spLocks noGrp="1"/>
          </p:cNvSpPr>
          <p:nvPr>
            <p:ph type="title" hasCustomPrompt="1"/>
          </p:nvPr>
        </p:nvSpPr>
        <p:spPr>
          <a:xfrm>
            <a:off x="317241" y="131860"/>
            <a:ext cx="11551298" cy="474630"/>
          </a:xfrm>
        </p:spPr>
        <p:txBody>
          <a:bodyPr/>
          <a:lstStyle>
            <a:lvl1pPr>
              <a:defRPr sz="2400">
                <a:solidFill>
                  <a:schemeClr val="accent1"/>
                </a:solidFill>
                <a:latin typeface="Meiryo UI" panose="020B0604030504040204" pitchFamily="50" charset="-128"/>
                <a:ea typeface="Meiryo UI" panose="020B0604030504040204" pitchFamily="50" charset="-128"/>
              </a:defRPr>
            </a:lvl1pPr>
          </a:lstStyle>
          <a:p>
            <a:r>
              <a:rPr kumimoji="1" lang="ja-JP" altLang="en-US" dirty="0"/>
              <a:t>スライドメッセージ</a:t>
            </a:r>
          </a:p>
        </p:txBody>
      </p:sp>
      <p:sp>
        <p:nvSpPr>
          <p:cNvPr id="3" name="日付プレースホルダー 2">
            <a:extLst>
              <a:ext uri="{FF2B5EF4-FFF2-40B4-BE49-F238E27FC236}">
                <a16:creationId xmlns:a16="http://schemas.microsoft.com/office/drawing/2014/main" id="{7FDA7B0C-E626-8C86-C3F9-6029BC54B71E}"/>
              </a:ext>
            </a:extLst>
          </p:cNvPr>
          <p:cNvSpPr>
            <a:spLocks noGrp="1"/>
          </p:cNvSpPr>
          <p:nvPr>
            <p:ph type="dt" sz="half" idx="10"/>
          </p:nvPr>
        </p:nvSpPr>
        <p:spPr>
          <a:xfrm>
            <a:off x="838200" y="6356351"/>
            <a:ext cx="2743200" cy="171858"/>
          </a:xfrm>
        </p:spPr>
        <p:txBody>
          <a:bodyPr/>
          <a:lstStyle>
            <a:lvl1pPr>
              <a:defRPr>
                <a:latin typeface="Meiryo UI" panose="020B0604030504040204" pitchFamily="50" charset="-128"/>
                <a:ea typeface="Meiryo UI" panose="020B0604030504040204" pitchFamily="50" charset="-128"/>
              </a:defRPr>
            </a:lvl1pPr>
          </a:lstStyle>
          <a:p>
            <a:fld id="{C01B8CA8-A7CC-40E4-8ED6-81B4D5F9400B}" type="datetimeFigureOut">
              <a:rPr lang="ja-JP" altLang="en-US" smtClean="0"/>
              <a:pPr/>
              <a:t>2026/4/19</a:t>
            </a:fld>
            <a:endParaRPr lang="ja-JP" altLang="en-US"/>
          </a:p>
        </p:txBody>
      </p:sp>
      <p:sp>
        <p:nvSpPr>
          <p:cNvPr id="4" name="フッター プレースホルダー 3">
            <a:extLst>
              <a:ext uri="{FF2B5EF4-FFF2-40B4-BE49-F238E27FC236}">
                <a16:creationId xmlns:a16="http://schemas.microsoft.com/office/drawing/2014/main" id="{6BFC6DE0-39C8-6F03-0152-8578F7BA9AC8}"/>
              </a:ext>
            </a:extLst>
          </p:cNvPr>
          <p:cNvSpPr>
            <a:spLocks noGrp="1"/>
          </p:cNvSpPr>
          <p:nvPr>
            <p:ph type="ftr" sz="quarter" idx="11"/>
          </p:nvPr>
        </p:nvSpPr>
        <p:spPr>
          <a:xfrm>
            <a:off x="4038600" y="6356351"/>
            <a:ext cx="4114800" cy="171858"/>
          </a:xfrm>
        </p:spPr>
        <p:txBody>
          <a:bodyPr/>
          <a:lstStyle>
            <a:lvl1pPr>
              <a:defRPr>
                <a:latin typeface="Meiryo UI" panose="020B0604030504040204" pitchFamily="50" charset="-128"/>
                <a:ea typeface="Meiryo UI" panose="020B0604030504040204" pitchFamily="50" charset="-128"/>
              </a:defRPr>
            </a:lvl1pPr>
          </a:lstStyle>
          <a:p>
            <a:endParaRPr lang="ja-JP" altLang="en-US"/>
          </a:p>
        </p:txBody>
      </p:sp>
      <p:sp>
        <p:nvSpPr>
          <p:cNvPr id="5" name="スライド番号プレースホルダー 4">
            <a:extLst>
              <a:ext uri="{FF2B5EF4-FFF2-40B4-BE49-F238E27FC236}">
                <a16:creationId xmlns:a16="http://schemas.microsoft.com/office/drawing/2014/main" id="{59BE49F0-AEDB-0D71-7A52-F96FE8285EF9}"/>
              </a:ext>
            </a:extLst>
          </p:cNvPr>
          <p:cNvSpPr>
            <a:spLocks noGrp="1"/>
          </p:cNvSpPr>
          <p:nvPr>
            <p:ph type="sldNum" sz="quarter" idx="12"/>
          </p:nvPr>
        </p:nvSpPr>
        <p:spPr>
          <a:xfrm>
            <a:off x="8610600" y="6356351"/>
            <a:ext cx="2743200" cy="171858"/>
          </a:xfrm>
        </p:spPr>
        <p:txBody>
          <a:bodyPr/>
          <a:lstStyle>
            <a:lvl1pPr>
              <a:defRPr>
                <a:latin typeface="Meiryo UI" panose="020B0604030504040204" pitchFamily="50" charset="-128"/>
                <a:ea typeface="Meiryo UI" panose="020B0604030504040204" pitchFamily="50" charset="-128"/>
              </a:defRPr>
            </a:lvl1pPr>
          </a:lstStyle>
          <a:p>
            <a:fld id="{09DA963F-7807-4395-8A58-DD707CA51887}" type="slidenum">
              <a:rPr lang="ja-JP" altLang="en-US" smtClean="0"/>
              <a:pPr/>
              <a:t>‹#›</a:t>
            </a:fld>
            <a:endParaRPr lang="ja-JP" altLang="en-US"/>
          </a:p>
        </p:txBody>
      </p:sp>
      <p:sp>
        <p:nvSpPr>
          <p:cNvPr id="6" name="コンテンツ プレースホルダー 6">
            <a:extLst>
              <a:ext uri="{FF2B5EF4-FFF2-40B4-BE49-F238E27FC236}">
                <a16:creationId xmlns:a16="http://schemas.microsoft.com/office/drawing/2014/main" id="{05896C3B-FD85-59A7-4E4A-0D29E197E4DE}"/>
              </a:ext>
            </a:extLst>
          </p:cNvPr>
          <p:cNvSpPr>
            <a:spLocks noGrp="1"/>
          </p:cNvSpPr>
          <p:nvPr>
            <p:ph sz="quarter" idx="13" hasCustomPrompt="1"/>
          </p:nvPr>
        </p:nvSpPr>
        <p:spPr>
          <a:xfrm>
            <a:off x="317241" y="672225"/>
            <a:ext cx="11591536" cy="783351"/>
          </a:xfrm>
        </p:spPr>
        <p:txBody>
          <a:bodyPr>
            <a:normAutofit/>
          </a:bodyPr>
          <a:lstStyle>
            <a:lvl1pPr>
              <a:defRPr sz="1800">
                <a:solidFill>
                  <a:schemeClr val="bg2">
                    <a:lumMod val="25000"/>
                  </a:schemeClr>
                </a:solidFill>
                <a:latin typeface="Meiryo UI" panose="020B0604030504040204" pitchFamily="50" charset="-128"/>
                <a:ea typeface="Meiryo UI" panose="020B0604030504040204" pitchFamily="50" charset="-128"/>
              </a:defRPr>
            </a:lvl1pPr>
          </a:lstStyle>
          <a:p>
            <a:pPr lvl="0"/>
            <a:r>
              <a:rPr kumimoji="1" lang="ja-JP" altLang="en-US" dirty="0"/>
              <a:t>概要①</a:t>
            </a:r>
            <a:endParaRPr kumimoji="1" lang="en-US" altLang="ja-JP" dirty="0"/>
          </a:p>
          <a:p>
            <a:pPr lvl="0"/>
            <a:r>
              <a:rPr kumimoji="1" lang="ja-JP" altLang="en-US" dirty="0"/>
              <a:t>概要②</a:t>
            </a:r>
          </a:p>
        </p:txBody>
      </p:sp>
      <p:sp>
        <p:nvSpPr>
          <p:cNvPr id="7" name="コンテンツ プレースホルダー 6">
            <a:extLst>
              <a:ext uri="{FF2B5EF4-FFF2-40B4-BE49-F238E27FC236}">
                <a16:creationId xmlns:a16="http://schemas.microsoft.com/office/drawing/2014/main" id="{1241F936-A09D-5A21-68FF-0035A12F523E}"/>
              </a:ext>
            </a:extLst>
          </p:cNvPr>
          <p:cNvSpPr>
            <a:spLocks noGrp="1"/>
          </p:cNvSpPr>
          <p:nvPr>
            <p:ph sz="quarter" idx="14" hasCustomPrompt="1"/>
          </p:nvPr>
        </p:nvSpPr>
        <p:spPr>
          <a:xfrm>
            <a:off x="317241" y="1455576"/>
            <a:ext cx="11591536" cy="4730198"/>
          </a:xfrm>
        </p:spPr>
        <p:txBody>
          <a:bodyPr>
            <a:normAutofit/>
          </a:bodyPr>
          <a:lstStyle>
            <a:lvl1pPr>
              <a:defRPr sz="1600">
                <a:solidFill>
                  <a:schemeClr val="bg2">
                    <a:lumMod val="25000"/>
                  </a:schemeClr>
                </a:solidFill>
                <a:latin typeface="Meiryo UI" panose="020B0604030504040204" pitchFamily="50" charset="-128"/>
                <a:ea typeface="Meiryo UI" panose="020B0604030504040204" pitchFamily="50" charset="-128"/>
              </a:defRPr>
            </a:lvl1pPr>
            <a:lvl2pPr>
              <a:buFont typeface="Wingdings" panose="05000000000000000000" pitchFamily="2" charset="2"/>
              <a:buChar char="Ø"/>
              <a:defRPr sz="1400">
                <a:solidFill>
                  <a:schemeClr val="bg2">
                    <a:lumMod val="25000"/>
                  </a:schemeClr>
                </a:solidFill>
                <a:latin typeface="Meiryo UI" panose="020B0604030504040204" pitchFamily="50" charset="-128"/>
                <a:ea typeface="Meiryo UI" panose="020B0604030504040204" pitchFamily="50" charset="-128"/>
              </a:defRPr>
            </a:lvl2pPr>
          </a:lstStyle>
          <a:p>
            <a:pPr lvl="0"/>
            <a:r>
              <a:rPr kumimoji="1" lang="ja-JP" altLang="en-US" dirty="0"/>
              <a:t>インデント①</a:t>
            </a:r>
            <a:endParaRPr kumimoji="1" lang="en-US" altLang="ja-JP" dirty="0"/>
          </a:p>
          <a:p>
            <a:pPr lvl="1"/>
            <a:r>
              <a:rPr kumimoji="1" lang="ja-JP" altLang="en-US" dirty="0"/>
              <a:t>インデント②</a:t>
            </a:r>
          </a:p>
        </p:txBody>
      </p:sp>
    </p:spTree>
    <p:extLst>
      <p:ext uri="{BB962C8B-B14F-4D97-AF65-F5344CB8AC3E}">
        <p14:creationId xmlns:p14="http://schemas.microsoft.com/office/powerpoint/2010/main" val="348475049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A764A8A-05EF-FF45-EC95-3A9C5909D1E2}"/>
              </a:ext>
            </a:extLst>
          </p:cNvPr>
          <p:cNvSpPr>
            <a:spLocks noGrp="1"/>
          </p:cNvSpPr>
          <p:nvPr>
            <p:ph type="title"/>
          </p:nvPr>
        </p:nvSpPr>
        <p:spPr>
          <a:xfrm>
            <a:off x="317241" y="131860"/>
            <a:ext cx="11551298" cy="474630"/>
          </a:xfrm>
          <a:prstGeom prst="rect">
            <a:avLst/>
          </a:prstGeom>
        </p:spPr>
        <p:txBody>
          <a:bodyPr vert="horz" lIns="91440" tIns="45720" rIns="91440" bIns="45720" rtlCol="0" anchor="ctr">
            <a:noAutofit/>
          </a:bodyPr>
          <a:lstStyle/>
          <a:p>
            <a:r>
              <a:rPr kumimoji="1" lang="ja-JP" altLang="en-US" dirty="0"/>
              <a:t>スライドメッセージ</a:t>
            </a:r>
          </a:p>
        </p:txBody>
      </p:sp>
      <p:sp>
        <p:nvSpPr>
          <p:cNvPr id="3" name="テキスト プレースホルダー 2">
            <a:extLst>
              <a:ext uri="{FF2B5EF4-FFF2-40B4-BE49-F238E27FC236}">
                <a16:creationId xmlns:a16="http://schemas.microsoft.com/office/drawing/2014/main" id="{ED3FD47D-708A-7F8E-1E52-F5921F5509E5}"/>
              </a:ext>
            </a:extLst>
          </p:cNvPr>
          <p:cNvSpPr>
            <a:spLocks noGrp="1"/>
          </p:cNvSpPr>
          <p:nvPr>
            <p:ph type="body" idx="1"/>
          </p:nvPr>
        </p:nvSpPr>
        <p:spPr>
          <a:xfrm>
            <a:off x="838200" y="1825625"/>
            <a:ext cx="10515600" cy="2048101"/>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462AE49-EF35-CCB1-26EF-AC9D5131B276}"/>
              </a:ext>
            </a:extLst>
          </p:cNvPr>
          <p:cNvSpPr>
            <a:spLocks noGrp="1"/>
          </p:cNvSpPr>
          <p:nvPr>
            <p:ph type="dt" sz="half" idx="2"/>
          </p:nvPr>
        </p:nvSpPr>
        <p:spPr>
          <a:xfrm>
            <a:off x="838200" y="6356351"/>
            <a:ext cx="2743200" cy="171858"/>
          </a:xfrm>
          <a:prstGeom prst="rect">
            <a:avLst/>
          </a:prstGeom>
        </p:spPr>
        <p:txBody>
          <a:bodyPr vert="horz" lIns="91440" tIns="45720" rIns="91440" bIns="45720" rtlCol="0" anchor="ctr"/>
          <a:lstStyle>
            <a:lvl1pPr algn="l">
              <a:defRPr sz="1200">
                <a:solidFill>
                  <a:schemeClr val="tx1">
                    <a:tint val="82000"/>
                  </a:schemeClr>
                </a:solidFill>
                <a:latin typeface="Meiryo UI" panose="020B0604030504040204" pitchFamily="50" charset="-128"/>
                <a:ea typeface="Meiryo UI" panose="020B0604030504040204" pitchFamily="50" charset="-128"/>
              </a:defRPr>
            </a:lvl1pPr>
          </a:lstStyle>
          <a:p>
            <a:fld id="{C01B8CA8-A7CC-40E4-8ED6-81B4D5F9400B}" type="datetimeFigureOut">
              <a:rPr lang="ja-JP" altLang="en-US" smtClean="0"/>
              <a:pPr/>
              <a:t>2026/4/19</a:t>
            </a:fld>
            <a:endParaRPr lang="ja-JP" altLang="en-US"/>
          </a:p>
        </p:txBody>
      </p:sp>
      <p:sp>
        <p:nvSpPr>
          <p:cNvPr id="5" name="フッター プレースホルダー 4">
            <a:extLst>
              <a:ext uri="{FF2B5EF4-FFF2-40B4-BE49-F238E27FC236}">
                <a16:creationId xmlns:a16="http://schemas.microsoft.com/office/drawing/2014/main" id="{291A030F-6976-1B52-C3D0-4273BCA10343}"/>
              </a:ext>
            </a:extLst>
          </p:cNvPr>
          <p:cNvSpPr>
            <a:spLocks noGrp="1"/>
          </p:cNvSpPr>
          <p:nvPr>
            <p:ph type="ftr" sz="quarter" idx="3"/>
          </p:nvPr>
        </p:nvSpPr>
        <p:spPr>
          <a:xfrm>
            <a:off x="4038600" y="6356351"/>
            <a:ext cx="4114800" cy="171858"/>
          </a:xfrm>
          <a:prstGeom prst="rect">
            <a:avLst/>
          </a:prstGeom>
        </p:spPr>
        <p:txBody>
          <a:bodyPr vert="horz" lIns="91440" tIns="45720" rIns="91440" bIns="45720" rtlCol="0" anchor="ctr"/>
          <a:lstStyle>
            <a:lvl1pPr algn="ctr">
              <a:defRPr sz="1200">
                <a:solidFill>
                  <a:schemeClr val="tx1">
                    <a:tint val="82000"/>
                  </a:schemeClr>
                </a:solidFill>
                <a:latin typeface="Meiryo UI" panose="020B0604030504040204" pitchFamily="50" charset="-128"/>
                <a:ea typeface="Meiryo UI" panose="020B0604030504040204" pitchFamily="50" charset="-128"/>
              </a:defRPr>
            </a:lvl1pPr>
          </a:lstStyle>
          <a:p>
            <a:endParaRPr lang="ja-JP" altLang="en-US"/>
          </a:p>
        </p:txBody>
      </p:sp>
      <p:sp>
        <p:nvSpPr>
          <p:cNvPr id="6" name="スライド番号プレースホルダー 5">
            <a:extLst>
              <a:ext uri="{FF2B5EF4-FFF2-40B4-BE49-F238E27FC236}">
                <a16:creationId xmlns:a16="http://schemas.microsoft.com/office/drawing/2014/main" id="{40836DE0-44E5-50EA-C883-68714F6310E6}"/>
              </a:ext>
            </a:extLst>
          </p:cNvPr>
          <p:cNvSpPr>
            <a:spLocks noGrp="1"/>
          </p:cNvSpPr>
          <p:nvPr>
            <p:ph type="sldNum" sz="quarter" idx="4"/>
          </p:nvPr>
        </p:nvSpPr>
        <p:spPr>
          <a:xfrm>
            <a:off x="8610600" y="6356351"/>
            <a:ext cx="2743200" cy="171858"/>
          </a:xfrm>
          <a:prstGeom prst="rect">
            <a:avLst/>
          </a:prstGeom>
        </p:spPr>
        <p:txBody>
          <a:bodyPr vert="horz" lIns="91440" tIns="45720" rIns="91440" bIns="45720" rtlCol="0" anchor="ctr"/>
          <a:lstStyle>
            <a:lvl1pPr algn="r">
              <a:defRPr sz="1200">
                <a:solidFill>
                  <a:schemeClr val="tx1">
                    <a:tint val="82000"/>
                  </a:schemeClr>
                </a:solidFill>
                <a:latin typeface="Meiryo UI" panose="020B0604030504040204" pitchFamily="50" charset="-128"/>
                <a:ea typeface="Meiryo UI" panose="020B0604030504040204" pitchFamily="50" charset="-128"/>
              </a:defRPr>
            </a:lvl1pPr>
          </a:lstStyle>
          <a:p>
            <a:fld id="{09DA963F-7807-4395-8A58-DD707CA51887}" type="slidenum">
              <a:rPr lang="ja-JP" altLang="en-US" smtClean="0"/>
              <a:pPr/>
              <a:t>‹#›</a:t>
            </a:fld>
            <a:endParaRPr lang="ja-JP" altLang="en-US"/>
          </a:p>
        </p:txBody>
      </p:sp>
    </p:spTree>
    <p:extLst>
      <p:ext uri="{BB962C8B-B14F-4D97-AF65-F5344CB8AC3E}">
        <p14:creationId xmlns:p14="http://schemas.microsoft.com/office/powerpoint/2010/main" val="366315266"/>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kumimoji="1" sz="3200" kern="1200">
          <a:solidFill>
            <a:schemeClr val="tx2">
              <a:lumMod val="75000"/>
              <a:lumOff val="25000"/>
            </a:schemeClr>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218A70-8595-4397-CFC3-B8F28FD3479F}"/>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5722C776-6004-7137-ED36-ED5EC51EE677}"/>
              </a:ext>
            </a:extLst>
          </p:cNvPr>
          <p:cNvSpPr>
            <a:spLocks noGrp="1"/>
          </p:cNvSpPr>
          <p:nvPr>
            <p:ph sz="quarter" idx="13"/>
          </p:nvPr>
        </p:nvSpPr>
        <p:spPr/>
        <p:txBody>
          <a:bodyPr/>
          <a:lstStyle/>
          <a:p>
            <a:endParaRPr kumimoji="1" lang="ja-JP" altLang="en-US"/>
          </a:p>
        </p:txBody>
      </p:sp>
      <p:sp>
        <p:nvSpPr>
          <p:cNvPr id="4" name="コンテンツ プレースホルダー 3">
            <a:extLst>
              <a:ext uri="{FF2B5EF4-FFF2-40B4-BE49-F238E27FC236}">
                <a16:creationId xmlns:a16="http://schemas.microsoft.com/office/drawing/2014/main" id="{76A7BAA1-729B-AC13-9E9B-F218EF0F8062}"/>
              </a:ext>
            </a:extLst>
          </p:cNvPr>
          <p:cNvSpPr>
            <a:spLocks noGrp="1"/>
          </p:cNvSpPr>
          <p:nvPr>
            <p:ph sz="quarter" idx="14"/>
          </p:nvPr>
        </p:nvSpPr>
        <p:spPr/>
        <p:txBody>
          <a:bodyPr/>
          <a:lstStyle/>
          <a:p>
            <a:pPr marL="0" indent="0">
              <a:buNone/>
            </a:pPr>
            <a:r>
              <a:rPr kumimoji="1" lang="en-US" altLang="ja-JP" dirty="0"/>
              <a:t>Q</a:t>
            </a:r>
            <a:r>
              <a:rPr kumimoji="1" lang="ja-JP" altLang="en-US" dirty="0"/>
              <a:t>：ナショナル・ブランド・メーカーが小売り向け委にプライベート・ブランドを提供するメリットとデメリットを考えよ。</a:t>
            </a:r>
            <a:endParaRPr kumimoji="1" lang="en-US" altLang="ja-JP" dirty="0"/>
          </a:p>
          <a:p>
            <a:pPr marL="0" indent="0">
              <a:buNone/>
            </a:pPr>
            <a:r>
              <a:rPr lang="ja-JP" altLang="en-US" dirty="0"/>
              <a:t>メリット</a:t>
            </a:r>
            <a:endParaRPr lang="en-US" altLang="ja-JP" dirty="0"/>
          </a:p>
          <a:p>
            <a:pPr marL="0" indent="0">
              <a:buNone/>
            </a:pPr>
            <a:r>
              <a:rPr lang="en-US" altLang="ja-JP" sz="1200" b="1" dirty="0"/>
              <a:t>1. </a:t>
            </a:r>
            <a:r>
              <a:rPr lang="ja-JP" altLang="en-US" sz="1200" b="1" dirty="0"/>
              <a:t>設備稼働率の向上と固定費回収</a:t>
            </a:r>
            <a:r>
              <a:rPr lang="ja-JP" altLang="en-US" sz="1200" dirty="0"/>
              <a:t> 自社工場の余剰生産能力を</a:t>
            </a:r>
            <a:r>
              <a:rPr lang="en-US" altLang="ja-JP" sz="1200" dirty="0"/>
              <a:t>PB</a:t>
            </a:r>
            <a:r>
              <a:rPr lang="ja-JP" altLang="en-US" sz="1200" dirty="0"/>
              <a:t>生産に振り向けることで、固定費を広く分散回収できる。需要変動の大きい品目では生産平準化にも寄与する。</a:t>
            </a:r>
          </a:p>
          <a:p>
            <a:pPr marL="0" indent="0">
              <a:buNone/>
            </a:pPr>
            <a:r>
              <a:rPr lang="en-US" altLang="ja-JP" sz="1200" b="1" dirty="0"/>
              <a:t>2. </a:t>
            </a:r>
            <a:r>
              <a:rPr lang="ja-JP" altLang="en-US" sz="1200" b="1" dirty="0"/>
              <a:t>売上規模の拡大とスケールメリット</a:t>
            </a:r>
            <a:r>
              <a:rPr lang="ja-JP" altLang="en-US" sz="1200" dirty="0"/>
              <a:t> </a:t>
            </a:r>
            <a:r>
              <a:rPr lang="en-US" altLang="ja-JP" sz="1200" dirty="0"/>
              <a:t>PB</a:t>
            </a:r>
            <a:r>
              <a:rPr lang="ja-JP" altLang="en-US" sz="1200" dirty="0"/>
              <a:t>受注による生産量増加は、原材料調達における価格交渉力を高め、単位あたり製造コストの低減につながる。結果として</a:t>
            </a:r>
            <a:r>
              <a:rPr lang="en-US" altLang="ja-JP" sz="1200" dirty="0"/>
              <a:t>NB</a:t>
            </a:r>
            <a:r>
              <a:rPr lang="ja-JP" altLang="en-US" sz="1200" dirty="0"/>
              <a:t>商品の収益性改善にも波及効果が期待できる。</a:t>
            </a:r>
          </a:p>
          <a:p>
            <a:pPr marL="0" indent="0">
              <a:buNone/>
            </a:pPr>
            <a:r>
              <a:rPr lang="en-US" altLang="ja-JP" sz="1200" b="1" dirty="0"/>
              <a:t>3. </a:t>
            </a:r>
            <a:r>
              <a:rPr lang="ja-JP" altLang="en-US" sz="1200" b="1" dirty="0"/>
              <a:t>小売との取引関係の強化</a:t>
            </a:r>
            <a:r>
              <a:rPr lang="ja-JP" altLang="en-US" sz="1200" dirty="0"/>
              <a:t> </a:t>
            </a:r>
            <a:r>
              <a:rPr lang="en-US" altLang="ja-JP" sz="1200" dirty="0"/>
              <a:t>PB</a:t>
            </a:r>
            <a:r>
              <a:rPr lang="ja-JP" altLang="en-US" sz="1200" dirty="0"/>
              <a:t>供給により小売バイヤーとの関係が深化し、</a:t>
            </a:r>
            <a:r>
              <a:rPr lang="en-US" altLang="ja-JP" sz="1200" dirty="0"/>
              <a:t>NB</a:t>
            </a:r>
            <a:r>
              <a:rPr lang="ja-JP" altLang="en-US" sz="1200" dirty="0"/>
              <a:t>商品の棚確保・販促協力・新商品導入において交渉上優位なポジションを構築しやすくなる。</a:t>
            </a:r>
          </a:p>
          <a:p>
            <a:pPr marL="0" indent="0">
              <a:buNone/>
            </a:pPr>
            <a:r>
              <a:rPr lang="en-US" altLang="ja-JP" sz="1200" b="1" dirty="0"/>
              <a:t>4. </a:t>
            </a:r>
            <a:r>
              <a:rPr lang="ja-JP" altLang="en-US" sz="1200" b="1" dirty="0"/>
              <a:t>市場情報へのアクセス</a:t>
            </a:r>
            <a:r>
              <a:rPr lang="ja-JP" altLang="en-US" sz="1200" dirty="0"/>
              <a:t> 小売の</a:t>
            </a:r>
            <a:r>
              <a:rPr lang="en-US" altLang="ja-JP" sz="1200" dirty="0"/>
              <a:t>POS</a:t>
            </a:r>
            <a:r>
              <a:rPr lang="ja-JP" altLang="en-US" sz="1200" dirty="0"/>
              <a:t>・</a:t>
            </a:r>
            <a:r>
              <a:rPr lang="en-US" altLang="ja-JP" sz="1200" dirty="0"/>
              <a:t>ID-POS</a:t>
            </a:r>
            <a:r>
              <a:rPr lang="ja-JP" altLang="en-US" sz="1200" dirty="0"/>
              <a:t>データや消費者購買動向への接点が増え、自社</a:t>
            </a:r>
            <a:r>
              <a:rPr lang="en-US" altLang="ja-JP" sz="1200" dirty="0"/>
              <a:t>NB</a:t>
            </a:r>
            <a:r>
              <a:rPr lang="ja-JP" altLang="en-US" sz="1200" dirty="0"/>
              <a:t>商品の開発・マーケティングに活かせるインサイトを獲得できる。</a:t>
            </a:r>
          </a:p>
          <a:p>
            <a:pPr marL="0" indent="0">
              <a:buNone/>
            </a:pPr>
            <a:r>
              <a:rPr lang="en-US" altLang="ja-JP" sz="1200" b="1" dirty="0"/>
              <a:t>5. </a:t>
            </a:r>
            <a:r>
              <a:rPr lang="ja-JP" altLang="en-US" sz="1200" b="1" dirty="0"/>
              <a:t>競合排除効果</a:t>
            </a:r>
            <a:r>
              <a:rPr lang="ja-JP" altLang="en-US" sz="1200" dirty="0"/>
              <a:t> 自社が</a:t>
            </a:r>
            <a:r>
              <a:rPr lang="en-US" altLang="ja-JP" sz="1200" dirty="0"/>
              <a:t>PB</a:t>
            </a:r>
            <a:r>
              <a:rPr lang="ja-JP" altLang="en-US" sz="1200" dirty="0"/>
              <a:t>供給を引き受けなければ、当該枠を競合メーカーに取られる可能性がある。カテゴリ内シェアを防衛する観点での意義もある。</a:t>
            </a:r>
            <a:endParaRPr lang="en-US" altLang="ja-JP" sz="1200" dirty="0"/>
          </a:p>
          <a:p>
            <a:pPr marL="0" indent="0">
              <a:buNone/>
            </a:pPr>
            <a:endParaRPr lang="en-US" altLang="ja-JP" sz="1200" dirty="0"/>
          </a:p>
          <a:p>
            <a:pPr marL="0" indent="0">
              <a:buNone/>
            </a:pPr>
            <a:r>
              <a:rPr lang="ja-JP" altLang="en-US" dirty="0"/>
              <a:t>デメリット</a:t>
            </a:r>
            <a:endParaRPr lang="en-US" altLang="ja-JP" dirty="0"/>
          </a:p>
          <a:p>
            <a:pPr marL="0" indent="0">
              <a:buNone/>
            </a:pPr>
            <a:r>
              <a:rPr lang="en-US" altLang="ja-JP" sz="1200" b="1" dirty="0"/>
              <a:t>1. NB</a:t>
            </a:r>
            <a:r>
              <a:rPr lang="ja-JP" altLang="en-US" sz="1200" b="1" dirty="0"/>
              <a:t>ブランド価値の毀損リスク</a:t>
            </a:r>
            <a:r>
              <a:rPr lang="ja-JP" altLang="en-US" sz="1200" dirty="0"/>
              <a:t> 「</a:t>
            </a:r>
            <a:r>
              <a:rPr lang="en-US" altLang="ja-JP" sz="1200" dirty="0"/>
              <a:t>NB</a:t>
            </a:r>
            <a:r>
              <a:rPr lang="ja-JP" altLang="en-US" sz="1200" dirty="0"/>
              <a:t>と</a:t>
            </a:r>
            <a:r>
              <a:rPr lang="en-US" altLang="ja-JP" sz="1200" dirty="0"/>
              <a:t>PB</a:t>
            </a:r>
            <a:r>
              <a:rPr lang="ja-JP" altLang="en-US" sz="1200" dirty="0"/>
              <a:t>が同一工場・同一製造元」という事実が消費者に認知されると、</a:t>
            </a:r>
            <a:r>
              <a:rPr lang="en-US" altLang="ja-JP" sz="1200" dirty="0"/>
              <a:t>NB</a:t>
            </a:r>
            <a:r>
              <a:rPr lang="ja-JP" altLang="en-US" sz="1200" dirty="0"/>
              <a:t>のブランドプレミアム（価格差の正当性）が揺らぎ、ブランドエクイティが低下する恐れがある。</a:t>
            </a:r>
          </a:p>
          <a:p>
            <a:pPr marL="0" indent="0">
              <a:buNone/>
            </a:pPr>
            <a:r>
              <a:rPr lang="en-US" altLang="ja-JP" sz="1200" b="1" dirty="0"/>
              <a:t>2. </a:t>
            </a:r>
            <a:r>
              <a:rPr lang="ja-JP" altLang="en-US" sz="1200" b="1" dirty="0"/>
              <a:t>自社</a:t>
            </a:r>
            <a:r>
              <a:rPr lang="en-US" altLang="ja-JP" sz="1200" b="1" dirty="0"/>
              <a:t>NB</a:t>
            </a:r>
            <a:r>
              <a:rPr lang="ja-JP" altLang="en-US" sz="1200" b="1" dirty="0"/>
              <a:t>とのカニバリゼーション</a:t>
            </a:r>
            <a:r>
              <a:rPr lang="ja-JP" altLang="en-US" sz="1200" dirty="0"/>
              <a:t> 低価格帯の</a:t>
            </a:r>
            <a:r>
              <a:rPr lang="en-US" altLang="ja-JP" sz="1200" dirty="0"/>
              <a:t>PB</a:t>
            </a:r>
            <a:r>
              <a:rPr lang="ja-JP" altLang="en-US" sz="1200" dirty="0"/>
              <a:t>を自ら供給することで、価格感度の高い消費者を</a:t>
            </a:r>
            <a:r>
              <a:rPr lang="en-US" altLang="ja-JP" sz="1200" dirty="0"/>
              <a:t>NB</a:t>
            </a:r>
            <a:r>
              <a:rPr lang="ja-JP" altLang="en-US" sz="1200" dirty="0"/>
              <a:t>から</a:t>
            </a:r>
            <a:r>
              <a:rPr lang="en-US" altLang="ja-JP" sz="1200" dirty="0"/>
              <a:t>PB</a:t>
            </a:r>
            <a:r>
              <a:rPr lang="ja-JP" altLang="en-US" sz="1200" dirty="0"/>
              <a:t>へ流出させ、自社</a:t>
            </a:r>
            <a:r>
              <a:rPr lang="en-US" altLang="ja-JP" sz="1200" dirty="0"/>
              <a:t>NB</a:t>
            </a:r>
            <a:r>
              <a:rPr lang="ja-JP" altLang="en-US" sz="1200" dirty="0"/>
              <a:t>の売上を侵食するリスクがある。</a:t>
            </a:r>
          </a:p>
          <a:p>
            <a:pPr marL="0" indent="0">
              <a:buNone/>
            </a:pPr>
            <a:r>
              <a:rPr lang="en-US" altLang="ja-JP" sz="1200" b="1" dirty="0"/>
              <a:t>3. </a:t>
            </a:r>
            <a:r>
              <a:rPr lang="ja-JP" altLang="en-US" sz="1200" b="1" dirty="0"/>
              <a:t>小売に対する交渉力の低下</a:t>
            </a:r>
            <a:r>
              <a:rPr lang="ja-JP" altLang="en-US" sz="1200" dirty="0"/>
              <a:t> </a:t>
            </a:r>
            <a:r>
              <a:rPr lang="en-US" altLang="ja-JP" sz="1200" dirty="0"/>
              <a:t>PB</a:t>
            </a:r>
            <a:r>
              <a:rPr lang="ja-JP" altLang="en-US" sz="1200" dirty="0"/>
              <a:t>売上への依存度が高まると、小売側が「</a:t>
            </a:r>
            <a:r>
              <a:rPr lang="en-US" altLang="ja-JP" sz="1200" dirty="0"/>
              <a:t>PB</a:t>
            </a:r>
            <a:r>
              <a:rPr lang="ja-JP" altLang="en-US" sz="1200" dirty="0"/>
              <a:t>契約解除」を交渉材料に用い、</a:t>
            </a:r>
            <a:r>
              <a:rPr lang="en-US" altLang="ja-JP" sz="1200" dirty="0"/>
              <a:t>NB</a:t>
            </a:r>
            <a:r>
              <a:rPr lang="ja-JP" altLang="en-US" sz="1200" dirty="0"/>
              <a:t>商品の取引条件（納入価格・リベート・棚割り）で不利な条件を飲まされる構造に陥る可能性がある。</a:t>
            </a:r>
          </a:p>
          <a:p>
            <a:pPr marL="0" indent="0">
              <a:buNone/>
            </a:pPr>
            <a:r>
              <a:rPr lang="en-US" altLang="ja-JP" sz="1200" b="1" dirty="0"/>
              <a:t>4. </a:t>
            </a:r>
            <a:r>
              <a:rPr lang="ja-JP" altLang="en-US" sz="1200" b="1" dirty="0"/>
              <a:t>収益性の低下</a:t>
            </a:r>
            <a:r>
              <a:rPr lang="ja-JP" altLang="en-US" sz="1200" dirty="0"/>
              <a:t> </a:t>
            </a:r>
            <a:r>
              <a:rPr lang="en-US" altLang="ja-JP" sz="1200" dirty="0"/>
              <a:t>PB</a:t>
            </a:r>
            <a:r>
              <a:rPr lang="ja-JP" altLang="en-US" sz="1200" dirty="0"/>
              <a:t>は</a:t>
            </a:r>
            <a:r>
              <a:rPr lang="en-US" altLang="ja-JP" sz="1200" dirty="0"/>
              <a:t>NB</a:t>
            </a:r>
            <a:r>
              <a:rPr lang="ja-JP" altLang="en-US" sz="1200" dirty="0"/>
              <a:t>に比べ粗利率が低い。売上総額は拡大しても、事業全体の利益率・利益額がむしろ悪化するケースもある。</a:t>
            </a:r>
          </a:p>
          <a:p>
            <a:pPr marL="0" indent="0">
              <a:buNone/>
            </a:pPr>
            <a:r>
              <a:rPr lang="en-US" altLang="ja-JP" sz="1200" b="1" dirty="0"/>
              <a:t>5. </a:t>
            </a:r>
            <a:r>
              <a:rPr lang="ja-JP" altLang="en-US" sz="1200" b="1" dirty="0"/>
              <a:t>経営資源の分散</a:t>
            </a:r>
            <a:r>
              <a:rPr lang="ja-JP" altLang="en-US" sz="1200" dirty="0"/>
              <a:t> 生産管理の複雑化、品質保証コストの増大、</a:t>
            </a:r>
            <a:r>
              <a:rPr lang="en-US" altLang="ja-JP" sz="1200" dirty="0"/>
              <a:t>R&amp;D</a:t>
            </a:r>
            <a:r>
              <a:rPr lang="ja-JP" altLang="en-US" sz="1200" dirty="0"/>
              <a:t>・マーケティング資源の分散など、コア事業である</a:t>
            </a:r>
            <a:r>
              <a:rPr lang="en-US" altLang="ja-JP" sz="1200" dirty="0"/>
              <a:t>NB</a:t>
            </a:r>
            <a:r>
              <a:rPr lang="ja-JP" altLang="en-US" sz="1200" dirty="0"/>
              <a:t>強化への集中を阻害するリスクがある。</a:t>
            </a:r>
          </a:p>
          <a:p>
            <a:pPr marL="0" indent="0">
              <a:buNone/>
            </a:pPr>
            <a:endParaRPr lang="en-US" altLang="ja-JP" sz="1200" dirty="0"/>
          </a:p>
          <a:p>
            <a:pPr marL="0" indent="0">
              <a:buNone/>
            </a:pPr>
            <a:endParaRPr lang="ja-JP" altLang="en-US" sz="1200" dirty="0"/>
          </a:p>
          <a:p>
            <a:endParaRPr kumimoji="1" lang="ja-JP" altLang="en-US" dirty="0"/>
          </a:p>
        </p:txBody>
      </p:sp>
    </p:spTree>
    <p:extLst>
      <p:ext uri="{BB962C8B-B14F-4D97-AF65-F5344CB8AC3E}">
        <p14:creationId xmlns:p14="http://schemas.microsoft.com/office/powerpoint/2010/main" val="2258647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825FF-ECCC-8566-47C9-76C7B6DECE7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BAD444D-4118-7753-7E7D-A4409C9F7A95}"/>
              </a:ext>
            </a:extLst>
          </p:cNvPr>
          <p:cNvSpPr>
            <a:spLocks noGrp="1"/>
          </p:cNvSpPr>
          <p:nvPr>
            <p:ph type="title"/>
          </p:nvPr>
        </p:nvSpPr>
        <p:spPr/>
        <p:txBody>
          <a:bodyPr/>
          <a:lstStyle/>
          <a:p>
            <a:endParaRPr kumimoji="1" lang="ja-JP" altLang="en-US"/>
          </a:p>
        </p:txBody>
      </p:sp>
      <p:sp>
        <p:nvSpPr>
          <p:cNvPr id="4" name="コンテンツ プレースホルダー 3">
            <a:extLst>
              <a:ext uri="{FF2B5EF4-FFF2-40B4-BE49-F238E27FC236}">
                <a16:creationId xmlns:a16="http://schemas.microsoft.com/office/drawing/2014/main" id="{C79516D6-8DE4-A512-3F27-F5BD2B4B06D6}"/>
              </a:ext>
            </a:extLst>
          </p:cNvPr>
          <p:cNvSpPr>
            <a:spLocks noGrp="1"/>
          </p:cNvSpPr>
          <p:nvPr>
            <p:ph sz="quarter" idx="14"/>
          </p:nvPr>
        </p:nvSpPr>
        <p:spPr>
          <a:xfrm>
            <a:off x="317241" y="719306"/>
            <a:ext cx="4943528" cy="6138694"/>
          </a:xfrm>
        </p:spPr>
        <p:txBody>
          <a:bodyPr>
            <a:normAutofit fontScale="70000" lnSpcReduction="20000"/>
          </a:bodyPr>
          <a:lstStyle/>
          <a:p>
            <a:pPr marL="0" indent="0">
              <a:buNone/>
            </a:pPr>
            <a:r>
              <a:rPr lang="en-US" altLang="ja-JP" dirty="0"/>
              <a:t>PB</a:t>
            </a:r>
            <a:r>
              <a:rPr lang="ja-JP" altLang="en-US" dirty="0"/>
              <a:t>供給のメリット</a:t>
            </a:r>
          </a:p>
          <a:p>
            <a:pPr marL="0" indent="0">
              <a:buNone/>
            </a:pPr>
            <a:r>
              <a:rPr lang="ja-JP" altLang="en-US" dirty="0"/>
              <a:t>│</a:t>
            </a:r>
          </a:p>
          <a:p>
            <a:pPr marL="0" indent="0">
              <a:buNone/>
            </a:pPr>
            <a:r>
              <a:rPr lang="ja-JP" altLang="en-US" dirty="0"/>
              <a:t>├─ </a:t>
            </a:r>
            <a:r>
              <a:rPr lang="en-US" altLang="ja-JP" dirty="0"/>
              <a:t>1. </a:t>
            </a:r>
            <a:r>
              <a:rPr lang="ja-JP" altLang="en-US" dirty="0"/>
              <a:t>収益・コスト面の改善</a:t>
            </a:r>
          </a:p>
          <a:p>
            <a:pPr marL="0" indent="0">
              <a:buNone/>
            </a:pPr>
            <a:r>
              <a:rPr lang="ja-JP" altLang="en-US" dirty="0"/>
              <a:t>│   ├─ 売上の拡大</a:t>
            </a:r>
          </a:p>
          <a:p>
            <a:pPr marL="0" indent="0">
              <a:buNone/>
            </a:pPr>
            <a:r>
              <a:rPr lang="ja-JP" altLang="en-US" dirty="0"/>
              <a:t>│   │   ├─ </a:t>
            </a:r>
            <a:r>
              <a:rPr lang="en-US" altLang="ja-JP" dirty="0"/>
              <a:t>PB</a:t>
            </a:r>
            <a:r>
              <a:rPr lang="ja-JP" altLang="en-US" dirty="0"/>
              <a:t>受注による新規売上の獲得</a:t>
            </a:r>
          </a:p>
          <a:p>
            <a:pPr marL="0" indent="0">
              <a:buNone/>
            </a:pPr>
            <a:r>
              <a:rPr lang="ja-JP" altLang="en-US" dirty="0"/>
              <a:t>│   │   └─ 競合に</a:t>
            </a:r>
            <a:r>
              <a:rPr lang="en-US" altLang="ja-JP" dirty="0"/>
              <a:t>PB</a:t>
            </a:r>
            <a:r>
              <a:rPr lang="ja-JP" altLang="en-US" dirty="0"/>
              <a:t>枠を奪われることの回避（シェア防衛）</a:t>
            </a:r>
          </a:p>
          <a:p>
            <a:pPr marL="0" indent="0">
              <a:buNone/>
            </a:pPr>
            <a:r>
              <a:rPr lang="ja-JP" altLang="en-US" dirty="0"/>
              <a:t>│   │</a:t>
            </a:r>
          </a:p>
          <a:p>
            <a:pPr marL="0" indent="0">
              <a:buNone/>
            </a:pPr>
            <a:r>
              <a:rPr lang="ja-JP" altLang="en-US" dirty="0"/>
              <a:t>│   ├─ 製造コストの低減</a:t>
            </a:r>
          </a:p>
          <a:p>
            <a:pPr marL="0" indent="0">
              <a:buNone/>
            </a:pPr>
            <a:r>
              <a:rPr lang="ja-JP" altLang="en-US" dirty="0"/>
              <a:t>│   │   ├─ 設備稼働率の向上による固定費回収効率の改善</a:t>
            </a:r>
          </a:p>
          <a:p>
            <a:pPr marL="0" indent="0">
              <a:buNone/>
            </a:pPr>
            <a:r>
              <a:rPr lang="ja-JP" altLang="en-US" dirty="0"/>
              <a:t>│   │   ├─ 生産量増加によるスケールメリット（単位コスト低減）</a:t>
            </a:r>
          </a:p>
          <a:p>
            <a:pPr marL="0" indent="0">
              <a:buNone/>
            </a:pPr>
            <a:r>
              <a:rPr lang="ja-JP" altLang="en-US" dirty="0"/>
              <a:t>│   │   └─ 原材料調達における購買交渉力の向上</a:t>
            </a:r>
          </a:p>
          <a:p>
            <a:pPr marL="0" indent="0">
              <a:buNone/>
            </a:pPr>
            <a:r>
              <a:rPr lang="ja-JP" altLang="en-US" dirty="0"/>
              <a:t>│   │</a:t>
            </a:r>
          </a:p>
          <a:p>
            <a:pPr marL="0" indent="0">
              <a:buNone/>
            </a:pPr>
            <a:r>
              <a:rPr lang="ja-JP" altLang="en-US" dirty="0"/>
              <a:t>│   └─ 生産オペレーションの最適化</a:t>
            </a:r>
          </a:p>
          <a:p>
            <a:pPr marL="0" indent="0">
              <a:buNone/>
            </a:pPr>
            <a:r>
              <a:rPr lang="ja-JP" altLang="en-US" dirty="0"/>
              <a:t>│       ├─ 需要変動の吸収による生産平準化</a:t>
            </a:r>
          </a:p>
          <a:p>
            <a:pPr marL="0" indent="0">
              <a:buNone/>
            </a:pPr>
            <a:r>
              <a:rPr lang="ja-JP" altLang="en-US" dirty="0"/>
              <a:t>│       └─ 余剰キャパシティの有効活用</a:t>
            </a:r>
          </a:p>
          <a:p>
            <a:pPr marL="0" indent="0">
              <a:buNone/>
            </a:pPr>
            <a:r>
              <a:rPr lang="ja-JP" altLang="en-US" dirty="0"/>
              <a:t>│</a:t>
            </a:r>
          </a:p>
          <a:p>
            <a:pPr marL="0" indent="0">
              <a:buNone/>
            </a:pPr>
            <a:r>
              <a:rPr lang="ja-JP" altLang="en-US" dirty="0"/>
              <a:t>├─ </a:t>
            </a:r>
            <a:r>
              <a:rPr lang="en-US" altLang="ja-JP" dirty="0"/>
              <a:t>2. </a:t>
            </a:r>
            <a:r>
              <a:rPr lang="ja-JP" altLang="en-US" dirty="0"/>
              <a:t>小売との関係強化</a:t>
            </a:r>
          </a:p>
          <a:p>
            <a:pPr marL="0" indent="0">
              <a:buNone/>
            </a:pPr>
            <a:r>
              <a:rPr lang="ja-JP" altLang="en-US" dirty="0"/>
              <a:t>│   ├─ 取引深度の拡大によるバイヤーとの関係構築</a:t>
            </a:r>
          </a:p>
          <a:p>
            <a:pPr marL="0" indent="0">
              <a:buNone/>
            </a:pPr>
            <a:r>
              <a:rPr lang="ja-JP" altLang="en-US" dirty="0"/>
              <a:t>│   ├─ </a:t>
            </a:r>
            <a:r>
              <a:rPr lang="en-US" altLang="ja-JP" dirty="0"/>
              <a:t>NB</a:t>
            </a:r>
            <a:r>
              <a:rPr lang="ja-JP" altLang="en-US" dirty="0"/>
              <a:t>商品の棚確保・フェイス数維持における交渉力向上</a:t>
            </a:r>
          </a:p>
          <a:p>
            <a:pPr marL="0" indent="0">
              <a:buNone/>
            </a:pPr>
            <a:r>
              <a:rPr lang="ja-JP" altLang="en-US" dirty="0"/>
              <a:t>│   └─ 販促協力・新商品導入における優遇取得</a:t>
            </a:r>
          </a:p>
          <a:p>
            <a:pPr marL="0" indent="0">
              <a:buNone/>
            </a:pPr>
            <a:r>
              <a:rPr lang="ja-JP" altLang="en-US" dirty="0"/>
              <a:t>│</a:t>
            </a:r>
          </a:p>
          <a:p>
            <a:pPr marL="0" indent="0">
              <a:buNone/>
            </a:pPr>
            <a:r>
              <a:rPr lang="ja-JP" altLang="en-US" dirty="0"/>
              <a:t>└─ </a:t>
            </a:r>
            <a:r>
              <a:rPr lang="en-US" altLang="ja-JP" dirty="0"/>
              <a:t>3. </a:t>
            </a:r>
            <a:r>
              <a:rPr lang="ja-JP" altLang="en-US" dirty="0"/>
              <a:t>市場情報・ノウハウの獲得</a:t>
            </a:r>
          </a:p>
          <a:p>
            <a:pPr marL="0" indent="0">
              <a:buNone/>
            </a:pPr>
            <a:r>
              <a:rPr lang="ja-JP" altLang="en-US" dirty="0"/>
              <a:t>    ├─ 小売</a:t>
            </a:r>
            <a:r>
              <a:rPr lang="en-US" altLang="ja-JP" dirty="0"/>
              <a:t>POS</a:t>
            </a:r>
            <a:r>
              <a:rPr lang="ja-JP" altLang="en-US" dirty="0"/>
              <a:t>・</a:t>
            </a:r>
            <a:r>
              <a:rPr lang="en-US" altLang="ja-JP" dirty="0"/>
              <a:t>ID-POS</a:t>
            </a:r>
            <a:r>
              <a:rPr lang="ja-JP" altLang="en-US" dirty="0"/>
              <a:t>データへのアクセス機会拡大</a:t>
            </a:r>
          </a:p>
          <a:p>
            <a:pPr marL="0" indent="0">
              <a:buNone/>
            </a:pPr>
            <a:r>
              <a:rPr lang="ja-JP" altLang="en-US" dirty="0"/>
              <a:t>    ├─ 消費者購買動向に関するインサイト獲得</a:t>
            </a:r>
          </a:p>
          <a:p>
            <a:pPr marL="0" indent="0">
              <a:buNone/>
            </a:pPr>
            <a:r>
              <a:rPr lang="ja-JP" altLang="en-US" dirty="0"/>
              <a:t>    └─ </a:t>
            </a:r>
            <a:r>
              <a:rPr lang="en-US" altLang="ja-JP" dirty="0"/>
              <a:t>NB</a:t>
            </a:r>
            <a:r>
              <a:rPr lang="ja-JP" altLang="en-US" dirty="0"/>
              <a:t>商品開発・マーケティングへのフィードバック活用</a:t>
            </a:r>
            <a:endParaRPr kumimoji="1" lang="ja-JP" altLang="en-US" dirty="0"/>
          </a:p>
        </p:txBody>
      </p:sp>
      <p:sp>
        <p:nvSpPr>
          <p:cNvPr id="5" name="コンテンツ プレースホルダー 3">
            <a:extLst>
              <a:ext uri="{FF2B5EF4-FFF2-40B4-BE49-F238E27FC236}">
                <a16:creationId xmlns:a16="http://schemas.microsoft.com/office/drawing/2014/main" id="{E659173C-E803-1145-C006-D2CE69D01431}"/>
              </a:ext>
            </a:extLst>
          </p:cNvPr>
          <p:cNvSpPr txBox="1">
            <a:spLocks/>
          </p:cNvSpPr>
          <p:nvPr/>
        </p:nvSpPr>
        <p:spPr>
          <a:xfrm>
            <a:off x="6925011" y="719305"/>
            <a:ext cx="4943528" cy="6394013"/>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1600" kern="1200">
                <a:solidFill>
                  <a:schemeClr val="bg2">
                    <a:lumMod val="25000"/>
                  </a:schemeClr>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kumimoji="1" sz="1400" kern="1200">
                <a:solidFill>
                  <a:schemeClr val="bg2">
                    <a:lumMod val="25000"/>
                  </a:schemeClr>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dirty="0"/>
              <a:t>PB</a:t>
            </a:r>
            <a:r>
              <a:rPr lang="ja-JP" altLang="en-US" dirty="0"/>
              <a:t>供給のデメリット</a:t>
            </a:r>
          </a:p>
          <a:p>
            <a:pPr marL="0" indent="0">
              <a:buNone/>
            </a:pPr>
            <a:r>
              <a:rPr lang="ja-JP" altLang="en-US" dirty="0"/>
              <a:t>│</a:t>
            </a:r>
          </a:p>
          <a:p>
            <a:pPr marL="0" indent="0">
              <a:buNone/>
            </a:pPr>
            <a:r>
              <a:rPr lang="ja-JP" altLang="en-US" dirty="0"/>
              <a:t>├─ </a:t>
            </a:r>
            <a:r>
              <a:rPr lang="en-US" altLang="ja-JP" dirty="0"/>
              <a:t>1. </a:t>
            </a:r>
            <a:r>
              <a:rPr lang="ja-JP" altLang="en-US" dirty="0"/>
              <a:t>ブランド価値への悪影響</a:t>
            </a:r>
          </a:p>
          <a:p>
            <a:pPr marL="0" indent="0">
              <a:buNone/>
            </a:pPr>
            <a:r>
              <a:rPr lang="ja-JP" altLang="en-US" dirty="0"/>
              <a:t>│   ├─ </a:t>
            </a:r>
            <a:r>
              <a:rPr lang="en-US" altLang="ja-JP" dirty="0"/>
              <a:t>NB</a:t>
            </a:r>
            <a:r>
              <a:rPr lang="ja-JP" altLang="en-US" dirty="0"/>
              <a:t>ブランドエクイティの毀損</a:t>
            </a:r>
          </a:p>
          <a:p>
            <a:pPr marL="0" indent="0">
              <a:buNone/>
            </a:pPr>
            <a:r>
              <a:rPr lang="ja-JP" altLang="en-US" dirty="0"/>
              <a:t>│   │   ├─ 「</a:t>
            </a:r>
            <a:r>
              <a:rPr lang="en-US" altLang="ja-JP" dirty="0"/>
              <a:t>NB</a:t>
            </a:r>
            <a:r>
              <a:rPr lang="ja-JP" altLang="en-US" dirty="0"/>
              <a:t>と</a:t>
            </a:r>
            <a:r>
              <a:rPr lang="en-US" altLang="ja-JP" dirty="0"/>
              <a:t>PB</a:t>
            </a:r>
            <a:r>
              <a:rPr lang="ja-JP" altLang="en-US" dirty="0"/>
              <a:t>が同一製造元」認知の拡散</a:t>
            </a:r>
          </a:p>
          <a:p>
            <a:pPr marL="0" indent="0">
              <a:buNone/>
            </a:pPr>
            <a:r>
              <a:rPr lang="ja-JP" altLang="en-US" dirty="0"/>
              <a:t>│   │   └─ </a:t>
            </a:r>
            <a:r>
              <a:rPr lang="en-US" altLang="ja-JP" dirty="0"/>
              <a:t>NB</a:t>
            </a:r>
            <a:r>
              <a:rPr lang="ja-JP" altLang="en-US" dirty="0"/>
              <a:t>価格プレミアムの正当性低下</a:t>
            </a:r>
          </a:p>
          <a:p>
            <a:pPr marL="0" indent="0">
              <a:buNone/>
            </a:pPr>
            <a:r>
              <a:rPr lang="ja-JP" altLang="en-US" dirty="0"/>
              <a:t>│   │</a:t>
            </a:r>
          </a:p>
          <a:p>
            <a:pPr marL="0" indent="0">
              <a:buNone/>
            </a:pPr>
            <a:r>
              <a:rPr lang="ja-JP" altLang="en-US" dirty="0"/>
              <a:t>│   └─ カニバリゼーションの発生</a:t>
            </a:r>
          </a:p>
          <a:p>
            <a:pPr marL="0" indent="0">
              <a:buNone/>
            </a:pPr>
            <a:r>
              <a:rPr lang="ja-JP" altLang="en-US" dirty="0"/>
              <a:t>│       ├─ 価格感度の高い顧客の</a:t>
            </a:r>
            <a:r>
              <a:rPr lang="en-US" altLang="ja-JP" dirty="0"/>
              <a:t>NB→PB</a:t>
            </a:r>
            <a:r>
              <a:rPr lang="ja-JP" altLang="en-US" dirty="0"/>
              <a:t>への流出</a:t>
            </a:r>
          </a:p>
          <a:p>
            <a:pPr marL="0" indent="0">
              <a:buNone/>
            </a:pPr>
            <a:r>
              <a:rPr lang="ja-JP" altLang="en-US" dirty="0"/>
              <a:t>│       └─ 自社</a:t>
            </a:r>
            <a:r>
              <a:rPr lang="en-US" altLang="ja-JP" dirty="0"/>
              <a:t>NB</a:t>
            </a:r>
            <a:r>
              <a:rPr lang="ja-JP" altLang="en-US" dirty="0"/>
              <a:t>商品の売上侵食</a:t>
            </a:r>
          </a:p>
          <a:p>
            <a:pPr marL="0" indent="0">
              <a:buNone/>
            </a:pPr>
            <a:r>
              <a:rPr lang="ja-JP" altLang="en-US" dirty="0"/>
              <a:t>│</a:t>
            </a:r>
          </a:p>
          <a:p>
            <a:pPr marL="0" indent="0">
              <a:buNone/>
            </a:pPr>
            <a:r>
              <a:rPr lang="ja-JP" altLang="en-US" dirty="0"/>
              <a:t>├─ </a:t>
            </a:r>
            <a:r>
              <a:rPr lang="en-US" altLang="ja-JP" dirty="0"/>
              <a:t>2. </a:t>
            </a:r>
            <a:r>
              <a:rPr lang="ja-JP" altLang="en-US" dirty="0"/>
              <a:t>収益構造の悪化</a:t>
            </a:r>
          </a:p>
          <a:p>
            <a:pPr marL="0" indent="0">
              <a:buNone/>
            </a:pPr>
            <a:r>
              <a:rPr lang="ja-JP" altLang="en-US" dirty="0"/>
              <a:t>│   ├─ </a:t>
            </a:r>
            <a:r>
              <a:rPr lang="en-US" altLang="ja-JP" dirty="0"/>
              <a:t>PB</a:t>
            </a:r>
            <a:r>
              <a:rPr lang="ja-JP" altLang="en-US" dirty="0"/>
              <a:t>は</a:t>
            </a:r>
            <a:r>
              <a:rPr lang="en-US" altLang="ja-JP" dirty="0"/>
              <a:t>NB</a:t>
            </a:r>
            <a:r>
              <a:rPr lang="ja-JP" altLang="en-US" dirty="0"/>
              <a:t>比で低粗利</a:t>
            </a:r>
          </a:p>
          <a:p>
            <a:pPr marL="0" indent="0">
              <a:buNone/>
            </a:pPr>
            <a:r>
              <a:rPr lang="ja-JP" altLang="en-US" dirty="0"/>
              <a:t>│   ├─ 売上拡大に対し利益率・利益額が低下する可能性</a:t>
            </a:r>
          </a:p>
          <a:p>
            <a:pPr marL="0" indent="0">
              <a:buNone/>
            </a:pPr>
            <a:r>
              <a:rPr lang="ja-JP" altLang="en-US" dirty="0"/>
              <a:t>│   └─ 値引き・リベート圧力の増大</a:t>
            </a:r>
          </a:p>
          <a:p>
            <a:pPr marL="0" indent="0">
              <a:buNone/>
            </a:pPr>
            <a:r>
              <a:rPr lang="ja-JP" altLang="en-US" dirty="0"/>
              <a:t>│</a:t>
            </a:r>
          </a:p>
          <a:p>
            <a:pPr marL="0" indent="0">
              <a:buNone/>
            </a:pPr>
            <a:r>
              <a:rPr lang="ja-JP" altLang="en-US" dirty="0"/>
              <a:t>├─ </a:t>
            </a:r>
            <a:r>
              <a:rPr lang="en-US" altLang="ja-JP" dirty="0"/>
              <a:t>3. </a:t>
            </a:r>
            <a:r>
              <a:rPr lang="ja-JP" altLang="en-US" dirty="0"/>
              <a:t>小売に対する交渉力の低下</a:t>
            </a:r>
          </a:p>
          <a:p>
            <a:pPr marL="0" indent="0">
              <a:buNone/>
            </a:pPr>
            <a:r>
              <a:rPr lang="ja-JP" altLang="en-US" dirty="0"/>
              <a:t>│   ├─ </a:t>
            </a:r>
            <a:r>
              <a:rPr lang="en-US" altLang="ja-JP" dirty="0"/>
              <a:t>PB</a:t>
            </a:r>
            <a:r>
              <a:rPr lang="ja-JP" altLang="en-US" dirty="0"/>
              <a:t>売上依存による構造的弱体化</a:t>
            </a:r>
          </a:p>
          <a:p>
            <a:pPr marL="0" indent="0">
              <a:buNone/>
            </a:pPr>
            <a:r>
              <a:rPr lang="ja-JP" altLang="en-US" dirty="0"/>
              <a:t>│   ├─ 「</a:t>
            </a:r>
            <a:r>
              <a:rPr lang="en-US" altLang="ja-JP" dirty="0"/>
              <a:t>PB</a:t>
            </a:r>
            <a:r>
              <a:rPr lang="ja-JP" altLang="en-US" dirty="0"/>
              <a:t>契約解除」を材料とした</a:t>
            </a:r>
            <a:r>
              <a:rPr lang="en-US" altLang="ja-JP" dirty="0"/>
              <a:t>NB</a:t>
            </a:r>
            <a:r>
              <a:rPr lang="ja-JP" altLang="en-US" dirty="0"/>
              <a:t>取引条件の悪化</a:t>
            </a:r>
          </a:p>
          <a:p>
            <a:pPr marL="0" indent="0">
              <a:buNone/>
            </a:pPr>
            <a:r>
              <a:rPr lang="ja-JP" altLang="en-US" dirty="0"/>
              <a:t>│   │   ├─ 納入価格の引き下げ要求</a:t>
            </a:r>
          </a:p>
          <a:p>
            <a:pPr marL="0" indent="0">
              <a:buNone/>
            </a:pPr>
            <a:r>
              <a:rPr lang="ja-JP" altLang="en-US" dirty="0"/>
              <a:t>│   │   ├─ リベート負担の拡大</a:t>
            </a:r>
          </a:p>
          <a:p>
            <a:pPr marL="0" indent="0">
              <a:buNone/>
            </a:pPr>
            <a:r>
              <a:rPr lang="ja-JP" altLang="en-US" dirty="0"/>
              <a:t>│   │   └─ 棚割り条件の悪化</a:t>
            </a:r>
          </a:p>
          <a:p>
            <a:pPr marL="0" indent="0">
              <a:buNone/>
            </a:pPr>
            <a:r>
              <a:rPr lang="ja-JP" altLang="en-US" dirty="0"/>
              <a:t>│   └─ 価格決定権の小売側への移転</a:t>
            </a:r>
          </a:p>
          <a:p>
            <a:pPr marL="0" indent="0">
              <a:buNone/>
            </a:pPr>
            <a:r>
              <a:rPr lang="ja-JP" altLang="en-US" dirty="0"/>
              <a:t>│</a:t>
            </a:r>
          </a:p>
          <a:p>
            <a:pPr marL="0" indent="0">
              <a:buNone/>
            </a:pPr>
            <a:r>
              <a:rPr lang="ja-JP" altLang="en-US" dirty="0"/>
              <a:t>└─ </a:t>
            </a:r>
            <a:r>
              <a:rPr lang="en-US" altLang="ja-JP" dirty="0"/>
              <a:t>4. </a:t>
            </a:r>
            <a:r>
              <a:rPr lang="ja-JP" altLang="en-US" dirty="0"/>
              <a:t>経営資源の分散</a:t>
            </a:r>
          </a:p>
          <a:p>
            <a:pPr marL="0" indent="0">
              <a:buNone/>
            </a:pPr>
            <a:r>
              <a:rPr lang="ja-JP" altLang="en-US" dirty="0"/>
              <a:t>    ├─ 生産管理の複雑化</a:t>
            </a:r>
          </a:p>
          <a:p>
            <a:pPr marL="0" indent="0">
              <a:buNone/>
            </a:pPr>
            <a:r>
              <a:rPr lang="ja-JP" altLang="en-US" dirty="0"/>
              <a:t>    ├─ 品質保証コストの増大</a:t>
            </a:r>
          </a:p>
          <a:p>
            <a:pPr marL="0" indent="0">
              <a:buNone/>
            </a:pPr>
            <a:r>
              <a:rPr lang="ja-JP" altLang="en-US" dirty="0"/>
              <a:t>    └─ </a:t>
            </a:r>
            <a:r>
              <a:rPr lang="en-US" altLang="ja-JP" dirty="0"/>
              <a:t>R&amp;D</a:t>
            </a:r>
            <a:r>
              <a:rPr lang="ja-JP" altLang="en-US" dirty="0"/>
              <a:t>・マーケティング資源のコア事業からの分散</a:t>
            </a:r>
          </a:p>
        </p:txBody>
      </p:sp>
    </p:spTree>
    <p:extLst>
      <p:ext uri="{BB962C8B-B14F-4D97-AF65-F5344CB8AC3E}">
        <p14:creationId xmlns:p14="http://schemas.microsoft.com/office/powerpoint/2010/main" val="2770569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9B869-2518-E409-EFFF-13298619C77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8A32B4C-3A64-9B72-49E8-28AFF8564DC6}"/>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56F50DD2-F313-C03D-04AA-E231CE2F5585}"/>
              </a:ext>
            </a:extLst>
          </p:cNvPr>
          <p:cNvSpPr>
            <a:spLocks noGrp="1"/>
          </p:cNvSpPr>
          <p:nvPr>
            <p:ph sz="quarter" idx="13"/>
          </p:nvPr>
        </p:nvSpPr>
        <p:spPr/>
        <p:txBody>
          <a:bodyPr/>
          <a:lstStyle/>
          <a:p>
            <a:endParaRPr kumimoji="1" lang="ja-JP" altLang="en-US"/>
          </a:p>
        </p:txBody>
      </p:sp>
      <p:sp>
        <p:nvSpPr>
          <p:cNvPr id="4" name="コンテンツ プレースホルダー 3">
            <a:extLst>
              <a:ext uri="{FF2B5EF4-FFF2-40B4-BE49-F238E27FC236}">
                <a16:creationId xmlns:a16="http://schemas.microsoft.com/office/drawing/2014/main" id="{B20C4A0A-5331-4977-838E-5B371BF61D06}"/>
              </a:ext>
            </a:extLst>
          </p:cNvPr>
          <p:cNvSpPr>
            <a:spLocks noGrp="1"/>
          </p:cNvSpPr>
          <p:nvPr>
            <p:ph sz="quarter" idx="14"/>
          </p:nvPr>
        </p:nvSpPr>
        <p:spPr>
          <a:xfrm>
            <a:off x="317241" y="1455576"/>
            <a:ext cx="11591536" cy="5402424"/>
          </a:xfrm>
        </p:spPr>
        <p:txBody>
          <a:bodyPr>
            <a:normAutofit/>
          </a:bodyPr>
          <a:lstStyle/>
          <a:p>
            <a:pPr marL="0" indent="0">
              <a:buNone/>
            </a:pPr>
            <a:r>
              <a:rPr kumimoji="1" lang="en-US" altLang="ja-JP" dirty="0"/>
              <a:t>Q</a:t>
            </a:r>
            <a:r>
              <a:rPr kumimoji="1" lang="ja-JP" altLang="en-US" dirty="0"/>
              <a:t>：</a:t>
            </a:r>
            <a:r>
              <a:rPr kumimoji="1" lang="en-US" altLang="ja-JP" dirty="0"/>
              <a:t>1980</a:t>
            </a:r>
            <a:r>
              <a:rPr kumimoji="1" lang="ja-JP" altLang="en-US" dirty="0"/>
              <a:t>年代の卸店集約化により、メーカー</a:t>
            </a:r>
            <a:r>
              <a:rPr kumimoji="1" lang="en-US" altLang="ja-JP" dirty="0"/>
              <a:t>A</a:t>
            </a:r>
            <a:r>
              <a:rPr kumimoji="1" lang="ja-JP" altLang="en-US" dirty="0"/>
              <a:t>社の売上は増えたか？</a:t>
            </a:r>
            <a:endParaRPr kumimoji="1" lang="en-US" altLang="ja-JP" dirty="0"/>
          </a:p>
          <a:p>
            <a:r>
              <a:rPr lang="ja-JP" altLang="en-US" dirty="0"/>
              <a:t>増えたと考えられる。</a:t>
            </a:r>
          </a:p>
          <a:p>
            <a:r>
              <a:rPr lang="ja-JP" altLang="en-US" dirty="0"/>
              <a:t>コスト面では、取引先卸店の集約により、流通チャネルにおける交渉段階や事務処理工程が削減され、物流の効率化と合わせて流通コスト全体が圧縮された。</a:t>
            </a:r>
          </a:p>
          <a:p>
            <a:r>
              <a:rPr lang="ja-JP" altLang="en-US" dirty="0"/>
              <a:t>売上面では、取引先を絞り込んだことでチャネルコントロールが強化され、価格統制や棚割り指示の徹底が可能になった。加えて、集約先の卸店との情報連携が密になったことで、新製品の全国一斉配荷のスピードが向上し、店頭の売れ行き情報をリアルタイムに近い形でフィードバックできる体制が構築された。これらが相乗的に売上増加に寄与したと考えられる。</a:t>
            </a:r>
          </a:p>
          <a:p>
            <a:pPr marL="0" indent="0">
              <a:buNone/>
            </a:pPr>
            <a:r>
              <a:rPr kumimoji="1" lang="en-US" altLang="ja-JP" dirty="0"/>
              <a:t>Q</a:t>
            </a:r>
            <a:r>
              <a:rPr kumimoji="1" lang="ja-JP" altLang="en-US" dirty="0"/>
              <a:t>：</a:t>
            </a:r>
            <a:r>
              <a:rPr lang="ja-JP" altLang="en-US" dirty="0"/>
              <a:t>メーカー</a:t>
            </a:r>
            <a:r>
              <a:rPr lang="en-US" altLang="ja-JP" dirty="0"/>
              <a:t>A</a:t>
            </a:r>
            <a:r>
              <a:rPr lang="ja-JP" altLang="en-US" dirty="0"/>
              <a:t>社がパートナー卸店会を組織化した理由は？</a:t>
            </a:r>
            <a:endParaRPr lang="en-US" altLang="ja-JP" dirty="0"/>
          </a:p>
          <a:p>
            <a:r>
              <a:rPr lang="ja-JP" altLang="en-US" dirty="0"/>
              <a:t>第一に、メーカーと卸店間の情報連携を制度化するためである。メーカー側からは新製品・販促計画等の商品情報を提供し、卸店側からは</a:t>
            </a:r>
            <a:r>
              <a:rPr lang="en-US" altLang="ja-JP" dirty="0"/>
              <a:t>POS</a:t>
            </a:r>
            <a:r>
              <a:rPr lang="ja-JP" altLang="en-US" dirty="0"/>
              <a:t>データ等の店頭販売情報を還流させることで、双方のマーケティング精度を高める狙いがあった。</a:t>
            </a:r>
          </a:p>
          <a:p>
            <a:r>
              <a:rPr lang="ja-JP" altLang="en-US" dirty="0"/>
              <a:t>第二に、流通秩序の維持である。組織化を通じて取引条件の透明性を確保し、希望小売価格の逸脱や不適切な安売り、異常な棚割り等を相互に監視・抑制する仕組みを構築するためである。</a:t>
            </a:r>
          </a:p>
          <a:p>
            <a:pPr marL="0" indent="0">
              <a:buNone/>
            </a:pPr>
            <a:r>
              <a:rPr lang="en-US" altLang="ja-JP" dirty="0"/>
              <a:t>Q</a:t>
            </a:r>
            <a:r>
              <a:rPr lang="ja-JP" altLang="en-US" dirty="0"/>
              <a:t>：メーカー</a:t>
            </a:r>
            <a:r>
              <a:rPr lang="en-US" altLang="ja-JP" dirty="0"/>
              <a:t>A</a:t>
            </a:r>
            <a:r>
              <a:rPr lang="ja-JP" altLang="en-US" dirty="0"/>
              <a:t>社が最終的に組織を解散した理由は？</a:t>
            </a:r>
            <a:endParaRPr lang="en-US" altLang="ja-JP" dirty="0"/>
          </a:p>
          <a:p>
            <a:r>
              <a:rPr lang="ja-JP" altLang="en-US" dirty="0"/>
              <a:t>第一に、メーカー自身が小売業との直接商談を拡大し、卸店会を介さずにより詳細な</a:t>
            </a:r>
            <a:r>
              <a:rPr lang="en-US" altLang="ja-JP" dirty="0"/>
              <a:t>POS</a:t>
            </a:r>
            <a:r>
              <a:rPr lang="ja-JP" altLang="en-US" dirty="0"/>
              <a:t>データや店頭情報を取得する方向へ戦略を転換したためである。メーカーが卸の営業機能を自ら代替するようになり、卸店会の介在価値が低下した。</a:t>
            </a:r>
          </a:p>
          <a:p>
            <a:r>
              <a:rPr lang="ja-JP" altLang="en-US" dirty="0"/>
              <a:t>第二に、小売業側の構造変化である。量販店・ドラッグストア等の大型化・全国チェーン展開が進んだことで、広域対応が可能な大手卸との一元的な取引が求められるようになった。地域単位・メーカー単位で組織された卸店会では、こうした広域小売チェーンのニーズに対応しきれず、組織としての存在意義が希薄化した。</a:t>
            </a:r>
          </a:p>
          <a:p>
            <a:endParaRPr lang="en-US" altLang="ja-JP" dirty="0"/>
          </a:p>
        </p:txBody>
      </p:sp>
    </p:spTree>
    <p:extLst>
      <p:ext uri="{BB962C8B-B14F-4D97-AF65-F5344CB8AC3E}">
        <p14:creationId xmlns:p14="http://schemas.microsoft.com/office/powerpoint/2010/main" val="117514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354D9-A25F-7B44-F442-CE2D7119A26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DDB46DB-5329-6210-94F4-630CF81D1A53}"/>
              </a:ext>
            </a:extLst>
          </p:cNvPr>
          <p:cNvSpPr>
            <a:spLocks noGrp="1"/>
          </p:cNvSpPr>
          <p:nvPr>
            <p:ph type="title"/>
          </p:nvPr>
        </p:nvSpPr>
        <p:spPr/>
        <p:txBody>
          <a:bodyPr/>
          <a:lstStyle/>
          <a:p>
            <a:endParaRPr kumimoji="1" lang="ja-JP" altLang="en-US"/>
          </a:p>
        </p:txBody>
      </p:sp>
      <p:graphicFrame>
        <p:nvGraphicFramePr>
          <p:cNvPr id="5" name="コンテンツ プレースホルダー 4">
            <a:extLst>
              <a:ext uri="{FF2B5EF4-FFF2-40B4-BE49-F238E27FC236}">
                <a16:creationId xmlns:a16="http://schemas.microsoft.com/office/drawing/2014/main" id="{0E51357C-4677-34F1-7D6D-E7FF0A350D2B}"/>
              </a:ext>
            </a:extLst>
          </p:cNvPr>
          <p:cNvGraphicFramePr>
            <a:graphicFrameLocks noGrp="1"/>
          </p:cNvGraphicFramePr>
          <p:nvPr>
            <p:ph sz="quarter" idx="13"/>
            <p:extLst>
              <p:ext uri="{D42A27DB-BD31-4B8C-83A1-F6EECF244321}">
                <p14:modId xmlns:p14="http://schemas.microsoft.com/office/powerpoint/2010/main" val="526931346"/>
              </p:ext>
            </p:extLst>
          </p:nvPr>
        </p:nvGraphicFramePr>
        <p:xfrm>
          <a:off x="317241" y="4088224"/>
          <a:ext cx="11591922" cy="2651760"/>
        </p:xfrm>
        <a:graphic>
          <a:graphicData uri="http://schemas.openxmlformats.org/drawingml/2006/table">
            <a:tbl>
              <a:tblPr firstRow="1" bandRow="1">
                <a:tableStyleId>{5C22544A-7EE6-4342-B048-85BDC9FD1C3A}</a:tableStyleId>
              </a:tblPr>
              <a:tblGrid>
                <a:gridCol w="1701564">
                  <a:extLst>
                    <a:ext uri="{9D8B030D-6E8A-4147-A177-3AD203B41FA5}">
                      <a16:colId xmlns:a16="http://schemas.microsoft.com/office/drawing/2014/main" val="1359574135"/>
                    </a:ext>
                  </a:extLst>
                </a:gridCol>
                <a:gridCol w="4945179">
                  <a:extLst>
                    <a:ext uri="{9D8B030D-6E8A-4147-A177-3AD203B41FA5}">
                      <a16:colId xmlns:a16="http://schemas.microsoft.com/office/drawing/2014/main" val="1998358291"/>
                    </a:ext>
                  </a:extLst>
                </a:gridCol>
                <a:gridCol w="4945179">
                  <a:extLst>
                    <a:ext uri="{9D8B030D-6E8A-4147-A177-3AD203B41FA5}">
                      <a16:colId xmlns:a16="http://schemas.microsoft.com/office/drawing/2014/main" val="2078130942"/>
                    </a:ext>
                  </a:extLst>
                </a:gridCol>
              </a:tblGrid>
              <a:tr h="285344">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切り口</a:t>
                      </a:r>
                    </a:p>
                  </a:txBody>
                  <a:tcP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アマゾン直販型</a:t>
                      </a:r>
                    </a:p>
                  </a:txBody>
                  <a:tcP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楽天型</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13275417"/>
                  </a:ext>
                </a:extLst>
              </a:tr>
              <a:tr h="285344">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収益構造</a:t>
                      </a:r>
                    </a:p>
                  </a:txBody>
                  <a:tcP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商品の粗利を直接受ける</a:t>
                      </a:r>
                    </a:p>
                  </a:txBody>
                  <a:tcP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手数料ビジネスのため粗利は直接受けない</a:t>
                      </a:r>
                    </a:p>
                  </a:txBody>
                  <a:tcP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9344997"/>
                  </a:ext>
                </a:extLst>
              </a:tr>
              <a:tr h="285344">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在庫リスク</a:t>
                      </a: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自社保有のためリスク大</a:t>
                      </a: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在庫を持たないためリスク０</a:t>
                      </a:r>
                    </a:p>
                  </a:txBody>
                  <a:tcP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3767351"/>
                  </a:ext>
                </a:extLst>
              </a:tr>
              <a:tr h="285344">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規模拡大</a:t>
                      </a: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物流や倉庫等への大規模投資が必要</a:t>
                      </a: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商品提供者が増加すれば自動的に規模拡大可能</a:t>
                      </a:r>
                    </a:p>
                  </a:txBody>
                  <a:tcP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12566566"/>
                  </a:ext>
                </a:extLst>
              </a:tr>
              <a:tr h="285344">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品質維持</a:t>
                      </a: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仕入や物流を自社管理ため、品質維持が容易</a:t>
                      </a: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商品提供者によって品質がばらつくリスクあり</a:t>
                      </a:r>
                    </a:p>
                  </a:txBody>
                  <a:tcP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5993399"/>
                  </a:ext>
                </a:extLst>
              </a:tr>
              <a:tr h="285344">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価格統制</a:t>
                      </a: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価格決定権をもっているため、戦略的な値付けが可能</a:t>
                      </a: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商品提供者に価格決定権があるため、価格統制不可</a:t>
                      </a:r>
                    </a:p>
                  </a:txBody>
                  <a:tcP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5140440"/>
                  </a:ext>
                </a:extLst>
              </a:tr>
              <a:tr h="285344">
                <a:tc>
                  <a:txBody>
                    <a:bodyPr/>
                    <a:lstStyle/>
                    <a:p>
                      <a:r>
                        <a:rPr kumimoji="1" lang="en-US" altLang="ja-JP" sz="1400" b="0" dirty="0">
                          <a:solidFill>
                            <a:schemeClr val="tx1">
                              <a:lumMod val="65000"/>
                              <a:lumOff val="35000"/>
                            </a:schemeClr>
                          </a:solidFill>
                          <a:latin typeface="Meiryo UI" panose="020B0604030504040204" pitchFamily="50" charset="-128"/>
                          <a:ea typeface="Meiryo UI" panose="020B0604030504040204" pitchFamily="50" charset="-128"/>
                        </a:rPr>
                        <a:t>POS</a:t>
                      </a:r>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データ利活用</a:t>
                      </a: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商品の購買から物流までの全てのデータを保有し、顧客満足度向上に利用可能</a:t>
                      </a: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顧客の購買履歴等は保有するが、物流や商品の詳細はわからない</a:t>
                      </a:r>
                    </a:p>
                  </a:txBody>
                  <a:tcP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2263845"/>
                  </a:ext>
                </a:extLst>
              </a:tr>
              <a:tr h="285344">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取引先との関係</a:t>
                      </a:r>
                    </a:p>
                  </a:txBody>
                  <a:tcP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アマゾン</a:t>
                      </a:r>
                      <a:r>
                        <a:rPr kumimoji="1" lang="en-US" altLang="ja-JP" sz="1400" b="0" dirty="0">
                          <a:solidFill>
                            <a:schemeClr val="tx1">
                              <a:lumMod val="65000"/>
                              <a:lumOff val="35000"/>
                            </a:schemeClr>
                          </a:solidFill>
                          <a:latin typeface="Meiryo UI" panose="020B0604030504040204" pitchFamily="50" charset="-128"/>
                          <a:ea typeface="Meiryo UI" panose="020B0604030504040204" pitchFamily="50" charset="-128"/>
                        </a:rPr>
                        <a:t>PB</a:t>
                      </a:r>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を製造していて、利益相反が生じやすい</a:t>
                      </a:r>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ビジネスパートナーであり、利益相反が生じずらい</a:t>
                      </a:r>
                    </a:p>
                  </a:txBody>
                  <a:tcP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9168285"/>
                  </a:ext>
                </a:extLst>
              </a:tr>
            </a:tbl>
          </a:graphicData>
        </a:graphic>
      </p:graphicFrame>
      <p:sp>
        <p:nvSpPr>
          <p:cNvPr id="4" name="コンテンツ プレースホルダー 3">
            <a:extLst>
              <a:ext uri="{FF2B5EF4-FFF2-40B4-BE49-F238E27FC236}">
                <a16:creationId xmlns:a16="http://schemas.microsoft.com/office/drawing/2014/main" id="{6A398ABD-34B7-6CE1-0743-4C53C873FA90}"/>
              </a:ext>
            </a:extLst>
          </p:cNvPr>
          <p:cNvSpPr>
            <a:spLocks noGrp="1"/>
          </p:cNvSpPr>
          <p:nvPr>
            <p:ph sz="quarter" idx="14"/>
          </p:nvPr>
        </p:nvSpPr>
        <p:spPr/>
        <p:txBody>
          <a:bodyPr/>
          <a:lstStyle/>
          <a:p>
            <a:pPr marL="0" indent="0">
              <a:buNone/>
            </a:pPr>
            <a:r>
              <a:rPr kumimoji="1" lang="en-US" altLang="ja-JP" dirty="0"/>
              <a:t>Q</a:t>
            </a:r>
            <a:r>
              <a:rPr kumimoji="1" lang="ja-JP" altLang="en-US" dirty="0"/>
              <a:t>：</a:t>
            </a:r>
            <a:r>
              <a:rPr lang="ja-JP" altLang="en-US" dirty="0"/>
              <a:t>ネットショッピングにおいて、アマゾン直販型と楽天型はそれぞれ小売・ホールセラー・ブローカーのどれに該当するか？</a:t>
            </a:r>
            <a:endParaRPr lang="en-US" altLang="ja-JP" dirty="0"/>
          </a:p>
          <a:p>
            <a:pPr marL="0" indent="0">
              <a:buNone/>
            </a:pPr>
            <a:r>
              <a:rPr kumimoji="1" lang="ja-JP" altLang="en-US" dirty="0"/>
              <a:t>アマゾン直販型：小売</a:t>
            </a:r>
            <a:endParaRPr lang="en-US" altLang="ja-JP" dirty="0"/>
          </a:p>
          <a:p>
            <a:pPr marL="0" indent="0">
              <a:buNone/>
            </a:pPr>
            <a:r>
              <a:rPr lang="ja-JP" altLang="en-US" dirty="0"/>
              <a:t>アマゾンが仕入先（メーカー・卸売業者）から商品を直接買い取り、自社在庫として保有したうえで消費者に販売する。商品の所有権がアマゾンに移転している点が特徴。</a:t>
            </a:r>
            <a:endParaRPr lang="en-US" altLang="ja-JP" dirty="0"/>
          </a:p>
          <a:p>
            <a:pPr marL="0" indent="0">
              <a:buNone/>
            </a:pPr>
            <a:r>
              <a:rPr kumimoji="1" lang="ja-JP" altLang="en-US" dirty="0"/>
              <a:t>楽天型：ブローカー</a:t>
            </a:r>
            <a:endParaRPr kumimoji="1" lang="en-US" altLang="ja-JP" dirty="0"/>
          </a:p>
          <a:p>
            <a:pPr marL="0" indent="0">
              <a:buNone/>
            </a:pPr>
            <a:r>
              <a:rPr lang="ja-JP" altLang="en-US" dirty="0"/>
              <a:t>楽天自身は商品を仕入れず、売り手（出店者）と買い手（消費者）の取引を仲介するプラットフォームを提供する。商品の所有権は出店者に帰属し、楽天は場所代（出店料・手数料）を収益源とする。</a:t>
            </a:r>
            <a:endParaRPr lang="en-US" altLang="ja-JP" dirty="0"/>
          </a:p>
          <a:p>
            <a:pPr marL="0" indent="0">
              <a:buNone/>
            </a:pPr>
            <a:r>
              <a:rPr lang="en-US" altLang="ja-JP" dirty="0"/>
              <a:t>Q</a:t>
            </a:r>
            <a:r>
              <a:rPr lang="ja-JP" altLang="en-US" dirty="0"/>
              <a:t>：サービス提供者の視点で、アマゾン直販型ビジネスと楽天型ビジネスのメリット・デメリットを考えよ</a:t>
            </a:r>
            <a:endParaRPr kumimoji="1" lang="en-US" altLang="ja-JP" dirty="0"/>
          </a:p>
          <a:p>
            <a:endParaRPr kumimoji="1" lang="ja-JP" altLang="en-US" dirty="0"/>
          </a:p>
        </p:txBody>
      </p:sp>
    </p:spTree>
    <p:extLst>
      <p:ext uri="{BB962C8B-B14F-4D97-AF65-F5344CB8AC3E}">
        <p14:creationId xmlns:p14="http://schemas.microsoft.com/office/powerpoint/2010/main" val="1505339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291EDD-61CE-DEF3-DDDA-0C9DF13D57C2}"/>
              </a:ext>
            </a:extLst>
          </p:cNvPr>
          <p:cNvSpPr>
            <a:spLocks noGrp="1"/>
          </p:cNvSpPr>
          <p:nvPr>
            <p:ph type="title"/>
          </p:nvPr>
        </p:nvSpPr>
        <p:spPr/>
        <p:txBody>
          <a:bodyPr/>
          <a:lstStyle/>
          <a:p>
            <a:endParaRPr kumimoji="1" lang="ja-JP" altLang="en-US">
              <a:solidFill>
                <a:schemeClr val="tx1">
                  <a:lumMod val="65000"/>
                  <a:lumOff val="35000"/>
                </a:schemeClr>
              </a:solidFill>
            </a:endParaRPr>
          </a:p>
        </p:txBody>
      </p:sp>
      <p:sp>
        <p:nvSpPr>
          <p:cNvPr id="3" name="コンテンツ プレースホルダー 2">
            <a:extLst>
              <a:ext uri="{FF2B5EF4-FFF2-40B4-BE49-F238E27FC236}">
                <a16:creationId xmlns:a16="http://schemas.microsoft.com/office/drawing/2014/main" id="{F0878F1A-3A5B-A0CE-FCFD-D1A960E4F9E9}"/>
              </a:ext>
            </a:extLst>
          </p:cNvPr>
          <p:cNvSpPr>
            <a:spLocks noGrp="1"/>
          </p:cNvSpPr>
          <p:nvPr>
            <p:ph sz="quarter" idx="13"/>
          </p:nvPr>
        </p:nvSpPr>
        <p:spPr/>
        <p:txBody>
          <a:bodyPr/>
          <a:lstStyle/>
          <a:p>
            <a:pPr marL="0" indent="0">
              <a:buNone/>
            </a:pPr>
            <a:r>
              <a:rPr lang="en-US" altLang="ja-JP" dirty="0">
                <a:solidFill>
                  <a:schemeClr val="tx1">
                    <a:lumMod val="65000"/>
                    <a:lumOff val="35000"/>
                  </a:schemeClr>
                </a:solidFill>
              </a:rPr>
              <a:t>Q</a:t>
            </a:r>
            <a:r>
              <a:rPr lang="ja-JP" altLang="en-US" dirty="0">
                <a:solidFill>
                  <a:schemeClr val="tx1">
                    <a:lumMod val="65000"/>
                    <a:lumOff val="35000"/>
                  </a:schemeClr>
                </a:solidFill>
              </a:rPr>
              <a:t>：直販体制と卸店流通型を比較し、それぞれのメリット・デメリットを明らかにせよ。</a:t>
            </a:r>
          </a:p>
          <a:p>
            <a:pPr marL="0" indent="0">
              <a:buNone/>
            </a:pPr>
            <a:endParaRPr kumimoji="1" lang="ja-JP" altLang="en-US" dirty="0">
              <a:solidFill>
                <a:schemeClr val="tx1">
                  <a:lumMod val="65000"/>
                  <a:lumOff val="35000"/>
                </a:schemeClr>
              </a:solidFill>
            </a:endParaRPr>
          </a:p>
        </p:txBody>
      </p:sp>
      <p:graphicFrame>
        <p:nvGraphicFramePr>
          <p:cNvPr id="5" name="表 4">
            <a:extLst>
              <a:ext uri="{FF2B5EF4-FFF2-40B4-BE49-F238E27FC236}">
                <a16:creationId xmlns:a16="http://schemas.microsoft.com/office/drawing/2014/main" id="{3ECB6F9F-0997-8D6D-D570-F219BD761D4B}"/>
              </a:ext>
            </a:extLst>
          </p:cNvPr>
          <p:cNvGraphicFramePr>
            <a:graphicFrameLocks noGrp="1"/>
          </p:cNvGraphicFramePr>
          <p:nvPr>
            <p:extLst>
              <p:ext uri="{D42A27DB-BD31-4B8C-83A1-F6EECF244321}">
                <p14:modId xmlns:p14="http://schemas.microsoft.com/office/powerpoint/2010/main" val="3867539953"/>
              </p:ext>
            </p:extLst>
          </p:nvPr>
        </p:nvGraphicFramePr>
        <p:xfrm>
          <a:off x="317241" y="1184358"/>
          <a:ext cx="11591922" cy="4870304"/>
        </p:xfrm>
        <a:graphic>
          <a:graphicData uri="http://schemas.openxmlformats.org/drawingml/2006/table">
            <a:tbl>
              <a:tblPr firstRow="1" bandRow="1">
                <a:tableStyleId>{5C22544A-7EE6-4342-B048-85BDC9FD1C3A}</a:tableStyleId>
              </a:tblPr>
              <a:tblGrid>
                <a:gridCol w="1192736">
                  <a:extLst>
                    <a:ext uri="{9D8B030D-6E8A-4147-A177-3AD203B41FA5}">
                      <a16:colId xmlns:a16="http://schemas.microsoft.com/office/drawing/2014/main" val="1793217390"/>
                    </a:ext>
                  </a:extLst>
                </a:gridCol>
                <a:gridCol w="1708236">
                  <a:extLst>
                    <a:ext uri="{9D8B030D-6E8A-4147-A177-3AD203B41FA5}">
                      <a16:colId xmlns:a16="http://schemas.microsoft.com/office/drawing/2014/main" val="2054169042"/>
                    </a:ext>
                  </a:extLst>
                </a:gridCol>
                <a:gridCol w="4345475">
                  <a:extLst>
                    <a:ext uri="{9D8B030D-6E8A-4147-A177-3AD203B41FA5}">
                      <a16:colId xmlns:a16="http://schemas.microsoft.com/office/drawing/2014/main" val="330874423"/>
                    </a:ext>
                  </a:extLst>
                </a:gridCol>
                <a:gridCol w="4345475">
                  <a:extLst>
                    <a:ext uri="{9D8B030D-6E8A-4147-A177-3AD203B41FA5}">
                      <a16:colId xmlns:a16="http://schemas.microsoft.com/office/drawing/2014/main" val="1851501404"/>
                    </a:ext>
                  </a:extLst>
                </a:gridCol>
              </a:tblGrid>
              <a:tr h="285344">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軸</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観点</a:t>
                      </a:r>
                    </a:p>
                  </a:txBody>
                  <a:tcP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直販型</a:t>
                      </a:r>
                    </a:p>
                  </a:txBody>
                  <a:tcP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kumimoji="1" lang="ja-JP" altLang="en-US" sz="1400" b="0" dirty="0">
                          <a:solidFill>
                            <a:schemeClr val="tx1">
                              <a:lumMod val="65000"/>
                              <a:lumOff val="35000"/>
                            </a:schemeClr>
                          </a:solidFill>
                          <a:latin typeface="Meiryo UI" panose="020B0604030504040204" pitchFamily="50" charset="-128"/>
                          <a:ea typeface="Meiryo UI" panose="020B0604030504040204" pitchFamily="50" charset="-128"/>
                        </a:rPr>
                        <a:t>卸店流通体制</a:t>
                      </a: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370606"/>
                  </a:ext>
                </a:extLst>
              </a:tr>
              <a:tr h="285344">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経済性</a:t>
                      </a:r>
                    </a:p>
                  </a:txBody>
                  <a:tcPr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マージン構造</a:t>
                      </a:r>
                    </a:p>
                  </a:txBody>
                  <a:tcPr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中間マージンが発生せず利益率が高い</a:t>
                      </a:r>
                    </a:p>
                  </a:txBody>
                  <a:tcPr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卸マージンが差し引かれ利益率は低下</a:t>
                      </a:r>
                    </a:p>
                  </a:txBody>
                  <a:tcPr anchor="ct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56363"/>
                  </a:ext>
                </a:extLst>
              </a:tr>
              <a:tr h="285344">
                <a:tc>
                  <a:txBody>
                    <a:bodyPr/>
                    <a:lstStyle/>
                    <a:p>
                      <a:pPr>
                        <a:buNone/>
                      </a:pPr>
                      <a:endPar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endParaRP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コスト構造</a:t>
                      </a:r>
                    </a:p>
                  </a:txBody>
                  <a:tcPr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自社販売網維持の固定費が重い</a:t>
                      </a:r>
                    </a:p>
                  </a:txBody>
                  <a:tcPr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固定費を変動費化でき軽い</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6748021"/>
                  </a:ext>
                </a:extLst>
              </a:tr>
              <a:tr h="285344">
                <a:tc>
                  <a:txBody>
                    <a:bodyPr/>
                    <a:lstStyle/>
                    <a:p>
                      <a:pPr>
                        <a:buNone/>
                      </a:pPr>
                      <a:endPar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endParaRPr>
                    </a:p>
                  </a:txBody>
                  <a:tcPr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運転資本</a:t>
                      </a:r>
                    </a:p>
                  </a:txBody>
                  <a:tcPr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小売直取引で回収サイトを自社管理可能</a:t>
                      </a:r>
                    </a:p>
                  </a:txBody>
                  <a:tcPr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卸経由で回収サイトが安定・与信リスク分散</a:t>
                      </a:r>
                    </a:p>
                  </a:txBody>
                  <a:tcPr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0939883"/>
                  </a:ext>
                </a:extLst>
              </a:tr>
              <a:tr h="285344">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オペレーション</a:t>
                      </a:r>
                    </a:p>
                  </a:txBody>
                  <a:tcPr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チャネル統制</a:t>
                      </a:r>
                    </a:p>
                  </a:txBody>
                  <a:tcPr anchor="ctr">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棚割・価格・販促を自社で直接コントロール</a:t>
                      </a:r>
                    </a:p>
                  </a:txBody>
                  <a:tcPr anchor="ctr">
                    <a:lnL w="3175"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卸の方針に左右され統制が効きにくい</a:t>
                      </a:r>
                    </a:p>
                  </a:txBody>
                  <a:tcPr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8235775"/>
                  </a:ext>
                </a:extLst>
              </a:tr>
              <a:tr h="285344">
                <a:tc>
                  <a:txBody>
                    <a:bodyPr/>
                    <a:lstStyle/>
                    <a:p>
                      <a:pPr>
                        <a:buNone/>
                      </a:pPr>
                      <a:endPar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endParaRP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市場情報の取得</a:t>
                      </a:r>
                    </a:p>
                  </a:txBody>
                  <a:tcPr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一次情報を即時・高粒度で取得</a:t>
                      </a:r>
                    </a:p>
                  </a:txBody>
                  <a:tcPr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間接情報となり鮮度・粒度で劣る</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1613464"/>
                  </a:ext>
                </a:extLst>
              </a:tr>
              <a:tr h="285344">
                <a:tc>
                  <a:txBody>
                    <a:bodyPr/>
                    <a:lstStyle/>
                    <a:p>
                      <a:pPr>
                        <a:buNone/>
                      </a:pPr>
                      <a:endPar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endParaRPr>
                    </a:p>
                  </a:txBody>
                  <a:tcPr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販促実行スピード</a:t>
                      </a:r>
                    </a:p>
                  </a:txBody>
                  <a:tcPr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迅速に現場反映可能</a:t>
                      </a:r>
                    </a:p>
                  </a:txBody>
                  <a:tcPr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卸との調整が必要で遅延しやすい</a:t>
                      </a:r>
                    </a:p>
                  </a:txBody>
                  <a:tcPr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1374664"/>
                  </a:ext>
                </a:extLst>
              </a:tr>
              <a:tr h="285344">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拡張性</a:t>
                      </a:r>
                    </a:p>
                  </a:txBody>
                  <a:tcPr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国内新規エリア展開</a:t>
                      </a:r>
                    </a:p>
                  </a:txBody>
                  <a:tcPr anchor="ctr">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自社営業網の構築が必要で時間と投資を要する</a:t>
                      </a:r>
                    </a:p>
                  </a:txBody>
                  <a:tcPr anchor="ctr">
                    <a:lnL w="3175"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既存卸網を活用し短期間で展開可能</a:t>
                      </a:r>
                    </a:p>
                  </a:txBody>
                  <a:tcPr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37123863"/>
                  </a:ext>
                </a:extLst>
              </a:tr>
              <a:tr h="285344">
                <a:tc>
                  <a:txBody>
                    <a:bodyPr/>
                    <a:lstStyle/>
                    <a:p>
                      <a:pPr>
                        <a:buNone/>
                      </a:pPr>
                      <a:endPar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endParaRP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海外・新市場参入</a:t>
                      </a:r>
                    </a:p>
                  </a:txBody>
                  <a:tcPr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ゼロから販売網構築が必要で参入障壁が高い</a:t>
                      </a:r>
                    </a:p>
                  </a:txBody>
                  <a:tcPr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現地卸活用で低投資・高速展開が可能</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1150551"/>
                  </a:ext>
                </a:extLst>
              </a:tr>
              <a:tr h="285344">
                <a:tc>
                  <a:txBody>
                    <a:bodyPr/>
                    <a:lstStyle/>
                    <a:p>
                      <a:pPr>
                        <a:buNone/>
                      </a:pPr>
                      <a:endPar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endParaRPr>
                    </a:p>
                  </a:txBody>
                  <a:tcPr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新カテゴリ投入</a:t>
                      </a:r>
                    </a:p>
                  </a:txBody>
                  <a:tcPr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既存営業網にチャネル依存、カテゴリ拡張に制約</a:t>
                      </a:r>
                    </a:p>
                  </a:txBody>
                  <a:tcPr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卸の幅広い取引先を活用し多カテゴリ展開に有利</a:t>
                      </a:r>
                    </a:p>
                  </a:txBody>
                  <a:tcPr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6308267"/>
                  </a:ext>
                </a:extLst>
              </a:tr>
              <a:tr h="285344">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リスク耐性</a:t>
                      </a:r>
                    </a:p>
                  </a:txBody>
                  <a:tcPr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チャネル寸断リスク</a:t>
                      </a:r>
                    </a:p>
                  </a:txBody>
                  <a:tcPr anchor="ctr">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自社で代替策を講じやすい</a:t>
                      </a:r>
                    </a:p>
                  </a:txBody>
                  <a:tcPr anchor="ctr">
                    <a:lnL w="3175"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主要卸の経営不振・方針転換で影響大</a:t>
                      </a:r>
                    </a:p>
                  </a:txBody>
                  <a:tcPr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8129746"/>
                  </a:ext>
                </a:extLst>
              </a:tr>
              <a:tr h="285344">
                <a:tc>
                  <a:txBody>
                    <a:bodyPr/>
                    <a:lstStyle/>
                    <a:p>
                      <a:pPr>
                        <a:buNone/>
                      </a:pPr>
                      <a:endPar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endParaRP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取引先集中リスク</a:t>
                      </a:r>
                    </a:p>
                  </a:txBody>
                  <a:tcPr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小売との直接取引で分散管理可能</a:t>
                      </a:r>
                    </a:p>
                  </a:txBody>
                  <a:tcPr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大手卸への依存度が高まりやすい</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113020"/>
                  </a:ext>
                </a:extLst>
              </a:tr>
              <a:tr h="285344">
                <a:tc>
                  <a:txBody>
                    <a:bodyPr/>
                    <a:lstStyle/>
                    <a:p>
                      <a:pPr>
                        <a:buNone/>
                      </a:pPr>
                      <a:endPar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endParaRP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価格競争・ブランド毀損</a:t>
                      </a:r>
                    </a:p>
                  </a:txBody>
                  <a:tcPr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価格統制で安売り防止しやすい</a:t>
                      </a:r>
                    </a:p>
                  </a:txBody>
                  <a:tcPr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卸先での安売りを統制しにくい</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8885198"/>
                  </a:ext>
                </a:extLst>
              </a:tr>
              <a:tr h="285344">
                <a:tc>
                  <a:txBody>
                    <a:bodyPr/>
                    <a:lstStyle/>
                    <a:p>
                      <a:pPr>
                        <a:buNone/>
                      </a:pPr>
                      <a:endPar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endParaRPr>
                    </a:p>
                  </a:txBody>
                  <a:tcPr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r>
                        <a:rPr lang="zh-TW" altLang="en-US" sz="1100" b="0">
                          <a:solidFill>
                            <a:schemeClr val="tx1">
                              <a:lumMod val="65000"/>
                              <a:lumOff val="35000"/>
                            </a:schemeClr>
                          </a:solidFill>
                          <a:latin typeface="Meiryo UI" panose="020B0604030504040204" pitchFamily="50" charset="-128"/>
                          <a:ea typeface="Meiryo UI" panose="020B0604030504040204" pitchFamily="50" charset="-128"/>
                        </a:rPr>
                        <a:t>需要変動耐性</a:t>
                      </a:r>
                    </a:p>
                  </a:txBody>
                  <a:tcPr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在庫・生産を直接制御可能</a:t>
                      </a:r>
                    </a:p>
                  </a:txBody>
                  <a:tcPr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卸在庫が緩衝材となり需要変動を吸収</a:t>
                      </a:r>
                    </a:p>
                  </a:txBody>
                  <a:tcPr anchor="ct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968938"/>
                  </a:ext>
                </a:extLst>
              </a:tr>
              <a:tr h="285344">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組織能力</a:t>
                      </a:r>
                    </a:p>
                  </a:txBody>
                  <a:tcPr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必要人材</a:t>
                      </a:r>
                    </a:p>
                  </a:txBody>
                  <a:tcPr anchor="ctr">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自社営業・マーチャンダイザーの大量確保が必要</a:t>
                      </a:r>
                    </a:p>
                  </a:txBody>
                  <a:tcPr anchor="ctr">
                    <a:lnL w="3175"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少数精鋭の卸折衝・</a:t>
                      </a:r>
                      <a:r>
                        <a:rPr lang="en-US" altLang="ja-JP" sz="1100" b="0" dirty="0">
                          <a:solidFill>
                            <a:schemeClr val="tx1">
                              <a:lumMod val="65000"/>
                              <a:lumOff val="35000"/>
                            </a:schemeClr>
                          </a:solidFill>
                          <a:latin typeface="Meiryo UI" panose="020B0604030504040204" pitchFamily="50" charset="-128"/>
                          <a:ea typeface="Meiryo UI" panose="020B0604030504040204" pitchFamily="50" charset="-128"/>
                        </a:rPr>
                        <a:t>MD</a:t>
                      </a: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人材で運営可能</a:t>
                      </a:r>
                    </a:p>
                  </a:txBody>
                  <a:tcPr anchor="ct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2097426"/>
                  </a:ext>
                </a:extLst>
              </a:tr>
              <a:tr h="285344">
                <a:tc>
                  <a:txBody>
                    <a:bodyPr/>
                    <a:lstStyle/>
                    <a:p>
                      <a:pPr>
                        <a:buNone/>
                      </a:pPr>
                      <a:endParaRPr lang="ja-JP" altLang="en-US" sz="1100" b="0">
                        <a:solidFill>
                          <a:schemeClr val="tx1">
                            <a:lumMod val="65000"/>
                            <a:lumOff val="35000"/>
                          </a:schemeClr>
                        </a:solidFill>
                        <a:latin typeface="Meiryo UI" panose="020B0604030504040204" pitchFamily="50" charset="-128"/>
                        <a:ea typeface="Meiryo UI" panose="020B0604030504040204" pitchFamily="50" charset="-128"/>
                      </a:endParaRP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ノウハウ蓄積</a:t>
                      </a:r>
                    </a:p>
                  </a:txBody>
                  <a:tcPr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現場知見が自社に蓄積し</a:t>
                      </a:r>
                      <a:r>
                        <a:rPr lang="en-US" altLang="ja-JP" sz="1100" b="0">
                          <a:solidFill>
                            <a:schemeClr val="tx1">
                              <a:lumMod val="65000"/>
                              <a:lumOff val="35000"/>
                            </a:schemeClr>
                          </a:solidFill>
                          <a:latin typeface="Meiryo UI" panose="020B0604030504040204" pitchFamily="50" charset="-128"/>
                          <a:ea typeface="Meiryo UI" panose="020B0604030504040204" pitchFamily="50" charset="-128"/>
                        </a:rPr>
                        <a:t>R&amp;D</a:t>
                      </a:r>
                      <a:r>
                        <a:rPr lang="ja-JP" altLang="en-US" sz="1100" b="0">
                          <a:solidFill>
                            <a:schemeClr val="tx1">
                              <a:lumMod val="65000"/>
                              <a:lumOff val="35000"/>
                            </a:schemeClr>
                          </a:solidFill>
                          <a:latin typeface="Meiryo UI" panose="020B0604030504040204" pitchFamily="50" charset="-128"/>
                          <a:ea typeface="Meiryo UI" panose="020B0604030504040204" pitchFamily="50" charset="-128"/>
                        </a:rPr>
                        <a:t>に還元されやすい</a:t>
                      </a:r>
                    </a:p>
                  </a:txBody>
                  <a:tcPr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現場知見が卸に蓄積し自社には残りにくい</a:t>
                      </a:r>
                    </a:p>
                  </a:txBody>
                  <a:tcPr anchor="ct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1810956"/>
                  </a:ext>
                </a:extLst>
              </a:tr>
              <a:tr h="285344">
                <a:tc>
                  <a:txBody>
                    <a:bodyPr/>
                    <a:lstStyle/>
                    <a:p>
                      <a:pPr>
                        <a:buNone/>
                      </a:pPr>
                      <a:endPar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endParaRPr>
                    </a:p>
                  </a:txBody>
                  <a:tcPr anchor="ct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ltLang="en-US" sz="1100" b="0" dirty="0">
                          <a:solidFill>
                            <a:schemeClr val="tx1">
                              <a:lumMod val="65000"/>
                              <a:lumOff val="35000"/>
                            </a:schemeClr>
                          </a:solidFill>
                          <a:latin typeface="Meiryo UI" panose="020B0604030504040204" pitchFamily="50" charset="-128"/>
                          <a:ea typeface="Meiryo UI" panose="020B0604030504040204" pitchFamily="50" charset="-128"/>
                        </a:rPr>
                        <a:t>組織構築難易度</a:t>
                      </a:r>
                    </a:p>
                  </a:txBody>
                  <a:tcPr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高い（長期の投資と育成を要する）</a:t>
                      </a:r>
                    </a:p>
                  </a:txBody>
                  <a:tcPr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ja-JP" altLang="en-US" sz="1100" b="0" dirty="0">
                          <a:solidFill>
                            <a:schemeClr val="tx1">
                              <a:lumMod val="65000"/>
                              <a:lumOff val="35000"/>
                            </a:schemeClr>
                          </a:solidFill>
                          <a:latin typeface="Meiryo UI" panose="020B0604030504040204" pitchFamily="50" charset="-128"/>
                          <a:ea typeface="Meiryo UI" panose="020B0604030504040204" pitchFamily="50" charset="-128"/>
                        </a:rPr>
                        <a:t>相対的に低い（卸の組織力を活用）</a:t>
                      </a:r>
                    </a:p>
                  </a:txBody>
                  <a:tcPr anchor="ct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9654837"/>
                  </a:ext>
                </a:extLst>
              </a:tr>
            </a:tbl>
          </a:graphicData>
        </a:graphic>
      </p:graphicFrame>
    </p:spTree>
    <p:extLst>
      <p:ext uri="{BB962C8B-B14F-4D97-AF65-F5344CB8AC3E}">
        <p14:creationId xmlns:p14="http://schemas.microsoft.com/office/powerpoint/2010/main" val="3958402091"/>
      </p:ext>
    </p:extLst>
  </p:cSld>
  <p:clrMapOvr>
    <a:masterClrMapping/>
  </p:clrMapOvr>
</p:sld>
</file>

<file path=ppt/theme/theme1.xml><?xml version="1.0" encoding="utf-8"?>
<a:theme xmlns:a="http://schemas.openxmlformats.org/drawingml/2006/main" name="デザインの設定">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15439</TotalTime>
  <Words>2013</Words>
  <Application>Microsoft Office PowerPoint</Application>
  <PresentationFormat>ワイド画面</PresentationFormat>
  <Paragraphs>168</Paragraphs>
  <Slides>5</Slides>
  <Notes>2</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5</vt:i4>
      </vt:variant>
    </vt:vector>
  </HeadingPairs>
  <TitlesOfParts>
    <vt:vector size="10" baseType="lpstr">
      <vt:lpstr>Meiryo UI</vt:lpstr>
      <vt:lpstr>游ゴシック</vt:lpstr>
      <vt:lpstr>Arial</vt:lpstr>
      <vt:lpstr>Wingdings</vt:lpstr>
      <vt:lpstr>デザインの設定</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ishowaseda</dc:creator>
  <cp:lastModifiedBy>ishowaseda</cp:lastModifiedBy>
  <cp:revision>146</cp:revision>
  <dcterms:created xsi:type="dcterms:W3CDTF">2026-04-07T13:27:17Z</dcterms:created>
  <dcterms:modified xsi:type="dcterms:W3CDTF">2026-04-19T08:24:59Z</dcterms:modified>
</cp:coreProperties>
</file>