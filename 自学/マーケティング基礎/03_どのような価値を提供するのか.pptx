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3.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
  </p:notesMasterIdLst>
  <p:sldIdLst>
    <p:sldId id="256" r:id="rId2"/>
    <p:sldId id="257" r:id="rId3"/>
    <p:sldId id="258" r:id="rId4"/>
    <p:sldId id="259" r:id="rId5"/>
    <p:sldId id="260" r:id="rId6"/>
    <p:sldId id="261" r:id="rId7"/>
    <p:sldId id="263" r:id="rId8"/>
    <p:sldId id="264" r:id="rId9"/>
    <p:sldId id="270" r:id="rId10"/>
    <p:sldId id="267" r:id="rId11"/>
    <p:sldId id="271" r:id="rId12"/>
    <p:sldId id="265" r:id="rId13"/>
    <p:sldId id="268" r:id="rId1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3.1_グローバル・ブランド・ランキング" id="{03B3EEA1-EB63-4F11-89FB-58880CC6FCEB}">
          <p14:sldIdLst>
            <p14:sldId id="256"/>
          </p14:sldIdLst>
        </p14:section>
        <p14:section name="3.2_東急ホテルズのブランド戦略" id="{4D88F977-A55B-4B2C-AF60-8ECE96238DDB}">
          <p14:sldIdLst>
            <p14:sldId id="257"/>
          </p14:sldIdLst>
        </p14:section>
        <p14:section name="3.3_成熟期・衰退期の商品" id="{C7F8D50D-1918-42C3-922E-CA4F2A6AEC7E}">
          <p14:sldIdLst>
            <p14:sldId id="258"/>
            <p14:sldId id="259"/>
            <p14:sldId id="260"/>
          </p14:sldIdLst>
        </p14:section>
        <p14:section name="3.4_プロダクト・ポルトフォーリオ・マトリックスの作成" id="{F5EE8DC4-FC78-420C-98F2-55547A4DB11A}">
          <p14:sldIdLst>
            <p14:sldId id="261"/>
          </p14:sldIdLst>
        </p14:section>
        <p14:section name="3.5_BCGモデルの限界" id="{6BEBFEA9-90C4-4C8D-A332-50D93EE4F472}">
          <p14:sldIdLst>
            <p14:sldId id="263"/>
          </p14:sldIdLst>
        </p14:section>
        <p14:section name="3.6_値段が安ければ買うのだが" id="{D7798A33-F151-4D69-8DA9-6CB0BAF69D99}">
          <p14:sldIdLst>
            <p14:sldId id="264"/>
          </p14:sldIdLst>
        </p14:section>
        <p14:section name="3.7_エクスペリエンス・カーブの実践" id="{B053A672-36C4-4F0A-A182-1633BD81BDBE}">
          <p14:sldIdLst>
            <p14:sldId id="270"/>
            <p14:sldId id="267"/>
            <p14:sldId id="271"/>
            <p14:sldId id="265"/>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E3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114" autoAdjust="0"/>
    <p:restoredTop sz="90603" autoAdjust="0"/>
  </p:normalViewPr>
  <p:slideViewPr>
    <p:cSldViewPr snapToGrid="0" showGuides="1">
      <p:cViewPr varScale="1">
        <p:scale>
          <a:sx n="80" d="100"/>
          <a:sy n="80" d="100"/>
        </p:scale>
        <p:origin x="102" y="6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file:///C:\Users\tenni\ROOT\admin_task\&#33258;&#23398;\&#12510;&#12540;&#12465;&#12486;&#12451;&#12531;&#12464;&#22522;&#30990;\03_&#12393;&#12398;&#12424;&#12358;&#12394;&#20385;&#20516;&#12434;&#25552;&#20379;&#12377;&#12427;&#12398;&#12363;.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tenni\ROOT\admin_task\&#33258;&#23398;\&#12510;&#12540;&#12465;&#12486;&#12451;&#12531;&#12464;&#22522;&#30990;\03_&#12393;&#12398;&#12424;&#12358;&#12394;&#20385;&#20516;&#12434;&#25552;&#20379;&#12377;&#12427;&#12398;&#12363;.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tenni\ROOT\admin_task\&#33258;&#23398;\&#12510;&#12540;&#12465;&#12486;&#12451;&#12531;&#12464;&#22522;&#30990;\03_&#12393;&#12398;&#12424;&#12358;&#12394;&#20385;&#20516;&#12434;&#25552;&#20379;&#12377;&#12427;&#12398;&#12363;.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tenni\ROOT\admin_task\&#33258;&#23398;\&#12510;&#12540;&#12465;&#12486;&#12451;&#12531;&#12464;&#22522;&#30990;\03_&#12393;&#12398;&#12424;&#12358;&#12394;&#20385;&#20516;&#12434;&#25552;&#20379;&#12377;&#12427;&#12398;&#12363;.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tenni\ROOT\admin_task\&#33258;&#23398;\&#12510;&#12540;&#12465;&#12486;&#12451;&#12531;&#12464;&#22522;&#30990;\03_&#12393;&#12398;&#12424;&#12358;&#12394;&#20385;&#20516;&#12434;&#25552;&#20379;&#12377;&#12427;&#12398;&#12363;.xlsx" TargetMode="External"/><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dirty="0">
                <a:latin typeface="Meiryo UI" panose="020B0604030504040204" pitchFamily="50" charset="-128"/>
                <a:ea typeface="Meiryo UI" panose="020B0604030504040204" pitchFamily="50" charset="-128"/>
              </a:rPr>
              <a:t>BCG</a:t>
            </a:r>
            <a:r>
              <a:rPr lang="ja-JP" altLang="en-US" dirty="0">
                <a:latin typeface="Meiryo UI" panose="020B0604030504040204" pitchFamily="50" charset="-128"/>
                <a:ea typeface="Meiryo UI" panose="020B0604030504040204" pitchFamily="50" charset="-128"/>
              </a:rPr>
              <a:t>（</a:t>
            </a:r>
            <a:r>
              <a:rPr lang="en-US" altLang="ja-JP" dirty="0">
                <a:latin typeface="Meiryo UI" panose="020B0604030504040204" pitchFamily="50" charset="-128"/>
                <a:ea typeface="Meiryo UI" panose="020B0604030504040204" pitchFamily="50" charset="-128"/>
              </a:rPr>
              <a:t>2020</a:t>
            </a:r>
            <a:r>
              <a:rPr lang="ja-JP" altLang="en-US" dirty="0">
                <a:latin typeface="Meiryo UI" panose="020B0604030504040204" pitchFamily="50" charset="-128"/>
                <a:ea typeface="Meiryo UI" panose="020B0604030504040204" pitchFamily="50" charset="-128"/>
              </a:rPr>
              <a:t>）</a:t>
            </a:r>
          </a:p>
        </c:rich>
      </c:tx>
      <c:layout>
        <c:manualLayout>
          <c:xMode val="edge"/>
          <c:yMode val="edge"/>
          <c:x val="0.41268213726985398"/>
          <c:y val="2.4132634479263986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lineMarker"/>
        <c:varyColors val="0"/>
        <c:ser>
          <c:idx val="0"/>
          <c:order val="0"/>
          <c:tx>
            <c:strRef>
              <c:f>'3.4_BCG'!$P$11</c:f>
              <c:strCache>
                <c:ptCount val="1"/>
                <c:pt idx="0">
                  <c:v>市場成長率推定（％）</c:v>
                </c:pt>
              </c:strCache>
            </c:strRef>
          </c:tx>
          <c:spPr>
            <a:ln w="38100" cap="rnd">
              <a:noFill/>
              <a:round/>
            </a:ln>
            <a:effectLst/>
          </c:spPr>
          <c:marker>
            <c:symbol val="circle"/>
            <c:size val="5"/>
            <c:spPr>
              <a:solidFill>
                <a:schemeClr val="accent1"/>
              </a:solidFill>
              <a:ln w="9525">
                <a:solidFill>
                  <a:schemeClr val="accent1"/>
                </a:solidFill>
              </a:ln>
              <a:effectLst/>
            </c:spPr>
          </c:marker>
          <c:xVal>
            <c:numRef>
              <c:f>'3.4_BCG'!$O$12:$O$15</c:f>
              <c:numCache>
                <c:formatCode>General</c:formatCode>
                <c:ptCount val="4"/>
                <c:pt idx="0">
                  <c:v>1.75</c:v>
                </c:pt>
                <c:pt idx="1">
                  <c:v>1.4</c:v>
                </c:pt>
                <c:pt idx="2">
                  <c:v>0.4</c:v>
                </c:pt>
                <c:pt idx="3">
                  <c:v>0.16666666666666666</c:v>
                </c:pt>
              </c:numCache>
            </c:numRef>
          </c:xVal>
          <c:yVal>
            <c:numRef>
              <c:f>'3.4_BCG'!$P$12:$P$15</c:f>
              <c:numCache>
                <c:formatCode>General</c:formatCode>
                <c:ptCount val="4"/>
                <c:pt idx="0">
                  <c:v>5</c:v>
                </c:pt>
                <c:pt idx="1">
                  <c:v>12</c:v>
                </c:pt>
                <c:pt idx="2">
                  <c:v>15</c:v>
                </c:pt>
                <c:pt idx="3">
                  <c:v>5</c:v>
                </c:pt>
              </c:numCache>
            </c:numRef>
          </c:yVal>
          <c:smooth val="0"/>
          <c:extLst>
            <c:ext xmlns:c16="http://schemas.microsoft.com/office/drawing/2014/chart" uri="{C3380CC4-5D6E-409C-BE32-E72D297353CC}">
              <c16:uniqueId val="{00000000-9E51-4B68-95DB-1F16C2127879}"/>
            </c:ext>
          </c:extLst>
        </c:ser>
        <c:dLbls>
          <c:showLegendKey val="0"/>
          <c:showVal val="0"/>
          <c:showCatName val="0"/>
          <c:showSerName val="0"/>
          <c:showPercent val="0"/>
          <c:showBubbleSize val="0"/>
        </c:dLbls>
        <c:axId val="1971036320"/>
        <c:axId val="1971028160"/>
      </c:scatterChart>
      <c:valAx>
        <c:axId val="1971036320"/>
        <c:scaling>
          <c:logBase val="10"/>
          <c:orientation val="maxMin"/>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971028160"/>
        <c:crosses val="autoZero"/>
        <c:crossBetween val="midCat"/>
      </c:valAx>
      <c:valAx>
        <c:axId val="1971028160"/>
        <c:scaling>
          <c:orientation val="minMax"/>
          <c:max val="18"/>
        </c:scaling>
        <c:delete val="0"/>
        <c:axPos val="r"/>
        <c:numFmt formatCode="General" sourceLinked="1"/>
        <c:majorTickMark val="none"/>
        <c:minorTickMark val="none"/>
        <c:tickLblPos val="high"/>
        <c:spPr>
          <a:solidFill>
            <a:schemeClr val="bg1"/>
          </a:solid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971036320"/>
        <c:crosses val="autoZero"/>
        <c:crossBetween val="midCat"/>
      </c:valAx>
      <c:spPr>
        <a:noFill/>
        <a:ln>
          <a:noFill/>
        </a:ln>
        <a:effectLst/>
      </c:spPr>
    </c:plotArea>
    <c:plotVisOnly val="1"/>
    <c:dispBlanksAs val="gap"/>
    <c:showDLblsOverMax val="0"/>
  </c:chart>
  <c:spPr>
    <a:noFill/>
    <a:ln>
      <a:noFill/>
    </a:ln>
    <a:effectLst/>
  </c:spPr>
  <c:txPr>
    <a:bodyPr/>
    <a:lstStyle/>
    <a:p>
      <a:pPr>
        <a:defRPr/>
      </a:pPr>
      <a:endParaRPr lang="ja-JP"/>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dirty="0">
                <a:latin typeface="Meiryo UI" panose="020B0604030504040204" pitchFamily="50" charset="-128"/>
                <a:ea typeface="Meiryo UI" panose="020B0604030504040204" pitchFamily="50" charset="-128"/>
              </a:rPr>
              <a:t>BCG</a:t>
            </a:r>
            <a:r>
              <a:rPr lang="ja-JP" altLang="en-US" dirty="0">
                <a:latin typeface="Meiryo UI" panose="020B0604030504040204" pitchFamily="50" charset="-128"/>
                <a:ea typeface="Meiryo UI" panose="020B0604030504040204" pitchFamily="50" charset="-128"/>
              </a:rPr>
              <a:t>（</a:t>
            </a:r>
            <a:r>
              <a:rPr lang="en-US" altLang="ja-JP" dirty="0">
                <a:latin typeface="Meiryo UI" panose="020B0604030504040204" pitchFamily="50" charset="-128"/>
                <a:ea typeface="Meiryo UI" panose="020B0604030504040204" pitchFamily="50" charset="-128"/>
              </a:rPr>
              <a:t>2022</a:t>
            </a:r>
            <a:r>
              <a:rPr lang="ja-JP" altLang="en-US" dirty="0">
                <a:latin typeface="Meiryo UI" panose="020B0604030504040204" pitchFamily="50" charset="-128"/>
                <a:ea typeface="Meiryo UI" panose="020B0604030504040204" pitchFamily="50" charset="-128"/>
              </a:rPr>
              <a:t>）</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lineMarker"/>
        <c:varyColors val="0"/>
        <c:ser>
          <c:idx val="0"/>
          <c:order val="0"/>
          <c:tx>
            <c:strRef>
              <c:f>'3.4_BCG'!$P$17</c:f>
              <c:strCache>
                <c:ptCount val="1"/>
                <c:pt idx="0">
                  <c:v>市場成長率推定（％）</c:v>
                </c:pt>
              </c:strCache>
            </c:strRef>
          </c:tx>
          <c:spPr>
            <a:ln w="38100" cap="rnd">
              <a:noFill/>
              <a:round/>
            </a:ln>
            <a:effectLst/>
          </c:spPr>
          <c:marker>
            <c:symbol val="circle"/>
            <c:size val="5"/>
            <c:spPr>
              <a:solidFill>
                <a:schemeClr val="accent1"/>
              </a:solidFill>
              <a:ln w="9525">
                <a:solidFill>
                  <a:schemeClr val="accent1"/>
                </a:solidFill>
              </a:ln>
              <a:effectLst/>
            </c:spPr>
          </c:marker>
          <c:xVal>
            <c:numRef>
              <c:f>'3.4_BCG'!$O$18:$O$21</c:f>
              <c:numCache>
                <c:formatCode>General</c:formatCode>
                <c:ptCount val="4"/>
                <c:pt idx="0">
                  <c:v>1.9</c:v>
                </c:pt>
                <c:pt idx="1">
                  <c:v>1.1363636363636365</c:v>
                </c:pt>
                <c:pt idx="2">
                  <c:v>0.37037037037037035</c:v>
                </c:pt>
                <c:pt idx="3">
                  <c:v>0.16666666666666666</c:v>
                </c:pt>
              </c:numCache>
            </c:numRef>
          </c:xVal>
          <c:yVal>
            <c:numRef>
              <c:f>'3.4_BCG'!$P$18:$P$21</c:f>
              <c:numCache>
                <c:formatCode>General</c:formatCode>
                <c:ptCount val="4"/>
                <c:pt idx="0">
                  <c:v>2</c:v>
                </c:pt>
                <c:pt idx="1">
                  <c:v>15</c:v>
                </c:pt>
                <c:pt idx="2">
                  <c:v>17</c:v>
                </c:pt>
                <c:pt idx="3">
                  <c:v>4</c:v>
                </c:pt>
              </c:numCache>
            </c:numRef>
          </c:yVal>
          <c:smooth val="0"/>
          <c:extLst>
            <c:ext xmlns:c16="http://schemas.microsoft.com/office/drawing/2014/chart" uri="{C3380CC4-5D6E-409C-BE32-E72D297353CC}">
              <c16:uniqueId val="{00000000-53D3-4221-B5B9-A175BA90FEB7}"/>
            </c:ext>
          </c:extLst>
        </c:ser>
        <c:dLbls>
          <c:showLegendKey val="0"/>
          <c:showVal val="0"/>
          <c:showCatName val="0"/>
          <c:showSerName val="0"/>
          <c:showPercent val="0"/>
          <c:showBubbleSize val="0"/>
        </c:dLbls>
        <c:axId val="1971002720"/>
        <c:axId val="1970997920"/>
      </c:scatterChart>
      <c:valAx>
        <c:axId val="1971002720"/>
        <c:scaling>
          <c:logBase val="10"/>
          <c:orientation val="maxMin"/>
        </c:scaling>
        <c:delete val="0"/>
        <c:axPos val="b"/>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970997920"/>
        <c:crosses val="autoZero"/>
        <c:crossBetween val="midCat"/>
      </c:valAx>
      <c:valAx>
        <c:axId val="1970997920"/>
        <c:scaling>
          <c:orientation val="minMax"/>
        </c:scaling>
        <c:delete val="0"/>
        <c:axPos val="r"/>
        <c:numFmt formatCode="General" sourceLinked="1"/>
        <c:majorTickMark val="none"/>
        <c:minorTickMark val="none"/>
        <c:tickLblPos val="high"/>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971002720"/>
        <c:crosses val="autoZero"/>
        <c:crossBetween val="midCat"/>
      </c:valAx>
      <c:spPr>
        <a:noFill/>
        <a:ln>
          <a:noFill/>
        </a:ln>
        <a:effectLst/>
      </c:spPr>
    </c:plotArea>
    <c:plotVisOnly val="1"/>
    <c:dispBlanksAs val="gap"/>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u="sng" dirty="0">
                <a:latin typeface="Meiryo UI" panose="020B0604030504040204" pitchFamily="50" charset="-128"/>
                <a:ea typeface="Meiryo UI" panose="020B0604030504040204" pitchFamily="50" charset="-128"/>
              </a:rPr>
              <a:t>A</a:t>
            </a:r>
            <a:r>
              <a:rPr lang="ja-JP" altLang="en-US" u="sng" dirty="0">
                <a:latin typeface="Meiryo UI" panose="020B0604030504040204" pitchFamily="50" charset="-128"/>
                <a:ea typeface="Meiryo UI" panose="020B0604030504040204" pitchFamily="50" charset="-128"/>
              </a:rPr>
              <a:t>社シェアが</a:t>
            </a:r>
            <a:r>
              <a:rPr lang="en-US" altLang="ja-JP" u="sng" dirty="0">
                <a:latin typeface="Meiryo UI" panose="020B0604030504040204" pitchFamily="50" charset="-128"/>
                <a:ea typeface="Meiryo UI" panose="020B0604030504040204" pitchFamily="50" charset="-128"/>
              </a:rPr>
              <a:t>30%</a:t>
            </a:r>
            <a:r>
              <a:rPr lang="ja-JP" altLang="en-US" u="sng" dirty="0">
                <a:latin typeface="Meiryo UI" panose="020B0604030504040204" pitchFamily="50" charset="-128"/>
                <a:ea typeface="Meiryo UI" panose="020B0604030504040204" pitchFamily="50" charset="-128"/>
              </a:rPr>
              <a:t>、</a:t>
            </a:r>
            <a:r>
              <a:rPr lang="en-US" altLang="ja-JP" u="sng" dirty="0">
                <a:latin typeface="Meiryo UI" panose="020B0604030504040204" pitchFamily="50" charset="-128"/>
                <a:ea typeface="Meiryo UI" panose="020B0604030504040204" pitchFamily="50" charset="-128"/>
              </a:rPr>
              <a:t>B</a:t>
            </a:r>
            <a:r>
              <a:rPr lang="ja-JP" altLang="en-US" u="sng" dirty="0">
                <a:latin typeface="Meiryo UI" panose="020B0604030504040204" pitchFamily="50" charset="-128"/>
                <a:ea typeface="Meiryo UI" panose="020B0604030504040204" pitchFamily="50" charset="-128"/>
              </a:rPr>
              <a:t>社シェアが</a:t>
            </a:r>
            <a:r>
              <a:rPr lang="en-US" altLang="ja-JP" u="sng" dirty="0">
                <a:latin typeface="Meiryo UI" panose="020B0604030504040204" pitchFamily="50" charset="-128"/>
                <a:ea typeface="Meiryo UI" panose="020B0604030504040204" pitchFamily="50" charset="-128"/>
              </a:rPr>
              <a:t>40%</a:t>
            </a:r>
            <a:r>
              <a:rPr lang="ja-JP" altLang="en-US" u="sng" dirty="0">
                <a:latin typeface="Meiryo UI" panose="020B0604030504040204" pitchFamily="50" charset="-128"/>
                <a:ea typeface="Meiryo UI" panose="020B0604030504040204" pitchFamily="50" charset="-128"/>
              </a:rPr>
              <a:t>の場合の累積生産台数差推移</a:t>
            </a:r>
          </a:p>
        </c:rich>
      </c:tx>
      <c:layout>
        <c:manualLayout>
          <c:xMode val="edge"/>
          <c:yMode val="edge"/>
          <c:x val="0.19595385802037008"/>
          <c:y val="7.1641443902709961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barChart>
        <c:barDir val="col"/>
        <c:grouping val="clustered"/>
        <c:varyColors val="0"/>
        <c:ser>
          <c:idx val="0"/>
          <c:order val="0"/>
          <c:tx>
            <c:strRef>
              <c:f>'3.7_エクスペリエンスカーブ'!$V$11:$V$12</c:f>
              <c:strCache>
                <c:ptCount val="2"/>
                <c:pt idx="0">
                  <c:v>累積生産台数差</c:v>
                </c:pt>
                <c:pt idx="1">
                  <c:v>台</c:v>
                </c:pt>
              </c:strCache>
            </c:strRef>
          </c:tx>
          <c:spPr>
            <a:solidFill>
              <a:schemeClr val="tx2">
                <a:lumMod val="25000"/>
                <a:lumOff val="7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'3.7_エクスペリエンスカーブ'!$P$13:$P$27</c:f>
              <c:numCache>
                <c:formatCode>General</c:formatCode>
                <c:ptCount val="1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numCache>
            </c:numRef>
          </c:cat>
          <c:val>
            <c:numRef>
              <c:f>'3.7_エクスペリエンスカーブ'!$V$13:$V$27</c:f>
              <c:numCache>
                <c:formatCode>#,##0_);[Red]\(#,##0\)</c:formatCode>
                <c:ptCount val="15"/>
                <c:pt idx="0">
                  <c:v>58000</c:v>
                </c:pt>
                <c:pt idx="1">
                  <c:v>55700</c:v>
                </c:pt>
                <c:pt idx="2">
                  <c:v>53055</c:v>
                </c:pt>
                <c:pt idx="3">
                  <c:v>50013.25</c:v>
                </c:pt>
                <c:pt idx="4">
                  <c:v>46515.237500000017</c:v>
                </c:pt>
                <c:pt idx="5">
                  <c:v>42492.523125000007</c:v>
                </c:pt>
                <c:pt idx="6">
                  <c:v>37866.401593750023</c:v>
                </c:pt>
                <c:pt idx="7">
                  <c:v>32546.361832812516</c:v>
                </c:pt>
                <c:pt idx="8">
                  <c:v>26428.316107734398</c:v>
                </c:pt>
                <c:pt idx="9">
                  <c:v>19392.563523894525</c:v>
                </c:pt>
                <c:pt idx="10">
                  <c:v>11301.448052478721</c:v>
                </c:pt>
                <c:pt idx="11">
                  <c:v>1996.6652603505645</c:v>
                </c:pt>
                <c:pt idx="12">
                  <c:v>-8703.834950596909</c:v>
                </c:pt>
                <c:pt idx="13">
                  <c:v>-21009.410193186428</c:v>
                </c:pt>
                <c:pt idx="14">
                  <c:v>-35160.821722164343</c:v>
                </c:pt>
              </c:numCache>
            </c:numRef>
          </c:val>
          <c:extLst>
            <c:ext xmlns:c16="http://schemas.microsoft.com/office/drawing/2014/chart" uri="{C3380CC4-5D6E-409C-BE32-E72D297353CC}">
              <c16:uniqueId val="{00000000-B925-4E31-B6D1-C35A602FAB28}"/>
            </c:ext>
          </c:extLst>
        </c:ser>
        <c:dLbls>
          <c:dLblPos val="outEnd"/>
          <c:showLegendKey val="0"/>
          <c:showVal val="1"/>
          <c:showCatName val="0"/>
          <c:showSerName val="0"/>
          <c:showPercent val="0"/>
          <c:showBubbleSize val="0"/>
        </c:dLbls>
        <c:gapWidth val="219"/>
        <c:overlap val="-27"/>
        <c:axId val="1971034880"/>
        <c:axId val="1971036320"/>
      </c:barChart>
      <c:catAx>
        <c:axId val="1971034880"/>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latin typeface="Meiryo UI" panose="020B0604030504040204" pitchFamily="50" charset="-128"/>
                    <a:ea typeface="Meiryo UI" panose="020B0604030504040204" pitchFamily="50" charset="-128"/>
                  </a:rPr>
                  <a:t>経過年数</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971036320"/>
        <c:crosses val="autoZero"/>
        <c:auto val="1"/>
        <c:lblAlgn val="ctr"/>
        <c:lblOffset val="100"/>
        <c:noMultiLvlLbl val="0"/>
      </c:catAx>
      <c:valAx>
        <c:axId val="1971036320"/>
        <c:scaling>
          <c:orientation val="minMax"/>
        </c:scaling>
        <c:delete val="0"/>
        <c:axPos val="l"/>
        <c:majorGridlines>
          <c:spPr>
            <a:ln w="9525" cap="flat" cmpd="sng" algn="ctr">
              <a:solidFill>
                <a:schemeClr val="tx1">
                  <a:lumMod val="15000"/>
                  <a:lumOff val="85000"/>
                </a:schemeClr>
              </a:solidFill>
              <a:round/>
            </a:ln>
            <a:effectLst/>
          </c:spPr>
        </c:majorGridlines>
        <c:numFmt formatCode="#,##0_);[Red]\(#,##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9710348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ja-JP"/>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spPr>
            <a:ln w="19050" cap="rnd">
              <a:solidFill>
                <a:schemeClr val="accent1"/>
              </a:solidFill>
              <a:round/>
            </a:ln>
            <a:effectLst/>
          </c:spPr>
          <c:marker>
            <c:symbol val="circle"/>
            <c:size val="5"/>
            <c:spPr>
              <a:solidFill>
                <a:schemeClr val="accent1"/>
              </a:solidFill>
              <a:ln w="9525">
                <a:solidFill>
                  <a:schemeClr val="accent1"/>
                </a:solidFill>
              </a:ln>
              <a:effectLst/>
            </c:spPr>
          </c:marker>
          <c:xVal>
            <c:numRef>
              <c:f>'3.7_エクスペリエンスカーブ'!$Y$88:$Y$104</c:f>
              <c:numCache>
                <c:formatCode>General</c:formatCode>
                <c:ptCount val="17"/>
                <c:pt idx="0">
                  <c:v>8.0000000000000002E-3</c:v>
                </c:pt>
                <c:pt idx="1">
                  <c:v>0.01</c:v>
                </c:pt>
                <c:pt idx="2">
                  <c:v>1.2E-2</c:v>
                </c:pt>
                <c:pt idx="3">
                  <c:v>1.4E-2</c:v>
                </c:pt>
                <c:pt idx="4">
                  <c:v>1.6E-2</c:v>
                </c:pt>
                <c:pt idx="5">
                  <c:v>1.7999999999999999E-2</c:v>
                </c:pt>
                <c:pt idx="6">
                  <c:v>0.02</c:v>
                </c:pt>
                <c:pt idx="7">
                  <c:v>2.1999999999999999E-2</c:v>
                </c:pt>
                <c:pt idx="8">
                  <c:v>2.4E-2</c:v>
                </c:pt>
                <c:pt idx="9">
                  <c:v>2.5999999999999999E-2</c:v>
                </c:pt>
                <c:pt idx="10">
                  <c:v>2.8000000000000001E-2</c:v>
                </c:pt>
                <c:pt idx="11">
                  <c:v>0.03</c:v>
                </c:pt>
                <c:pt idx="12">
                  <c:v>3.2000000000000001E-2</c:v>
                </c:pt>
                <c:pt idx="13">
                  <c:v>3.4000000000000002E-2</c:v>
                </c:pt>
                <c:pt idx="14">
                  <c:v>3.5999999999999997E-2</c:v>
                </c:pt>
                <c:pt idx="15">
                  <c:v>3.7999999999999999E-2</c:v>
                </c:pt>
                <c:pt idx="16">
                  <c:v>0.04</c:v>
                </c:pt>
              </c:numCache>
            </c:numRef>
          </c:xVal>
          <c:yVal>
            <c:numRef>
              <c:f>'3.7_エクスペリエンスカーブ'!$AC$88:$AC$104</c:f>
              <c:numCache>
                <c:formatCode>General</c:formatCode>
                <c:ptCount val="17"/>
                <c:pt idx="0">
                  <c:v>26</c:v>
                </c:pt>
                <c:pt idx="1">
                  <c:v>17</c:v>
                </c:pt>
                <c:pt idx="2">
                  <c:v>14</c:v>
                </c:pt>
                <c:pt idx="3">
                  <c:v>12</c:v>
                </c:pt>
                <c:pt idx="4">
                  <c:v>10</c:v>
                </c:pt>
                <c:pt idx="5">
                  <c:v>9</c:v>
                </c:pt>
                <c:pt idx="6">
                  <c:v>8</c:v>
                </c:pt>
                <c:pt idx="7">
                  <c:v>8</c:v>
                </c:pt>
                <c:pt idx="8">
                  <c:v>7</c:v>
                </c:pt>
                <c:pt idx="9">
                  <c:v>7</c:v>
                </c:pt>
                <c:pt idx="10">
                  <c:v>6</c:v>
                </c:pt>
                <c:pt idx="11">
                  <c:v>6</c:v>
                </c:pt>
                <c:pt idx="12">
                  <c:v>5</c:v>
                </c:pt>
                <c:pt idx="13">
                  <c:v>5</c:v>
                </c:pt>
                <c:pt idx="14">
                  <c:v>5</c:v>
                </c:pt>
                <c:pt idx="15">
                  <c:v>5</c:v>
                </c:pt>
                <c:pt idx="16">
                  <c:v>4</c:v>
                </c:pt>
              </c:numCache>
            </c:numRef>
          </c:yVal>
          <c:smooth val="0"/>
          <c:extLst>
            <c:ext xmlns:c16="http://schemas.microsoft.com/office/drawing/2014/chart" uri="{C3380CC4-5D6E-409C-BE32-E72D297353CC}">
              <c16:uniqueId val="{00000000-8111-404B-974C-BC893F2D67C0}"/>
            </c:ext>
          </c:extLst>
        </c:ser>
        <c:dLbls>
          <c:showLegendKey val="0"/>
          <c:showVal val="0"/>
          <c:showCatName val="0"/>
          <c:showSerName val="0"/>
          <c:showPercent val="0"/>
          <c:showBubbleSize val="0"/>
        </c:dLbls>
        <c:axId val="2004568944"/>
        <c:axId val="2004566544"/>
      </c:scatterChart>
      <c:valAx>
        <c:axId val="2004568944"/>
        <c:scaling>
          <c:orientation val="minMax"/>
          <c:max val="4.0000000000000008E-2"/>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2004566544"/>
        <c:crosses val="autoZero"/>
        <c:crossBetween val="midCat"/>
      </c:valAx>
      <c:valAx>
        <c:axId val="20045665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2004568944"/>
        <c:crosses val="autoZero"/>
        <c:crossBetween val="midCat"/>
      </c:valAx>
      <c:spPr>
        <a:noFill/>
        <a:ln>
          <a:noFill/>
        </a:ln>
        <a:effectLst/>
      </c:spPr>
    </c:plotArea>
    <c:plotVisOnly val="1"/>
    <c:dispBlanksAs val="gap"/>
    <c:showDLblsOverMax val="0"/>
  </c:chart>
  <c:spPr>
    <a:noFill/>
    <a:ln>
      <a:noFill/>
    </a:ln>
    <a:effectLst/>
  </c:spPr>
  <c:txPr>
    <a:bodyPr/>
    <a:lstStyle/>
    <a:p>
      <a:pPr>
        <a:defRPr/>
      </a:pPr>
      <a:endParaRPr lang="ja-JP"/>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spPr>
            <a:ln w="19050" cap="rnd">
              <a:solidFill>
                <a:schemeClr val="accent1"/>
              </a:solidFill>
              <a:round/>
            </a:ln>
            <a:effectLst/>
          </c:spPr>
          <c:marker>
            <c:symbol val="circle"/>
            <c:size val="5"/>
            <c:spPr>
              <a:solidFill>
                <a:schemeClr val="accent1"/>
              </a:solidFill>
              <a:ln w="9525">
                <a:solidFill>
                  <a:schemeClr val="accent1"/>
                </a:solidFill>
              </a:ln>
              <a:effectLst/>
            </c:spPr>
          </c:marker>
          <c:xVal>
            <c:numRef>
              <c:f>'3.7_エクスペリエンスカーブ'!$Y$42:$Y$59</c:f>
              <c:numCache>
                <c:formatCode>General</c:formatCode>
                <c:ptCount val="18"/>
                <c:pt idx="0">
                  <c:v>3.0000000000000001E-3</c:v>
                </c:pt>
                <c:pt idx="1">
                  <c:v>4.0000000000000001E-3</c:v>
                </c:pt>
                <c:pt idx="2">
                  <c:v>5.0000000000000001E-3</c:v>
                </c:pt>
                <c:pt idx="3">
                  <c:v>6.0000000000000001E-3</c:v>
                </c:pt>
                <c:pt idx="4">
                  <c:v>7.0000000000000001E-3</c:v>
                </c:pt>
                <c:pt idx="5">
                  <c:v>8.0000000000000002E-3</c:v>
                </c:pt>
                <c:pt idx="6">
                  <c:v>8.9999999999999993E-3</c:v>
                </c:pt>
                <c:pt idx="7">
                  <c:v>0.01</c:v>
                </c:pt>
                <c:pt idx="8">
                  <c:v>1.0999999999999999E-2</c:v>
                </c:pt>
                <c:pt idx="9">
                  <c:v>1.2E-2</c:v>
                </c:pt>
                <c:pt idx="10">
                  <c:v>1.2999999999999999E-2</c:v>
                </c:pt>
                <c:pt idx="11">
                  <c:v>1.4E-2</c:v>
                </c:pt>
                <c:pt idx="12">
                  <c:v>1.4999999999999999E-2</c:v>
                </c:pt>
                <c:pt idx="13">
                  <c:v>1.6E-2</c:v>
                </c:pt>
                <c:pt idx="14">
                  <c:v>1.7000000000000001E-2</c:v>
                </c:pt>
                <c:pt idx="15">
                  <c:v>1.7999999999999999E-2</c:v>
                </c:pt>
                <c:pt idx="16">
                  <c:v>1.9E-2</c:v>
                </c:pt>
                <c:pt idx="17">
                  <c:v>0.02</c:v>
                </c:pt>
              </c:numCache>
            </c:numRef>
          </c:xVal>
          <c:yVal>
            <c:numRef>
              <c:f>'3.7_エクスペリエンスカーブ'!$AC$42:$AC$59</c:f>
              <c:numCache>
                <c:formatCode>General</c:formatCode>
                <c:ptCount val="18"/>
                <c:pt idx="0">
                  <c:v>22</c:v>
                </c:pt>
                <c:pt idx="1">
                  <c:v>15</c:v>
                </c:pt>
                <c:pt idx="2">
                  <c:v>12</c:v>
                </c:pt>
                <c:pt idx="3">
                  <c:v>10</c:v>
                </c:pt>
                <c:pt idx="4">
                  <c:v>8</c:v>
                </c:pt>
                <c:pt idx="5">
                  <c:v>7</c:v>
                </c:pt>
                <c:pt idx="6">
                  <c:v>7</c:v>
                </c:pt>
                <c:pt idx="7">
                  <c:v>6</c:v>
                </c:pt>
                <c:pt idx="8">
                  <c:v>6</c:v>
                </c:pt>
                <c:pt idx="9">
                  <c:v>5</c:v>
                </c:pt>
                <c:pt idx="10">
                  <c:v>5</c:v>
                </c:pt>
                <c:pt idx="11">
                  <c:v>4</c:v>
                </c:pt>
                <c:pt idx="12">
                  <c:v>4</c:v>
                </c:pt>
                <c:pt idx="13">
                  <c:v>4</c:v>
                </c:pt>
                <c:pt idx="14">
                  <c:v>4</c:v>
                </c:pt>
                <c:pt idx="15">
                  <c:v>3</c:v>
                </c:pt>
                <c:pt idx="16">
                  <c:v>3</c:v>
                </c:pt>
                <c:pt idx="17">
                  <c:v>3</c:v>
                </c:pt>
              </c:numCache>
            </c:numRef>
          </c:yVal>
          <c:smooth val="0"/>
          <c:extLst>
            <c:ext xmlns:c16="http://schemas.microsoft.com/office/drawing/2014/chart" uri="{C3380CC4-5D6E-409C-BE32-E72D297353CC}">
              <c16:uniqueId val="{00000000-AC58-470F-9BA0-493AAD98CC2E}"/>
            </c:ext>
          </c:extLst>
        </c:ser>
        <c:dLbls>
          <c:showLegendKey val="0"/>
          <c:showVal val="0"/>
          <c:showCatName val="0"/>
          <c:showSerName val="0"/>
          <c:showPercent val="0"/>
          <c:showBubbleSize val="0"/>
        </c:dLbls>
        <c:axId val="2106361984"/>
        <c:axId val="2106363424"/>
      </c:scatterChart>
      <c:valAx>
        <c:axId val="2106361984"/>
        <c:scaling>
          <c:orientation val="minMax"/>
          <c:max val="2.0000000000000004E-2"/>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2106363424"/>
        <c:crosses val="autoZero"/>
        <c:crossBetween val="midCat"/>
      </c:valAx>
      <c:valAx>
        <c:axId val="210636342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2106361984"/>
        <c:crosses val="autoZero"/>
        <c:crossBetween val="midCat"/>
      </c:valAx>
      <c:spPr>
        <a:noFill/>
        <a:ln>
          <a:noFill/>
        </a:ln>
        <a:effectLst/>
      </c:spPr>
    </c:plotArea>
    <c:plotVisOnly val="1"/>
    <c:dispBlanksAs val="gap"/>
    <c:showDLblsOverMax val="0"/>
  </c:chart>
  <c:spPr>
    <a:noFill/>
    <a:ln>
      <a:no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4995594-262B-4C49-8718-068B9ECCBB11}" type="doc">
      <dgm:prSet loTypeId="urn:microsoft.com/office/officeart/2005/8/layout/hierarchy2" loCatId="hierarchy" qsTypeId="urn:microsoft.com/office/officeart/2005/8/quickstyle/simple1" qsCatId="simple" csTypeId="urn:microsoft.com/office/officeart/2005/8/colors/accent1_2" csCatId="accent1" phldr="1"/>
      <dgm:spPr/>
      <dgm:t>
        <a:bodyPr/>
        <a:lstStyle/>
        <a:p>
          <a:endParaRPr kumimoji="1" lang="ja-JP" altLang="en-US"/>
        </a:p>
      </dgm:t>
    </dgm:pt>
    <dgm:pt modelId="{A7389C7D-670C-4D63-8F59-11454FCC7F4D}">
      <dgm:prSet phldrT="[テキスト]"/>
      <dgm:spPr/>
      <dgm:t>
        <a:bodyPr/>
        <a:lstStyle/>
        <a:p>
          <a:r>
            <a:rPr kumimoji="1" lang="ja-JP" altLang="en-US" dirty="0"/>
            <a:t>成熟期の目標</a:t>
          </a:r>
        </a:p>
      </dgm:t>
    </dgm:pt>
    <dgm:pt modelId="{D4A3BB1D-AAA6-4D24-BDA1-F8D6C1A92096}" type="parTrans" cxnId="{EFA044F8-69F0-4A46-A6DB-7295DEDC6EB0}">
      <dgm:prSet/>
      <dgm:spPr/>
      <dgm:t>
        <a:bodyPr/>
        <a:lstStyle/>
        <a:p>
          <a:endParaRPr kumimoji="1" lang="ja-JP" altLang="en-US"/>
        </a:p>
      </dgm:t>
    </dgm:pt>
    <dgm:pt modelId="{7CB70C7F-669B-40B6-8811-48D8E9CF0B16}" type="sibTrans" cxnId="{EFA044F8-69F0-4A46-A6DB-7295DEDC6EB0}">
      <dgm:prSet/>
      <dgm:spPr/>
      <dgm:t>
        <a:bodyPr/>
        <a:lstStyle/>
        <a:p>
          <a:endParaRPr kumimoji="1" lang="ja-JP" altLang="en-US"/>
        </a:p>
      </dgm:t>
    </dgm:pt>
    <dgm:pt modelId="{FBA989F3-DFC2-4991-B6D4-6617D66BC696}">
      <dgm:prSet phldrT="[テキスト]"/>
      <dgm:spPr/>
      <dgm:t>
        <a:bodyPr/>
        <a:lstStyle/>
        <a:p>
          <a:r>
            <a:rPr kumimoji="1" lang="ja-JP" altLang="en-US" dirty="0"/>
            <a:t>市場シェアの維持</a:t>
          </a:r>
        </a:p>
      </dgm:t>
    </dgm:pt>
    <dgm:pt modelId="{900991C7-6B3C-4C3D-8790-DB378BA4ACC7}" type="parTrans" cxnId="{8264DACF-F106-4B8F-BD96-2D57FFA61B80}">
      <dgm:prSet/>
      <dgm:spPr/>
      <dgm:t>
        <a:bodyPr/>
        <a:lstStyle/>
        <a:p>
          <a:endParaRPr kumimoji="1" lang="ja-JP" altLang="en-US"/>
        </a:p>
      </dgm:t>
    </dgm:pt>
    <dgm:pt modelId="{E91B3532-E382-48BE-A8EF-AAF216C3F692}" type="sibTrans" cxnId="{8264DACF-F106-4B8F-BD96-2D57FFA61B80}">
      <dgm:prSet/>
      <dgm:spPr/>
      <dgm:t>
        <a:bodyPr/>
        <a:lstStyle/>
        <a:p>
          <a:endParaRPr kumimoji="1" lang="ja-JP" altLang="en-US"/>
        </a:p>
      </dgm:t>
    </dgm:pt>
    <dgm:pt modelId="{54783294-BA16-40F1-895D-0E090AF19F3D}">
      <dgm:prSet phldrT="[テキスト]"/>
      <dgm:spPr/>
      <dgm:t>
        <a:bodyPr/>
        <a:lstStyle/>
        <a:p>
          <a:r>
            <a:rPr kumimoji="1" lang="ja-JP" altLang="en-US" dirty="0"/>
            <a:t>既存顧客の維持</a:t>
          </a:r>
        </a:p>
      </dgm:t>
    </dgm:pt>
    <dgm:pt modelId="{986BF26F-B23B-4BC4-9E39-79617C3F8F42}" type="parTrans" cxnId="{EBDF3C72-444C-4122-9E56-914869FEA33D}">
      <dgm:prSet/>
      <dgm:spPr/>
      <dgm:t>
        <a:bodyPr/>
        <a:lstStyle/>
        <a:p>
          <a:endParaRPr kumimoji="1" lang="ja-JP" altLang="en-US"/>
        </a:p>
      </dgm:t>
    </dgm:pt>
    <dgm:pt modelId="{6CF1C612-875E-4259-939B-44BE43EF2618}" type="sibTrans" cxnId="{EBDF3C72-444C-4122-9E56-914869FEA33D}">
      <dgm:prSet/>
      <dgm:spPr/>
      <dgm:t>
        <a:bodyPr/>
        <a:lstStyle/>
        <a:p>
          <a:endParaRPr kumimoji="1" lang="ja-JP" altLang="en-US"/>
        </a:p>
      </dgm:t>
    </dgm:pt>
    <dgm:pt modelId="{BAB8C24B-4901-4478-8855-181290F7CB8F}">
      <dgm:prSet phldrT="[テキスト]"/>
      <dgm:spPr/>
      <dgm:t>
        <a:bodyPr/>
        <a:lstStyle/>
        <a:p>
          <a:r>
            <a:rPr kumimoji="1" lang="ja-JP" altLang="en-US" dirty="0"/>
            <a:t>新規顧客の獲得</a:t>
          </a:r>
        </a:p>
      </dgm:t>
    </dgm:pt>
    <dgm:pt modelId="{8BD628A8-BEF1-4AC6-A64A-329868E0151C}" type="parTrans" cxnId="{240ED54D-5E92-445B-9DF1-C07077693DA1}">
      <dgm:prSet/>
      <dgm:spPr/>
      <dgm:t>
        <a:bodyPr/>
        <a:lstStyle/>
        <a:p>
          <a:endParaRPr kumimoji="1" lang="ja-JP" altLang="en-US"/>
        </a:p>
      </dgm:t>
    </dgm:pt>
    <dgm:pt modelId="{FB20BE42-01E5-4A0C-AA88-AF88249B9C5B}" type="sibTrans" cxnId="{240ED54D-5E92-445B-9DF1-C07077693DA1}">
      <dgm:prSet/>
      <dgm:spPr/>
      <dgm:t>
        <a:bodyPr/>
        <a:lstStyle/>
        <a:p>
          <a:endParaRPr kumimoji="1" lang="ja-JP" altLang="en-US"/>
        </a:p>
      </dgm:t>
    </dgm:pt>
    <dgm:pt modelId="{291F4ACA-1383-4C2D-B1C0-BB46B12D4E22}">
      <dgm:prSet phldrT="[テキスト]"/>
      <dgm:spPr/>
      <dgm:t>
        <a:bodyPr/>
        <a:lstStyle/>
        <a:p>
          <a:r>
            <a:rPr kumimoji="1" lang="en-US" altLang="ja-JP" dirty="0"/>
            <a:t>CF</a:t>
          </a:r>
          <a:r>
            <a:rPr kumimoji="1" lang="ja-JP" altLang="en-US" dirty="0"/>
            <a:t>の維持</a:t>
          </a:r>
        </a:p>
      </dgm:t>
    </dgm:pt>
    <dgm:pt modelId="{5B433715-AA24-4866-95EB-F122690E7E40}" type="parTrans" cxnId="{5211A612-F83B-4859-A1BE-A49282C9E11B}">
      <dgm:prSet/>
      <dgm:spPr/>
      <dgm:t>
        <a:bodyPr/>
        <a:lstStyle/>
        <a:p>
          <a:endParaRPr kumimoji="1" lang="ja-JP" altLang="en-US"/>
        </a:p>
      </dgm:t>
    </dgm:pt>
    <dgm:pt modelId="{7B5E2857-E286-4A84-ADA5-5670DC4729E7}" type="sibTrans" cxnId="{5211A612-F83B-4859-A1BE-A49282C9E11B}">
      <dgm:prSet/>
      <dgm:spPr/>
      <dgm:t>
        <a:bodyPr/>
        <a:lstStyle/>
        <a:p>
          <a:endParaRPr kumimoji="1" lang="ja-JP" altLang="en-US"/>
        </a:p>
      </dgm:t>
    </dgm:pt>
    <dgm:pt modelId="{CCA93B7D-610E-42CC-B602-351EF298A291}">
      <dgm:prSet phldrT="[テキスト]"/>
      <dgm:spPr/>
      <dgm:t>
        <a:bodyPr/>
        <a:lstStyle/>
        <a:p>
          <a:r>
            <a:rPr kumimoji="1" lang="ja-JP" altLang="en-US" dirty="0"/>
            <a:t>売上げの維持</a:t>
          </a:r>
        </a:p>
      </dgm:t>
    </dgm:pt>
    <dgm:pt modelId="{FE74F3F0-A617-4370-B0E4-523F04DDD066}" type="parTrans" cxnId="{0E9E51BE-E1AE-4A09-90DF-E34F39D1F939}">
      <dgm:prSet/>
      <dgm:spPr/>
      <dgm:t>
        <a:bodyPr/>
        <a:lstStyle/>
        <a:p>
          <a:endParaRPr kumimoji="1" lang="ja-JP" altLang="en-US"/>
        </a:p>
      </dgm:t>
    </dgm:pt>
    <dgm:pt modelId="{4F8F4C40-D18B-4916-BDC7-8A65BB92D880}" type="sibTrans" cxnId="{0E9E51BE-E1AE-4A09-90DF-E34F39D1F939}">
      <dgm:prSet/>
      <dgm:spPr/>
      <dgm:t>
        <a:bodyPr/>
        <a:lstStyle/>
        <a:p>
          <a:endParaRPr kumimoji="1" lang="ja-JP" altLang="en-US"/>
        </a:p>
      </dgm:t>
    </dgm:pt>
    <dgm:pt modelId="{3D3BEBAB-7954-4082-B029-46EE486A57B2}">
      <dgm:prSet phldrT="[テキスト]"/>
      <dgm:spPr/>
      <dgm:t>
        <a:bodyPr/>
        <a:lstStyle/>
        <a:p>
          <a:r>
            <a:rPr kumimoji="1" lang="ja-JP" altLang="en-US" dirty="0"/>
            <a:t>コストの最適化</a:t>
          </a:r>
        </a:p>
      </dgm:t>
    </dgm:pt>
    <dgm:pt modelId="{BDC7BD97-A044-4CEF-A4F7-FCDBC6C8DF93}" type="parTrans" cxnId="{0680DA90-28C6-417D-B6F9-C942D8E82065}">
      <dgm:prSet/>
      <dgm:spPr/>
      <dgm:t>
        <a:bodyPr/>
        <a:lstStyle/>
        <a:p>
          <a:endParaRPr kumimoji="1" lang="ja-JP" altLang="en-US"/>
        </a:p>
      </dgm:t>
    </dgm:pt>
    <dgm:pt modelId="{5370A53B-266B-4E69-955C-78171E87F6DA}" type="sibTrans" cxnId="{0680DA90-28C6-417D-B6F9-C942D8E82065}">
      <dgm:prSet/>
      <dgm:spPr/>
      <dgm:t>
        <a:bodyPr/>
        <a:lstStyle/>
        <a:p>
          <a:endParaRPr kumimoji="1" lang="ja-JP" altLang="en-US"/>
        </a:p>
      </dgm:t>
    </dgm:pt>
    <dgm:pt modelId="{24B9C689-EE14-473C-8338-3A861D3CAF51}" type="pres">
      <dgm:prSet presAssocID="{E4995594-262B-4C49-8718-068B9ECCBB11}" presName="diagram" presStyleCnt="0">
        <dgm:presLayoutVars>
          <dgm:chPref val="1"/>
          <dgm:dir/>
          <dgm:animOne val="branch"/>
          <dgm:animLvl val="lvl"/>
          <dgm:resizeHandles val="exact"/>
        </dgm:presLayoutVars>
      </dgm:prSet>
      <dgm:spPr/>
    </dgm:pt>
    <dgm:pt modelId="{B60091FD-FB23-4C6F-8314-494CEC32B4C7}" type="pres">
      <dgm:prSet presAssocID="{A7389C7D-670C-4D63-8F59-11454FCC7F4D}" presName="root1" presStyleCnt="0"/>
      <dgm:spPr/>
    </dgm:pt>
    <dgm:pt modelId="{C2994B25-9465-45BE-B9C7-1217E6DAF739}" type="pres">
      <dgm:prSet presAssocID="{A7389C7D-670C-4D63-8F59-11454FCC7F4D}" presName="LevelOneTextNode" presStyleLbl="node0" presStyleIdx="0" presStyleCnt="1">
        <dgm:presLayoutVars>
          <dgm:chPref val="3"/>
        </dgm:presLayoutVars>
      </dgm:prSet>
      <dgm:spPr/>
    </dgm:pt>
    <dgm:pt modelId="{98A62860-FDC1-4D2F-8EB7-F06D72BFC3C9}" type="pres">
      <dgm:prSet presAssocID="{A7389C7D-670C-4D63-8F59-11454FCC7F4D}" presName="level2hierChild" presStyleCnt="0"/>
      <dgm:spPr/>
    </dgm:pt>
    <dgm:pt modelId="{0CDEE9BD-21EC-4762-A2C0-D98281BCB887}" type="pres">
      <dgm:prSet presAssocID="{900991C7-6B3C-4C3D-8790-DB378BA4ACC7}" presName="conn2-1" presStyleLbl="parChTrans1D2" presStyleIdx="0" presStyleCnt="2"/>
      <dgm:spPr/>
    </dgm:pt>
    <dgm:pt modelId="{2F596B48-1E22-44E6-B440-676F20C8BDBE}" type="pres">
      <dgm:prSet presAssocID="{900991C7-6B3C-4C3D-8790-DB378BA4ACC7}" presName="connTx" presStyleLbl="parChTrans1D2" presStyleIdx="0" presStyleCnt="2"/>
      <dgm:spPr/>
    </dgm:pt>
    <dgm:pt modelId="{1AF44FBE-0F5B-4CEA-BF58-931C87B304F3}" type="pres">
      <dgm:prSet presAssocID="{FBA989F3-DFC2-4991-B6D4-6617D66BC696}" presName="root2" presStyleCnt="0"/>
      <dgm:spPr/>
    </dgm:pt>
    <dgm:pt modelId="{B252953B-9161-4CBE-B01A-3D9613664736}" type="pres">
      <dgm:prSet presAssocID="{FBA989F3-DFC2-4991-B6D4-6617D66BC696}" presName="LevelTwoTextNode" presStyleLbl="node2" presStyleIdx="0" presStyleCnt="2">
        <dgm:presLayoutVars>
          <dgm:chPref val="3"/>
        </dgm:presLayoutVars>
      </dgm:prSet>
      <dgm:spPr/>
    </dgm:pt>
    <dgm:pt modelId="{9248A6C9-102F-4792-BF66-49DB2CF812D4}" type="pres">
      <dgm:prSet presAssocID="{FBA989F3-DFC2-4991-B6D4-6617D66BC696}" presName="level3hierChild" presStyleCnt="0"/>
      <dgm:spPr/>
    </dgm:pt>
    <dgm:pt modelId="{33B2C0D2-0176-401D-B21B-F775FBB92613}" type="pres">
      <dgm:prSet presAssocID="{986BF26F-B23B-4BC4-9E39-79617C3F8F42}" presName="conn2-1" presStyleLbl="parChTrans1D3" presStyleIdx="0" presStyleCnt="4"/>
      <dgm:spPr/>
    </dgm:pt>
    <dgm:pt modelId="{50C39F31-1425-456A-A370-DF724CBDD922}" type="pres">
      <dgm:prSet presAssocID="{986BF26F-B23B-4BC4-9E39-79617C3F8F42}" presName="connTx" presStyleLbl="parChTrans1D3" presStyleIdx="0" presStyleCnt="4"/>
      <dgm:spPr/>
    </dgm:pt>
    <dgm:pt modelId="{E41CA2DC-743F-4E09-851F-92A27B468157}" type="pres">
      <dgm:prSet presAssocID="{54783294-BA16-40F1-895D-0E090AF19F3D}" presName="root2" presStyleCnt="0"/>
      <dgm:spPr/>
    </dgm:pt>
    <dgm:pt modelId="{2559401F-C661-4B98-81E3-9DED8E3A0C80}" type="pres">
      <dgm:prSet presAssocID="{54783294-BA16-40F1-895D-0E090AF19F3D}" presName="LevelTwoTextNode" presStyleLbl="node3" presStyleIdx="0" presStyleCnt="4" custScaleX="123862">
        <dgm:presLayoutVars>
          <dgm:chPref val="3"/>
        </dgm:presLayoutVars>
      </dgm:prSet>
      <dgm:spPr/>
    </dgm:pt>
    <dgm:pt modelId="{CC8A685B-1AC8-46A0-A4B0-4E0BD33161F5}" type="pres">
      <dgm:prSet presAssocID="{54783294-BA16-40F1-895D-0E090AF19F3D}" presName="level3hierChild" presStyleCnt="0"/>
      <dgm:spPr/>
    </dgm:pt>
    <dgm:pt modelId="{36D154D0-C922-4C54-9C7A-18F92061FB8F}" type="pres">
      <dgm:prSet presAssocID="{8BD628A8-BEF1-4AC6-A64A-329868E0151C}" presName="conn2-1" presStyleLbl="parChTrans1D3" presStyleIdx="1" presStyleCnt="4"/>
      <dgm:spPr/>
    </dgm:pt>
    <dgm:pt modelId="{F394C743-1404-4676-BDB2-274DDCDEFC83}" type="pres">
      <dgm:prSet presAssocID="{8BD628A8-BEF1-4AC6-A64A-329868E0151C}" presName="connTx" presStyleLbl="parChTrans1D3" presStyleIdx="1" presStyleCnt="4"/>
      <dgm:spPr/>
    </dgm:pt>
    <dgm:pt modelId="{3557020E-6416-4CB4-9F15-2C1E1373C639}" type="pres">
      <dgm:prSet presAssocID="{BAB8C24B-4901-4478-8855-181290F7CB8F}" presName="root2" presStyleCnt="0"/>
      <dgm:spPr/>
    </dgm:pt>
    <dgm:pt modelId="{827001A5-24EF-496C-8EE2-B687D01CED05}" type="pres">
      <dgm:prSet presAssocID="{BAB8C24B-4901-4478-8855-181290F7CB8F}" presName="LevelTwoTextNode" presStyleLbl="node3" presStyleIdx="1" presStyleCnt="4" custScaleX="123862">
        <dgm:presLayoutVars>
          <dgm:chPref val="3"/>
        </dgm:presLayoutVars>
      </dgm:prSet>
      <dgm:spPr/>
    </dgm:pt>
    <dgm:pt modelId="{243DC70A-CAF2-45AF-A13F-BE49F8CC99FA}" type="pres">
      <dgm:prSet presAssocID="{BAB8C24B-4901-4478-8855-181290F7CB8F}" presName="level3hierChild" presStyleCnt="0"/>
      <dgm:spPr/>
    </dgm:pt>
    <dgm:pt modelId="{691D250B-061D-4559-9AFF-9D029BEAB8E6}" type="pres">
      <dgm:prSet presAssocID="{5B433715-AA24-4866-95EB-F122690E7E40}" presName="conn2-1" presStyleLbl="parChTrans1D2" presStyleIdx="1" presStyleCnt="2"/>
      <dgm:spPr/>
    </dgm:pt>
    <dgm:pt modelId="{54613074-BA72-4DC5-B250-94E42553573E}" type="pres">
      <dgm:prSet presAssocID="{5B433715-AA24-4866-95EB-F122690E7E40}" presName="connTx" presStyleLbl="parChTrans1D2" presStyleIdx="1" presStyleCnt="2"/>
      <dgm:spPr/>
    </dgm:pt>
    <dgm:pt modelId="{F6459F77-5048-4BB3-912B-83C159684C54}" type="pres">
      <dgm:prSet presAssocID="{291F4ACA-1383-4C2D-B1C0-BB46B12D4E22}" presName="root2" presStyleCnt="0"/>
      <dgm:spPr/>
    </dgm:pt>
    <dgm:pt modelId="{36038EC8-F936-4200-8171-B797C20FB0DE}" type="pres">
      <dgm:prSet presAssocID="{291F4ACA-1383-4C2D-B1C0-BB46B12D4E22}" presName="LevelTwoTextNode" presStyleLbl="node2" presStyleIdx="1" presStyleCnt="2">
        <dgm:presLayoutVars>
          <dgm:chPref val="3"/>
        </dgm:presLayoutVars>
      </dgm:prSet>
      <dgm:spPr/>
    </dgm:pt>
    <dgm:pt modelId="{6C82FD4C-52A8-4705-9A1D-E30E1DB5B5D0}" type="pres">
      <dgm:prSet presAssocID="{291F4ACA-1383-4C2D-B1C0-BB46B12D4E22}" presName="level3hierChild" presStyleCnt="0"/>
      <dgm:spPr/>
    </dgm:pt>
    <dgm:pt modelId="{30047EFC-A2CD-406F-80B6-BEAA3A345BFA}" type="pres">
      <dgm:prSet presAssocID="{FE74F3F0-A617-4370-B0E4-523F04DDD066}" presName="conn2-1" presStyleLbl="parChTrans1D3" presStyleIdx="2" presStyleCnt="4"/>
      <dgm:spPr/>
    </dgm:pt>
    <dgm:pt modelId="{0FA8FB8F-ED01-4760-910F-B468232EFADD}" type="pres">
      <dgm:prSet presAssocID="{FE74F3F0-A617-4370-B0E4-523F04DDD066}" presName="connTx" presStyleLbl="parChTrans1D3" presStyleIdx="2" presStyleCnt="4"/>
      <dgm:spPr/>
    </dgm:pt>
    <dgm:pt modelId="{9D126D96-A23A-4625-BCD1-DA4FAD5CDF43}" type="pres">
      <dgm:prSet presAssocID="{CCA93B7D-610E-42CC-B602-351EF298A291}" presName="root2" presStyleCnt="0"/>
      <dgm:spPr/>
    </dgm:pt>
    <dgm:pt modelId="{FB6D155B-49A5-4E27-9FB6-77DDD65B19C4}" type="pres">
      <dgm:prSet presAssocID="{CCA93B7D-610E-42CC-B602-351EF298A291}" presName="LevelTwoTextNode" presStyleLbl="node3" presStyleIdx="2" presStyleCnt="4" custScaleX="123862">
        <dgm:presLayoutVars>
          <dgm:chPref val="3"/>
        </dgm:presLayoutVars>
      </dgm:prSet>
      <dgm:spPr/>
    </dgm:pt>
    <dgm:pt modelId="{C233B997-2195-4E4A-9833-82AC7A0B7B45}" type="pres">
      <dgm:prSet presAssocID="{CCA93B7D-610E-42CC-B602-351EF298A291}" presName="level3hierChild" presStyleCnt="0"/>
      <dgm:spPr/>
    </dgm:pt>
    <dgm:pt modelId="{FADD2413-5495-4184-8B0D-36542D99683C}" type="pres">
      <dgm:prSet presAssocID="{BDC7BD97-A044-4CEF-A4F7-FCDBC6C8DF93}" presName="conn2-1" presStyleLbl="parChTrans1D3" presStyleIdx="3" presStyleCnt="4"/>
      <dgm:spPr/>
    </dgm:pt>
    <dgm:pt modelId="{73987C67-3700-491C-963B-EFEC62607232}" type="pres">
      <dgm:prSet presAssocID="{BDC7BD97-A044-4CEF-A4F7-FCDBC6C8DF93}" presName="connTx" presStyleLbl="parChTrans1D3" presStyleIdx="3" presStyleCnt="4"/>
      <dgm:spPr/>
    </dgm:pt>
    <dgm:pt modelId="{4258858E-B369-4B50-91C3-E1E87C9D1C00}" type="pres">
      <dgm:prSet presAssocID="{3D3BEBAB-7954-4082-B029-46EE486A57B2}" presName="root2" presStyleCnt="0"/>
      <dgm:spPr/>
    </dgm:pt>
    <dgm:pt modelId="{9810358F-A69D-4711-ACC2-BF5433C28963}" type="pres">
      <dgm:prSet presAssocID="{3D3BEBAB-7954-4082-B029-46EE486A57B2}" presName="LevelTwoTextNode" presStyleLbl="node3" presStyleIdx="3" presStyleCnt="4" custScaleX="123862">
        <dgm:presLayoutVars>
          <dgm:chPref val="3"/>
        </dgm:presLayoutVars>
      </dgm:prSet>
      <dgm:spPr/>
    </dgm:pt>
    <dgm:pt modelId="{1F61391A-F34F-43DC-A6FE-5F91E7A68F6F}" type="pres">
      <dgm:prSet presAssocID="{3D3BEBAB-7954-4082-B029-46EE486A57B2}" presName="level3hierChild" presStyleCnt="0"/>
      <dgm:spPr/>
    </dgm:pt>
  </dgm:ptLst>
  <dgm:cxnLst>
    <dgm:cxn modelId="{0C709807-9D0F-442A-B99F-5645DA25CE95}" type="presOf" srcId="{986BF26F-B23B-4BC4-9E39-79617C3F8F42}" destId="{33B2C0D2-0176-401D-B21B-F775FBB92613}" srcOrd="0" destOrd="0" presId="urn:microsoft.com/office/officeart/2005/8/layout/hierarchy2"/>
    <dgm:cxn modelId="{5211A612-F83B-4859-A1BE-A49282C9E11B}" srcId="{A7389C7D-670C-4D63-8F59-11454FCC7F4D}" destId="{291F4ACA-1383-4C2D-B1C0-BB46B12D4E22}" srcOrd="1" destOrd="0" parTransId="{5B433715-AA24-4866-95EB-F122690E7E40}" sibTransId="{7B5E2857-E286-4A84-ADA5-5670DC4729E7}"/>
    <dgm:cxn modelId="{572CF612-6546-45D3-ACD5-4B1BAB43C07D}" type="presOf" srcId="{900991C7-6B3C-4C3D-8790-DB378BA4ACC7}" destId="{0CDEE9BD-21EC-4762-A2C0-D98281BCB887}" srcOrd="0" destOrd="0" presId="urn:microsoft.com/office/officeart/2005/8/layout/hierarchy2"/>
    <dgm:cxn modelId="{63E66214-F9CB-431E-B81E-5FC9DCC29D81}" type="presOf" srcId="{5B433715-AA24-4866-95EB-F122690E7E40}" destId="{691D250B-061D-4559-9AFF-9D029BEAB8E6}" srcOrd="0" destOrd="0" presId="urn:microsoft.com/office/officeart/2005/8/layout/hierarchy2"/>
    <dgm:cxn modelId="{6C988315-E32D-48D1-83FA-6F9196AFB1E1}" type="presOf" srcId="{5B433715-AA24-4866-95EB-F122690E7E40}" destId="{54613074-BA72-4DC5-B250-94E42553573E}" srcOrd="1" destOrd="0" presId="urn:microsoft.com/office/officeart/2005/8/layout/hierarchy2"/>
    <dgm:cxn modelId="{E610453A-26ED-4170-AFA3-72546BF203C8}" type="presOf" srcId="{BAB8C24B-4901-4478-8855-181290F7CB8F}" destId="{827001A5-24EF-496C-8EE2-B687D01CED05}" srcOrd="0" destOrd="0" presId="urn:microsoft.com/office/officeart/2005/8/layout/hierarchy2"/>
    <dgm:cxn modelId="{6E407D3B-B9E8-4494-9E6D-BE4A489FE2E2}" type="presOf" srcId="{3D3BEBAB-7954-4082-B029-46EE486A57B2}" destId="{9810358F-A69D-4711-ACC2-BF5433C28963}" srcOrd="0" destOrd="0" presId="urn:microsoft.com/office/officeart/2005/8/layout/hierarchy2"/>
    <dgm:cxn modelId="{374E5363-E57E-4BE3-8C8B-3F5A5492E907}" type="presOf" srcId="{8BD628A8-BEF1-4AC6-A64A-329868E0151C}" destId="{F394C743-1404-4676-BDB2-274DDCDEFC83}" srcOrd="1" destOrd="0" presId="urn:microsoft.com/office/officeart/2005/8/layout/hierarchy2"/>
    <dgm:cxn modelId="{93449945-CE90-4526-B0C6-A6F23A760989}" type="presOf" srcId="{CCA93B7D-610E-42CC-B602-351EF298A291}" destId="{FB6D155B-49A5-4E27-9FB6-77DDD65B19C4}" srcOrd="0" destOrd="0" presId="urn:microsoft.com/office/officeart/2005/8/layout/hierarchy2"/>
    <dgm:cxn modelId="{240ED54D-5E92-445B-9DF1-C07077693DA1}" srcId="{FBA989F3-DFC2-4991-B6D4-6617D66BC696}" destId="{BAB8C24B-4901-4478-8855-181290F7CB8F}" srcOrd="1" destOrd="0" parTransId="{8BD628A8-BEF1-4AC6-A64A-329868E0151C}" sibTransId="{FB20BE42-01E5-4A0C-AA88-AF88249B9C5B}"/>
    <dgm:cxn modelId="{0240E56F-1614-41C1-9F04-8A1F2F1C5D67}" type="presOf" srcId="{FE74F3F0-A617-4370-B0E4-523F04DDD066}" destId="{0FA8FB8F-ED01-4760-910F-B468232EFADD}" srcOrd="1" destOrd="0" presId="urn:microsoft.com/office/officeart/2005/8/layout/hierarchy2"/>
    <dgm:cxn modelId="{EBDF3C72-444C-4122-9E56-914869FEA33D}" srcId="{FBA989F3-DFC2-4991-B6D4-6617D66BC696}" destId="{54783294-BA16-40F1-895D-0E090AF19F3D}" srcOrd="0" destOrd="0" parTransId="{986BF26F-B23B-4BC4-9E39-79617C3F8F42}" sibTransId="{6CF1C612-875E-4259-939B-44BE43EF2618}"/>
    <dgm:cxn modelId="{021F8779-ABB9-4EC6-907B-F5B281096547}" type="presOf" srcId="{8BD628A8-BEF1-4AC6-A64A-329868E0151C}" destId="{36D154D0-C922-4C54-9C7A-18F92061FB8F}" srcOrd="0" destOrd="0" presId="urn:microsoft.com/office/officeart/2005/8/layout/hierarchy2"/>
    <dgm:cxn modelId="{0680DA90-28C6-417D-B6F9-C942D8E82065}" srcId="{291F4ACA-1383-4C2D-B1C0-BB46B12D4E22}" destId="{3D3BEBAB-7954-4082-B029-46EE486A57B2}" srcOrd="1" destOrd="0" parTransId="{BDC7BD97-A044-4CEF-A4F7-FCDBC6C8DF93}" sibTransId="{5370A53B-266B-4E69-955C-78171E87F6DA}"/>
    <dgm:cxn modelId="{0765CFA5-3EE2-482A-B9E6-522B32DCAF06}" type="presOf" srcId="{E4995594-262B-4C49-8718-068B9ECCBB11}" destId="{24B9C689-EE14-473C-8338-3A861D3CAF51}" srcOrd="0" destOrd="0" presId="urn:microsoft.com/office/officeart/2005/8/layout/hierarchy2"/>
    <dgm:cxn modelId="{27941DAF-53F6-4965-B81D-2B385B134CE5}" type="presOf" srcId="{FE74F3F0-A617-4370-B0E4-523F04DDD066}" destId="{30047EFC-A2CD-406F-80B6-BEAA3A345BFA}" srcOrd="0" destOrd="0" presId="urn:microsoft.com/office/officeart/2005/8/layout/hierarchy2"/>
    <dgm:cxn modelId="{0E9E51BE-E1AE-4A09-90DF-E34F39D1F939}" srcId="{291F4ACA-1383-4C2D-B1C0-BB46B12D4E22}" destId="{CCA93B7D-610E-42CC-B602-351EF298A291}" srcOrd="0" destOrd="0" parTransId="{FE74F3F0-A617-4370-B0E4-523F04DDD066}" sibTransId="{4F8F4C40-D18B-4916-BDC7-8A65BB92D880}"/>
    <dgm:cxn modelId="{CB22AAC1-40C9-4355-9410-2ECD61DD6F87}" type="presOf" srcId="{986BF26F-B23B-4BC4-9E39-79617C3F8F42}" destId="{50C39F31-1425-456A-A370-DF724CBDD922}" srcOrd="1" destOrd="0" presId="urn:microsoft.com/office/officeart/2005/8/layout/hierarchy2"/>
    <dgm:cxn modelId="{2F1884CF-E7F5-4EA4-947B-2EF7A80D50C4}" type="presOf" srcId="{A7389C7D-670C-4D63-8F59-11454FCC7F4D}" destId="{C2994B25-9465-45BE-B9C7-1217E6DAF739}" srcOrd="0" destOrd="0" presId="urn:microsoft.com/office/officeart/2005/8/layout/hierarchy2"/>
    <dgm:cxn modelId="{8264DACF-F106-4B8F-BD96-2D57FFA61B80}" srcId="{A7389C7D-670C-4D63-8F59-11454FCC7F4D}" destId="{FBA989F3-DFC2-4991-B6D4-6617D66BC696}" srcOrd="0" destOrd="0" parTransId="{900991C7-6B3C-4C3D-8790-DB378BA4ACC7}" sibTransId="{E91B3532-E382-48BE-A8EF-AAF216C3F692}"/>
    <dgm:cxn modelId="{6555BAE1-E7FA-44A4-BC47-09ED16EE499B}" type="presOf" srcId="{291F4ACA-1383-4C2D-B1C0-BB46B12D4E22}" destId="{36038EC8-F936-4200-8171-B797C20FB0DE}" srcOrd="0" destOrd="0" presId="urn:microsoft.com/office/officeart/2005/8/layout/hierarchy2"/>
    <dgm:cxn modelId="{CF8C6EE5-8411-4D58-80A5-EA1F93E86B0F}" type="presOf" srcId="{900991C7-6B3C-4C3D-8790-DB378BA4ACC7}" destId="{2F596B48-1E22-44E6-B440-676F20C8BDBE}" srcOrd="1" destOrd="0" presId="urn:microsoft.com/office/officeart/2005/8/layout/hierarchy2"/>
    <dgm:cxn modelId="{646539E9-E512-4B0B-811B-4627F7989DFE}" type="presOf" srcId="{BDC7BD97-A044-4CEF-A4F7-FCDBC6C8DF93}" destId="{FADD2413-5495-4184-8B0D-36542D99683C}" srcOrd="0" destOrd="0" presId="urn:microsoft.com/office/officeart/2005/8/layout/hierarchy2"/>
    <dgm:cxn modelId="{8E7B67EA-FDA4-4B77-A734-25022E27C049}" type="presOf" srcId="{BDC7BD97-A044-4CEF-A4F7-FCDBC6C8DF93}" destId="{73987C67-3700-491C-963B-EFEC62607232}" srcOrd="1" destOrd="0" presId="urn:microsoft.com/office/officeart/2005/8/layout/hierarchy2"/>
    <dgm:cxn modelId="{A4AED6F0-E1A6-47E5-8773-977BF3FAEDE8}" type="presOf" srcId="{54783294-BA16-40F1-895D-0E090AF19F3D}" destId="{2559401F-C661-4B98-81E3-9DED8E3A0C80}" srcOrd="0" destOrd="0" presId="urn:microsoft.com/office/officeart/2005/8/layout/hierarchy2"/>
    <dgm:cxn modelId="{EFA044F8-69F0-4A46-A6DB-7295DEDC6EB0}" srcId="{E4995594-262B-4C49-8718-068B9ECCBB11}" destId="{A7389C7D-670C-4D63-8F59-11454FCC7F4D}" srcOrd="0" destOrd="0" parTransId="{D4A3BB1D-AAA6-4D24-BDA1-F8D6C1A92096}" sibTransId="{7CB70C7F-669B-40B6-8811-48D8E9CF0B16}"/>
    <dgm:cxn modelId="{1918CFF8-2DC3-4FB9-8115-DD1A784236B6}" type="presOf" srcId="{FBA989F3-DFC2-4991-B6D4-6617D66BC696}" destId="{B252953B-9161-4CBE-B01A-3D9613664736}" srcOrd="0" destOrd="0" presId="urn:microsoft.com/office/officeart/2005/8/layout/hierarchy2"/>
    <dgm:cxn modelId="{52753F78-6D38-4AE6-AA35-B981405F3541}" type="presParOf" srcId="{24B9C689-EE14-473C-8338-3A861D3CAF51}" destId="{B60091FD-FB23-4C6F-8314-494CEC32B4C7}" srcOrd="0" destOrd="0" presId="urn:microsoft.com/office/officeart/2005/8/layout/hierarchy2"/>
    <dgm:cxn modelId="{C4745A34-AF0B-4F97-8594-C4F04F2B0AC2}" type="presParOf" srcId="{B60091FD-FB23-4C6F-8314-494CEC32B4C7}" destId="{C2994B25-9465-45BE-B9C7-1217E6DAF739}" srcOrd="0" destOrd="0" presId="urn:microsoft.com/office/officeart/2005/8/layout/hierarchy2"/>
    <dgm:cxn modelId="{C86F0A6E-D82D-4D41-9613-E983A2C6A9EA}" type="presParOf" srcId="{B60091FD-FB23-4C6F-8314-494CEC32B4C7}" destId="{98A62860-FDC1-4D2F-8EB7-F06D72BFC3C9}" srcOrd="1" destOrd="0" presId="urn:microsoft.com/office/officeart/2005/8/layout/hierarchy2"/>
    <dgm:cxn modelId="{095A6D5B-9487-491E-B738-2D47D21B89C6}" type="presParOf" srcId="{98A62860-FDC1-4D2F-8EB7-F06D72BFC3C9}" destId="{0CDEE9BD-21EC-4762-A2C0-D98281BCB887}" srcOrd="0" destOrd="0" presId="urn:microsoft.com/office/officeart/2005/8/layout/hierarchy2"/>
    <dgm:cxn modelId="{16C78C8A-EB07-4F9E-AB98-5109B2FA97D3}" type="presParOf" srcId="{0CDEE9BD-21EC-4762-A2C0-D98281BCB887}" destId="{2F596B48-1E22-44E6-B440-676F20C8BDBE}" srcOrd="0" destOrd="0" presId="urn:microsoft.com/office/officeart/2005/8/layout/hierarchy2"/>
    <dgm:cxn modelId="{B61AE72D-AC23-486E-88D8-0E90E6C0037F}" type="presParOf" srcId="{98A62860-FDC1-4D2F-8EB7-F06D72BFC3C9}" destId="{1AF44FBE-0F5B-4CEA-BF58-931C87B304F3}" srcOrd="1" destOrd="0" presId="urn:microsoft.com/office/officeart/2005/8/layout/hierarchy2"/>
    <dgm:cxn modelId="{9A33AB9D-9C28-4D2E-AA32-628C59EA84B7}" type="presParOf" srcId="{1AF44FBE-0F5B-4CEA-BF58-931C87B304F3}" destId="{B252953B-9161-4CBE-B01A-3D9613664736}" srcOrd="0" destOrd="0" presId="urn:microsoft.com/office/officeart/2005/8/layout/hierarchy2"/>
    <dgm:cxn modelId="{101C923F-34A6-4AA1-977F-4FA0E8E9BBCB}" type="presParOf" srcId="{1AF44FBE-0F5B-4CEA-BF58-931C87B304F3}" destId="{9248A6C9-102F-4792-BF66-49DB2CF812D4}" srcOrd="1" destOrd="0" presId="urn:microsoft.com/office/officeart/2005/8/layout/hierarchy2"/>
    <dgm:cxn modelId="{87771287-3E58-4E00-8D89-8A731EC41D76}" type="presParOf" srcId="{9248A6C9-102F-4792-BF66-49DB2CF812D4}" destId="{33B2C0D2-0176-401D-B21B-F775FBB92613}" srcOrd="0" destOrd="0" presId="urn:microsoft.com/office/officeart/2005/8/layout/hierarchy2"/>
    <dgm:cxn modelId="{4E7DC387-752E-46B0-BD23-E2979CD5D2F5}" type="presParOf" srcId="{33B2C0D2-0176-401D-B21B-F775FBB92613}" destId="{50C39F31-1425-456A-A370-DF724CBDD922}" srcOrd="0" destOrd="0" presId="urn:microsoft.com/office/officeart/2005/8/layout/hierarchy2"/>
    <dgm:cxn modelId="{61B6421F-FCB4-4EBE-9206-886618F105B6}" type="presParOf" srcId="{9248A6C9-102F-4792-BF66-49DB2CF812D4}" destId="{E41CA2DC-743F-4E09-851F-92A27B468157}" srcOrd="1" destOrd="0" presId="urn:microsoft.com/office/officeart/2005/8/layout/hierarchy2"/>
    <dgm:cxn modelId="{04306015-7B3A-4989-858C-12BB065C02DE}" type="presParOf" srcId="{E41CA2DC-743F-4E09-851F-92A27B468157}" destId="{2559401F-C661-4B98-81E3-9DED8E3A0C80}" srcOrd="0" destOrd="0" presId="urn:microsoft.com/office/officeart/2005/8/layout/hierarchy2"/>
    <dgm:cxn modelId="{5803B7FD-A090-4D61-BFE2-F58FAB2B9943}" type="presParOf" srcId="{E41CA2DC-743F-4E09-851F-92A27B468157}" destId="{CC8A685B-1AC8-46A0-A4B0-4E0BD33161F5}" srcOrd="1" destOrd="0" presId="urn:microsoft.com/office/officeart/2005/8/layout/hierarchy2"/>
    <dgm:cxn modelId="{53FB7515-6E7E-4AAB-8A59-6E33821221B5}" type="presParOf" srcId="{9248A6C9-102F-4792-BF66-49DB2CF812D4}" destId="{36D154D0-C922-4C54-9C7A-18F92061FB8F}" srcOrd="2" destOrd="0" presId="urn:microsoft.com/office/officeart/2005/8/layout/hierarchy2"/>
    <dgm:cxn modelId="{683A21C3-58FD-4835-8519-C395BD3959DD}" type="presParOf" srcId="{36D154D0-C922-4C54-9C7A-18F92061FB8F}" destId="{F394C743-1404-4676-BDB2-274DDCDEFC83}" srcOrd="0" destOrd="0" presId="urn:microsoft.com/office/officeart/2005/8/layout/hierarchy2"/>
    <dgm:cxn modelId="{924CCFDE-D941-4C76-901B-F1F3698DBA7F}" type="presParOf" srcId="{9248A6C9-102F-4792-BF66-49DB2CF812D4}" destId="{3557020E-6416-4CB4-9F15-2C1E1373C639}" srcOrd="3" destOrd="0" presId="urn:microsoft.com/office/officeart/2005/8/layout/hierarchy2"/>
    <dgm:cxn modelId="{747BC00B-6183-41F2-AD44-AB60CB00CDF3}" type="presParOf" srcId="{3557020E-6416-4CB4-9F15-2C1E1373C639}" destId="{827001A5-24EF-496C-8EE2-B687D01CED05}" srcOrd="0" destOrd="0" presId="urn:microsoft.com/office/officeart/2005/8/layout/hierarchy2"/>
    <dgm:cxn modelId="{0A32030F-34F6-4CE9-BCDC-B2A219B0B17D}" type="presParOf" srcId="{3557020E-6416-4CB4-9F15-2C1E1373C639}" destId="{243DC70A-CAF2-45AF-A13F-BE49F8CC99FA}" srcOrd="1" destOrd="0" presId="urn:microsoft.com/office/officeart/2005/8/layout/hierarchy2"/>
    <dgm:cxn modelId="{DC65E3C9-DE61-40B4-BAAA-EC7EE7E001FA}" type="presParOf" srcId="{98A62860-FDC1-4D2F-8EB7-F06D72BFC3C9}" destId="{691D250B-061D-4559-9AFF-9D029BEAB8E6}" srcOrd="2" destOrd="0" presId="urn:microsoft.com/office/officeart/2005/8/layout/hierarchy2"/>
    <dgm:cxn modelId="{F6F15654-DC0F-4943-AA14-EC4156A14F07}" type="presParOf" srcId="{691D250B-061D-4559-9AFF-9D029BEAB8E6}" destId="{54613074-BA72-4DC5-B250-94E42553573E}" srcOrd="0" destOrd="0" presId="urn:microsoft.com/office/officeart/2005/8/layout/hierarchy2"/>
    <dgm:cxn modelId="{44293A87-0F5E-4756-B7EB-8A667CE0AA6F}" type="presParOf" srcId="{98A62860-FDC1-4D2F-8EB7-F06D72BFC3C9}" destId="{F6459F77-5048-4BB3-912B-83C159684C54}" srcOrd="3" destOrd="0" presId="urn:microsoft.com/office/officeart/2005/8/layout/hierarchy2"/>
    <dgm:cxn modelId="{0A37FAD1-1920-41A6-9FFC-79F5B1C30B0F}" type="presParOf" srcId="{F6459F77-5048-4BB3-912B-83C159684C54}" destId="{36038EC8-F936-4200-8171-B797C20FB0DE}" srcOrd="0" destOrd="0" presId="urn:microsoft.com/office/officeart/2005/8/layout/hierarchy2"/>
    <dgm:cxn modelId="{8F2BFF09-561F-47DF-9119-8C26B1FE92AC}" type="presParOf" srcId="{F6459F77-5048-4BB3-912B-83C159684C54}" destId="{6C82FD4C-52A8-4705-9A1D-E30E1DB5B5D0}" srcOrd="1" destOrd="0" presId="urn:microsoft.com/office/officeart/2005/8/layout/hierarchy2"/>
    <dgm:cxn modelId="{452E95F6-BB63-4DF1-A5B2-952CE923F350}" type="presParOf" srcId="{6C82FD4C-52A8-4705-9A1D-E30E1DB5B5D0}" destId="{30047EFC-A2CD-406F-80B6-BEAA3A345BFA}" srcOrd="0" destOrd="0" presId="urn:microsoft.com/office/officeart/2005/8/layout/hierarchy2"/>
    <dgm:cxn modelId="{9279B700-3063-4CEE-BA25-7CF7A6ABC72B}" type="presParOf" srcId="{30047EFC-A2CD-406F-80B6-BEAA3A345BFA}" destId="{0FA8FB8F-ED01-4760-910F-B468232EFADD}" srcOrd="0" destOrd="0" presId="urn:microsoft.com/office/officeart/2005/8/layout/hierarchy2"/>
    <dgm:cxn modelId="{BCE063DC-38B8-45B4-89DD-DA8DF94F0DBC}" type="presParOf" srcId="{6C82FD4C-52A8-4705-9A1D-E30E1DB5B5D0}" destId="{9D126D96-A23A-4625-BCD1-DA4FAD5CDF43}" srcOrd="1" destOrd="0" presId="urn:microsoft.com/office/officeart/2005/8/layout/hierarchy2"/>
    <dgm:cxn modelId="{BA7BA5E2-76A7-4971-8100-46530CF772E5}" type="presParOf" srcId="{9D126D96-A23A-4625-BCD1-DA4FAD5CDF43}" destId="{FB6D155B-49A5-4E27-9FB6-77DDD65B19C4}" srcOrd="0" destOrd="0" presId="urn:microsoft.com/office/officeart/2005/8/layout/hierarchy2"/>
    <dgm:cxn modelId="{7D9FC0A1-8ABD-4085-9D9B-DC939B4EDA98}" type="presParOf" srcId="{9D126D96-A23A-4625-BCD1-DA4FAD5CDF43}" destId="{C233B997-2195-4E4A-9833-82AC7A0B7B45}" srcOrd="1" destOrd="0" presId="urn:microsoft.com/office/officeart/2005/8/layout/hierarchy2"/>
    <dgm:cxn modelId="{5928788C-F49C-44D4-86BD-0AE06FF2D6B7}" type="presParOf" srcId="{6C82FD4C-52A8-4705-9A1D-E30E1DB5B5D0}" destId="{FADD2413-5495-4184-8B0D-36542D99683C}" srcOrd="2" destOrd="0" presId="urn:microsoft.com/office/officeart/2005/8/layout/hierarchy2"/>
    <dgm:cxn modelId="{B1639C6F-8B3E-440A-B95A-537470A6F308}" type="presParOf" srcId="{FADD2413-5495-4184-8B0D-36542D99683C}" destId="{73987C67-3700-491C-963B-EFEC62607232}" srcOrd="0" destOrd="0" presId="urn:microsoft.com/office/officeart/2005/8/layout/hierarchy2"/>
    <dgm:cxn modelId="{B0CF74A3-234C-4647-BF63-3058022F5BCF}" type="presParOf" srcId="{6C82FD4C-52A8-4705-9A1D-E30E1DB5B5D0}" destId="{4258858E-B369-4B50-91C3-E1E87C9D1C00}" srcOrd="3" destOrd="0" presId="urn:microsoft.com/office/officeart/2005/8/layout/hierarchy2"/>
    <dgm:cxn modelId="{70B7040D-9615-40C5-8660-D0840C04490E}" type="presParOf" srcId="{4258858E-B369-4B50-91C3-E1E87C9D1C00}" destId="{9810358F-A69D-4711-ACC2-BF5433C28963}" srcOrd="0" destOrd="0" presId="urn:microsoft.com/office/officeart/2005/8/layout/hierarchy2"/>
    <dgm:cxn modelId="{1E7A0670-CD6C-4A2F-A3F2-63399B84071A}" type="presParOf" srcId="{4258858E-B369-4B50-91C3-E1E87C9D1C00}" destId="{1F61391A-F34F-43DC-A6FE-5F91E7A68F6F}" srcOrd="1" destOrd="0" presId="urn:microsoft.com/office/officeart/2005/8/layout/hierarchy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4995594-262B-4C49-8718-068B9ECCBB11}" type="doc">
      <dgm:prSet loTypeId="urn:microsoft.com/office/officeart/2005/8/layout/hierarchy2" loCatId="hierarchy" qsTypeId="urn:microsoft.com/office/officeart/2005/8/quickstyle/simple1" qsCatId="simple" csTypeId="urn:microsoft.com/office/officeart/2005/8/colors/accent1_2" csCatId="accent1" phldr="1"/>
      <dgm:spPr/>
      <dgm:t>
        <a:bodyPr/>
        <a:lstStyle/>
        <a:p>
          <a:endParaRPr kumimoji="1" lang="ja-JP" altLang="en-US"/>
        </a:p>
      </dgm:t>
    </dgm:pt>
    <dgm:pt modelId="{A7389C7D-670C-4D63-8F59-11454FCC7F4D}">
      <dgm:prSet phldrT="[テキスト]"/>
      <dgm:spPr/>
      <dgm:t>
        <a:bodyPr/>
        <a:lstStyle/>
        <a:p>
          <a:r>
            <a:rPr kumimoji="1" lang="ja-JP" altLang="en-US" dirty="0"/>
            <a:t>衰退期の目標</a:t>
          </a:r>
        </a:p>
      </dgm:t>
    </dgm:pt>
    <dgm:pt modelId="{D4A3BB1D-AAA6-4D24-BDA1-F8D6C1A92096}" type="parTrans" cxnId="{EFA044F8-69F0-4A46-A6DB-7295DEDC6EB0}">
      <dgm:prSet/>
      <dgm:spPr/>
      <dgm:t>
        <a:bodyPr/>
        <a:lstStyle/>
        <a:p>
          <a:endParaRPr kumimoji="1" lang="ja-JP" altLang="en-US"/>
        </a:p>
      </dgm:t>
    </dgm:pt>
    <dgm:pt modelId="{7CB70C7F-669B-40B6-8811-48D8E9CF0B16}" type="sibTrans" cxnId="{EFA044F8-69F0-4A46-A6DB-7295DEDC6EB0}">
      <dgm:prSet/>
      <dgm:spPr/>
      <dgm:t>
        <a:bodyPr/>
        <a:lstStyle/>
        <a:p>
          <a:endParaRPr kumimoji="1" lang="ja-JP" altLang="en-US"/>
        </a:p>
      </dgm:t>
    </dgm:pt>
    <dgm:pt modelId="{FBA989F3-DFC2-4991-B6D4-6617D66BC696}">
      <dgm:prSet phldrT="[テキスト]"/>
      <dgm:spPr/>
      <dgm:t>
        <a:bodyPr/>
        <a:lstStyle/>
        <a:p>
          <a:r>
            <a:rPr kumimoji="1" lang="ja-JP" altLang="en-US" dirty="0"/>
            <a:t>支出の削減</a:t>
          </a:r>
        </a:p>
      </dgm:t>
    </dgm:pt>
    <dgm:pt modelId="{900991C7-6B3C-4C3D-8790-DB378BA4ACC7}" type="parTrans" cxnId="{8264DACF-F106-4B8F-BD96-2D57FFA61B80}">
      <dgm:prSet/>
      <dgm:spPr/>
      <dgm:t>
        <a:bodyPr/>
        <a:lstStyle/>
        <a:p>
          <a:endParaRPr kumimoji="1" lang="ja-JP" altLang="en-US"/>
        </a:p>
      </dgm:t>
    </dgm:pt>
    <dgm:pt modelId="{E91B3532-E382-48BE-A8EF-AAF216C3F692}" type="sibTrans" cxnId="{8264DACF-F106-4B8F-BD96-2D57FFA61B80}">
      <dgm:prSet/>
      <dgm:spPr/>
      <dgm:t>
        <a:bodyPr/>
        <a:lstStyle/>
        <a:p>
          <a:endParaRPr kumimoji="1" lang="ja-JP" altLang="en-US"/>
        </a:p>
      </dgm:t>
    </dgm:pt>
    <dgm:pt modelId="{54783294-BA16-40F1-895D-0E090AF19F3D}">
      <dgm:prSet phldrT="[テキスト]"/>
      <dgm:spPr/>
      <dgm:t>
        <a:bodyPr/>
        <a:lstStyle/>
        <a:p>
          <a:r>
            <a:rPr kumimoji="1" lang="ja-JP" altLang="en-US" dirty="0"/>
            <a:t>原価の削減</a:t>
          </a:r>
        </a:p>
      </dgm:t>
    </dgm:pt>
    <dgm:pt modelId="{986BF26F-B23B-4BC4-9E39-79617C3F8F42}" type="parTrans" cxnId="{EBDF3C72-444C-4122-9E56-914869FEA33D}">
      <dgm:prSet/>
      <dgm:spPr/>
      <dgm:t>
        <a:bodyPr/>
        <a:lstStyle/>
        <a:p>
          <a:endParaRPr kumimoji="1" lang="ja-JP" altLang="en-US"/>
        </a:p>
      </dgm:t>
    </dgm:pt>
    <dgm:pt modelId="{6CF1C612-875E-4259-939B-44BE43EF2618}" type="sibTrans" cxnId="{EBDF3C72-444C-4122-9E56-914869FEA33D}">
      <dgm:prSet/>
      <dgm:spPr/>
      <dgm:t>
        <a:bodyPr/>
        <a:lstStyle/>
        <a:p>
          <a:endParaRPr kumimoji="1" lang="ja-JP" altLang="en-US"/>
        </a:p>
      </dgm:t>
    </dgm:pt>
    <dgm:pt modelId="{BAB8C24B-4901-4478-8855-181290F7CB8F}">
      <dgm:prSet phldrT="[テキスト]"/>
      <dgm:spPr/>
      <dgm:t>
        <a:bodyPr/>
        <a:lstStyle/>
        <a:p>
          <a:r>
            <a:rPr kumimoji="1" lang="ja-JP" altLang="en-US" dirty="0"/>
            <a:t>販管費の削減</a:t>
          </a:r>
        </a:p>
      </dgm:t>
    </dgm:pt>
    <dgm:pt modelId="{8BD628A8-BEF1-4AC6-A64A-329868E0151C}" type="parTrans" cxnId="{240ED54D-5E92-445B-9DF1-C07077693DA1}">
      <dgm:prSet/>
      <dgm:spPr/>
      <dgm:t>
        <a:bodyPr/>
        <a:lstStyle/>
        <a:p>
          <a:endParaRPr kumimoji="1" lang="ja-JP" altLang="en-US"/>
        </a:p>
      </dgm:t>
    </dgm:pt>
    <dgm:pt modelId="{FB20BE42-01E5-4A0C-AA88-AF88249B9C5B}" type="sibTrans" cxnId="{240ED54D-5E92-445B-9DF1-C07077693DA1}">
      <dgm:prSet/>
      <dgm:spPr/>
      <dgm:t>
        <a:bodyPr/>
        <a:lstStyle/>
        <a:p>
          <a:endParaRPr kumimoji="1" lang="ja-JP" altLang="en-US"/>
        </a:p>
      </dgm:t>
    </dgm:pt>
    <dgm:pt modelId="{291F4ACA-1383-4C2D-B1C0-BB46B12D4E22}">
      <dgm:prSet phldrT="[テキスト]"/>
      <dgm:spPr/>
      <dgm:t>
        <a:bodyPr/>
        <a:lstStyle/>
        <a:p>
          <a:r>
            <a:rPr kumimoji="1" lang="ja-JP" altLang="en-US" dirty="0"/>
            <a:t>利益の維持</a:t>
          </a:r>
        </a:p>
      </dgm:t>
    </dgm:pt>
    <dgm:pt modelId="{5B433715-AA24-4866-95EB-F122690E7E40}" type="parTrans" cxnId="{5211A612-F83B-4859-A1BE-A49282C9E11B}">
      <dgm:prSet/>
      <dgm:spPr/>
      <dgm:t>
        <a:bodyPr/>
        <a:lstStyle/>
        <a:p>
          <a:endParaRPr kumimoji="1" lang="ja-JP" altLang="en-US"/>
        </a:p>
      </dgm:t>
    </dgm:pt>
    <dgm:pt modelId="{7B5E2857-E286-4A84-ADA5-5670DC4729E7}" type="sibTrans" cxnId="{5211A612-F83B-4859-A1BE-A49282C9E11B}">
      <dgm:prSet/>
      <dgm:spPr/>
      <dgm:t>
        <a:bodyPr/>
        <a:lstStyle/>
        <a:p>
          <a:endParaRPr kumimoji="1" lang="ja-JP" altLang="en-US"/>
        </a:p>
      </dgm:t>
    </dgm:pt>
    <dgm:pt modelId="{CCA93B7D-610E-42CC-B602-351EF298A291}">
      <dgm:prSet phldrT="[テキスト]"/>
      <dgm:spPr/>
      <dgm:t>
        <a:bodyPr/>
        <a:lstStyle/>
        <a:p>
          <a:r>
            <a:rPr kumimoji="1" lang="ja-JP" altLang="en-US" dirty="0"/>
            <a:t>販売拡大</a:t>
          </a:r>
        </a:p>
      </dgm:t>
    </dgm:pt>
    <dgm:pt modelId="{FE74F3F0-A617-4370-B0E4-523F04DDD066}" type="parTrans" cxnId="{0E9E51BE-E1AE-4A09-90DF-E34F39D1F939}">
      <dgm:prSet/>
      <dgm:spPr/>
      <dgm:t>
        <a:bodyPr/>
        <a:lstStyle/>
        <a:p>
          <a:endParaRPr kumimoji="1" lang="ja-JP" altLang="en-US"/>
        </a:p>
      </dgm:t>
    </dgm:pt>
    <dgm:pt modelId="{4F8F4C40-D18B-4916-BDC7-8A65BB92D880}" type="sibTrans" cxnId="{0E9E51BE-E1AE-4A09-90DF-E34F39D1F939}">
      <dgm:prSet/>
      <dgm:spPr/>
      <dgm:t>
        <a:bodyPr/>
        <a:lstStyle/>
        <a:p>
          <a:endParaRPr kumimoji="1" lang="ja-JP" altLang="en-US"/>
        </a:p>
      </dgm:t>
    </dgm:pt>
    <dgm:pt modelId="{3D3BEBAB-7954-4082-B029-46EE486A57B2}">
      <dgm:prSet phldrT="[テキスト]"/>
      <dgm:spPr/>
      <dgm:t>
        <a:bodyPr/>
        <a:lstStyle/>
        <a:p>
          <a:r>
            <a:rPr kumimoji="1" lang="ja-JP" altLang="en-US" dirty="0"/>
            <a:t>販売縮小</a:t>
          </a:r>
        </a:p>
      </dgm:t>
    </dgm:pt>
    <dgm:pt modelId="{BDC7BD97-A044-4CEF-A4F7-FCDBC6C8DF93}" type="parTrans" cxnId="{0680DA90-28C6-417D-B6F9-C942D8E82065}">
      <dgm:prSet/>
      <dgm:spPr/>
      <dgm:t>
        <a:bodyPr/>
        <a:lstStyle/>
        <a:p>
          <a:endParaRPr kumimoji="1" lang="ja-JP" altLang="en-US"/>
        </a:p>
      </dgm:t>
    </dgm:pt>
    <dgm:pt modelId="{5370A53B-266B-4E69-955C-78171E87F6DA}" type="sibTrans" cxnId="{0680DA90-28C6-417D-B6F9-C942D8E82065}">
      <dgm:prSet/>
      <dgm:spPr/>
      <dgm:t>
        <a:bodyPr/>
        <a:lstStyle/>
        <a:p>
          <a:endParaRPr kumimoji="1" lang="ja-JP" altLang="en-US"/>
        </a:p>
      </dgm:t>
    </dgm:pt>
    <dgm:pt modelId="{8564278B-6CC4-4313-942B-1A892D05178F}">
      <dgm:prSet phldrT="[テキスト]"/>
      <dgm:spPr/>
      <dgm:t>
        <a:bodyPr/>
        <a:lstStyle/>
        <a:p>
          <a:r>
            <a:rPr kumimoji="1" lang="ja-JP" altLang="en-US" dirty="0"/>
            <a:t>出口戦略</a:t>
          </a:r>
        </a:p>
      </dgm:t>
    </dgm:pt>
    <dgm:pt modelId="{13831C18-B707-4158-92AE-01076BD3F06D}" type="parTrans" cxnId="{208136E2-66D8-4565-B2B0-8ED80DDA4C7A}">
      <dgm:prSet/>
      <dgm:spPr/>
      <dgm:t>
        <a:bodyPr/>
        <a:lstStyle/>
        <a:p>
          <a:endParaRPr kumimoji="1" lang="ja-JP" altLang="en-US"/>
        </a:p>
      </dgm:t>
    </dgm:pt>
    <dgm:pt modelId="{BD1F7E26-D0CF-422B-86DE-5B46DAA39E34}" type="sibTrans" cxnId="{208136E2-66D8-4565-B2B0-8ED80DDA4C7A}">
      <dgm:prSet/>
      <dgm:spPr/>
      <dgm:t>
        <a:bodyPr/>
        <a:lstStyle/>
        <a:p>
          <a:endParaRPr kumimoji="1" lang="ja-JP" altLang="en-US"/>
        </a:p>
      </dgm:t>
    </dgm:pt>
    <dgm:pt modelId="{24B9C689-EE14-473C-8338-3A861D3CAF51}" type="pres">
      <dgm:prSet presAssocID="{E4995594-262B-4C49-8718-068B9ECCBB11}" presName="diagram" presStyleCnt="0">
        <dgm:presLayoutVars>
          <dgm:chPref val="1"/>
          <dgm:dir/>
          <dgm:animOne val="branch"/>
          <dgm:animLvl val="lvl"/>
          <dgm:resizeHandles val="exact"/>
        </dgm:presLayoutVars>
      </dgm:prSet>
      <dgm:spPr/>
    </dgm:pt>
    <dgm:pt modelId="{B60091FD-FB23-4C6F-8314-494CEC32B4C7}" type="pres">
      <dgm:prSet presAssocID="{A7389C7D-670C-4D63-8F59-11454FCC7F4D}" presName="root1" presStyleCnt="0"/>
      <dgm:spPr/>
    </dgm:pt>
    <dgm:pt modelId="{C2994B25-9465-45BE-B9C7-1217E6DAF739}" type="pres">
      <dgm:prSet presAssocID="{A7389C7D-670C-4D63-8F59-11454FCC7F4D}" presName="LevelOneTextNode" presStyleLbl="node0" presStyleIdx="0" presStyleCnt="1">
        <dgm:presLayoutVars>
          <dgm:chPref val="3"/>
        </dgm:presLayoutVars>
      </dgm:prSet>
      <dgm:spPr/>
    </dgm:pt>
    <dgm:pt modelId="{98A62860-FDC1-4D2F-8EB7-F06D72BFC3C9}" type="pres">
      <dgm:prSet presAssocID="{A7389C7D-670C-4D63-8F59-11454FCC7F4D}" presName="level2hierChild" presStyleCnt="0"/>
      <dgm:spPr/>
    </dgm:pt>
    <dgm:pt modelId="{0CDEE9BD-21EC-4762-A2C0-D98281BCB887}" type="pres">
      <dgm:prSet presAssocID="{900991C7-6B3C-4C3D-8790-DB378BA4ACC7}" presName="conn2-1" presStyleLbl="parChTrans1D2" presStyleIdx="0" presStyleCnt="3"/>
      <dgm:spPr/>
    </dgm:pt>
    <dgm:pt modelId="{2F596B48-1E22-44E6-B440-676F20C8BDBE}" type="pres">
      <dgm:prSet presAssocID="{900991C7-6B3C-4C3D-8790-DB378BA4ACC7}" presName="connTx" presStyleLbl="parChTrans1D2" presStyleIdx="0" presStyleCnt="3"/>
      <dgm:spPr/>
    </dgm:pt>
    <dgm:pt modelId="{1AF44FBE-0F5B-4CEA-BF58-931C87B304F3}" type="pres">
      <dgm:prSet presAssocID="{FBA989F3-DFC2-4991-B6D4-6617D66BC696}" presName="root2" presStyleCnt="0"/>
      <dgm:spPr/>
    </dgm:pt>
    <dgm:pt modelId="{B252953B-9161-4CBE-B01A-3D9613664736}" type="pres">
      <dgm:prSet presAssocID="{FBA989F3-DFC2-4991-B6D4-6617D66BC696}" presName="LevelTwoTextNode" presStyleLbl="node2" presStyleIdx="0" presStyleCnt="3" custLinFactNeighborY="7755">
        <dgm:presLayoutVars>
          <dgm:chPref val="3"/>
        </dgm:presLayoutVars>
      </dgm:prSet>
      <dgm:spPr/>
    </dgm:pt>
    <dgm:pt modelId="{9248A6C9-102F-4792-BF66-49DB2CF812D4}" type="pres">
      <dgm:prSet presAssocID="{FBA989F3-DFC2-4991-B6D4-6617D66BC696}" presName="level3hierChild" presStyleCnt="0"/>
      <dgm:spPr/>
    </dgm:pt>
    <dgm:pt modelId="{33B2C0D2-0176-401D-B21B-F775FBB92613}" type="pres">
      <dgm:prSet presAssocID="{986BF26F-B23B-4BC4-9E39-79617C3F8F42}" presName="conn2-1" presStyleLbl="parChTrans1D3" presStyleIdx="0" presStyleCnt="4"/>
      <dgm:spPr/>
    </dgm:pt>
    <dgm:pt modelId="{50C39F31-1425-456A-A370-DF724CBDD922}" type="pres">
      <dgm:prSet presAssocID="{986BF26F-B23B-4BC4-9E39-79617C3F8F42}" presName="connTx" presStyleLbl="parChTrans1D3" presStyleIdx="0" presStyleCnt="4"/>
      <dgm:spPr/>
    </dgm:pt>
    <dgm:pt modelId="{E41CA2DC-743F-4E09-851F-92A27B468157}" type="pres">
      <dgm:prSet presAssocID="{54783294-BA16-40F1-895D-0E090AF19F3D}" presName="root2" presStyleCnt="0"/>
      <dgm:spPr/>
    </dgm:pt>
    <dgm:pt modelId="{2559401F-C661-4B98-81E3-9DED8E3A0C80}" type="pres">
      <dgm:prSet presAssocID="{54783294-BA16-40F1-895D-0E090AF19F3D}" presName="LevelTwoTextNode" presStyleLbl="node3" presStyleIdx="0" presStyleCnt="4" custScaleX="123862">
        <dgm:presLayoutVars>
          <dgm:chPref val="3"/>
        </dgm:presLayoutVars>
      </dgm:prSet>
      <dgm:spPr/>
    </dgm:pt>
    <dgm:pt modelId="{CC8A685B-1AC8-46A0-A4B0-4E0BD33161F5}" type="pres">
      <dgm:prSet presAssocID="{54783294-BA16-40F1-895D-0E090AF19F3D}" presName="level3hierChild" presStyleCnt="0"/>
      <dgm:spPr/>
    </dgm:pt>
    <dgm:pt modelId="{36D154D0-C922-4C54-9C7A-18F92061FB8F}" type="pres">
      <dgm:prSet presAssocID="{8BD628A8-BEF1-4AC6-A64A-329868E0151C}" presName="conn2-1" presStyleLbl="parChTrans1D3" presStyleIdx="1" presStyleCnt="4"/>
      <dgm:spPr/>
    </dgm:pt>
    <dgm:pt modelId="{F394C743-1404-4676-BDB2-274DDCDEFC83}" type="pres">
      <dgm:prSet presAssocID="{8BD628A8-BEF1-4AC6-A64A-329868E0151C}" presName="connTx" presStyleLbl="parChTrans1D3" presStyleIdx="1" presStyleCnt="4"/>
      <dgm:spPr/>
    </dgm:pt>
    <dgm:pt modelId="{3557020E-6416-4CB4-9F15-2C1E1373C639}" type="pres">
      <dgm:prSet presAssocID="{BAB8C24B-4901-4478-8855-181290F7CB8F}" presName="root2" presStyleCnt="0"/>
      <dgm:spPr/>
    </dgm:pt>
    <dgm:pt modelId="{827001A5-24EF-496C-8EE2-B687D01CED05}" type="pres">
      <dgm:prSet presAssocID="{BAB8C24B-4901-4478-8855-181290F7CB8F}" presName="LevelTwoTextNode" presStyleLbl="node3" presStyleIdx="1" presStyleCnt="4" custScaleX="123862">
        <dgm:presLayoutVars>
          <dgm:chPref val="3"/>
        </dgm:presLayoutVars>
      </dgm:prSet>
      <dgm:spPr/>
    </dgm:pt>
    <dgm:pt modelId="{243DC70A-CAF2-45AF-A13F-BE49F8CC99FA}" type="pres">
      <dgm:prSet presAssocID="{BAB8C24B-4901-4478-8855-181290F7CB8F}" presName="level3hierChild" presStyleCnt="0"/>
      <dgm:spPr/>
    </dgm:pt>
    <dgm:pt modelId="{691D250B-061D-4559-9AFF-9D029BEAB8E6}" type="pres">
      <dgm:prSet presAssocID="{5B433715-AA24-4866-95EB-F122690E7E40}" presName="conn2-1" presStyleLbl="parChTrans1D2" presStyleIdx="1" presStyleCnt="3"/>
      <dgm:spPr/>
    </dgm:pt>
    <dgm:pt modelId="{54613074-BA72-4DC5-B250-94E42553573E}" type="pres">
      <dgm:prSet presAssocID="{5B433715-AA24-4866-95EB-F122690E7E40}" presName="connTx" presStyleLbl="parChTrans1D2" presStyleIdx="1" presStyleCnt="3"/>
      <dgm:spPr/>
    </dgm:pt>
    <dgm:pt modelId="{F6459F77-5048-4BB3-912B-83C159684C54}" type="pres">
      <dgm:prSet presAssocID="{291F4ACA-1383-4C2D-B1C0-BB46B12D4E22}" presName="root2" presStyleCnt="0"/>
      <dgm:spPr/>
    </dgm:pt>
    <dgm:pt modelId="{36038EC8-F936-4200-8171-B797C20FB0DE}" type="pres">
      <dgm:prSet presAssocID="{291F4ACA-1383-4C2D-B1C0-BB46B12D4E22}" presName="LevelTwoTextNode" presStyleLbl="node2" presStyleIdx="1" presStyleCnt="3" custLinFactNeighborY="-35099">
        <dgm:presLayoutVars>
          <dgm:chPref val="3"/>
        </dgm:presLayoutVars>
      </dgm:prSet>
      <dgm:spPr/>
    </dgm:pt>
    <dgm:pt modelId="{6C82FD4C-52A8-4705-9A1D-E30E1DB5B5D0}" type="pres">
      <dgm:prSet presAssocID="{291F4ACA-1383-4C2D-B1C0-BB46B12D4E22}" presName="level3hierChild" presStyleCnt="0"/>
      <dgm:spPr/>
    </dgm:pt>
    <dgm:pt modelId="{30047EFC-A2CD-406F-80B6-BEAA3A345BFA}" type="pres">
      <dgm:prSet presAssocID="{FE74F3F0-A617-4370-B0E4-523F04DDD066}" presName="conn2-1" presStyleLbl="parChTrans1D3" presStyleIdx="2" presStyleCnt="4"/>
      <dgm:spPr/>
    </dgm:pt>
    <dgm:pt modelId="{0FA8FB8F-ED01-4760-910F-B468232EFADD}" type="pres">
      <dgm:prSet presAssocID="{FE74F3F0-A617-4370-B0E4-523F04DDD066}" presName="connTx" presStyleLbl="parChTrans1D3" presStyleIdx="2" presStyleCnt="4"/>
      <dgm:spPr/>
    </dgm:pt>
    <dgm:pt modelId="{9D126D96-A23A-4625-BCD1-DA4FAD5CDF43}" type="pres">
      <dgm:prSet presAssocID="{CCA93B7D-610E-42CC-B602-351EF298A291}" presName="root2" presStyleCnt="0"/>
      <dgm:spPr/>
    </dgm:pt>
    <dgm:pt modelId="{FB6D155B-49A5-4E27-9FB6-77DDD65B19C4}" type="pres">
      <dgm:prSet presAssocID="{CCA93B7D-610E-42CC-B602-351EF298A291}" presName="LevelTwoTextNode" presStyleLbl="node3" presStyleIdx="2" presStyleCnt="4" custScaleX="123862">
        <dgm:presLayoutVars>
          <dgm:chPref val="3"/>
        </dgm:presLayoutVars>
      </dgm:prSet>
      <dgm:spPr/>
    </dgm:pt>
    <dgm:pt modelId="{C233B997-2195-4E4A-9833-82AC7A0B7B45}" type="pres">
      <dgm:prSet presAssocID="{CCA93B7D-610E-42CC-B602-351EF298A291}" presName="level3hierChild" presStyleCnt="0"/>
      <dgm:spPr/>
    </dgm:pt>
    <dgm:pt modelId="{FADD2413-5495-4184-8B0D-36542D99683C}" type="pres">
      <dgm:prSet presAssocID="{BDC7BD97-A044-4CEF-A4F7-FCDBC6C8DF93}" presName="conn2-1" presStyleLbl="parChTrans1D3" presStyleIdx="3" presStyleCnt="4"/>
      <dgm:spPr/>
    </dgm:pt>
    <dgm:pt modelId="{73987C67-3700-491C-963B-EFEC62607232}" type="pres">
      <dgm:prSet presAssocID="{BDC7BD97-A044-4CEF-A4F7-FCDBC6C8DF93}" presName="connTx" presStyleLbl="parChTrans1D3" presStyleIdx="3" presStyleCnt="4"/>
      <dgm:spPr/>
    </dgm:pt>
    <dgm:pt modelId="{4258858E-B369-4B50-91C3-E1E87C9D1C00}" type="pres">
      <dgm:prSet presAssocID="{3D3BEBAB-7954-4082-B029-46EE486A57B2}" presName="root2" presStyleCnt="0"/>
      <dgm:spPr/>
    </dgm:pt>
    <dgm:pt modelId="{9810358F-A69D-4711-ACC2-BF5433C28963}" type="pres">
      <dgm:prSet presAssocID="{3D3BEBAB-7954-4082-B029-46EE486A57B2}" presName="LevelTwoTextNode" presStyleLbl="node3" presStyleIdx="3" presStyleCnt="4" custScaleX="123862">
        <dgm:presLayoutVars>
          <dgm:chPref val="3"/>
        </dgm:presLayoutVars>
      </dgm:prSet>
      <dgm:spPr/>
    </dgm:pt>
    <dgm:pt modelId="{1F61391A-F34F-43DC-A6FE-5F91E7A68F6F}" type="pres">
      <dgm:prSet presAssocID="{3D3BEBAB-7954-4082-B029-46EE486A57B2}" presName="level3hierChild" presStyleCnt="0"/>
      <dgm:spPr/>
    </dgm:pt>
    <dgm:pt modelId="{1FFBF06F-7803-40AA-8B05-8A45182D3DE3}" type="pres">
      <dgm:prSet presAssocID="{13831C18-B707-4158-92AE-01076BD3F06D}" presName="conn2-1" presStyleLbl="parChTrans1D2" presStyleIdx="2" presStyleCnt="3"/>
      <dgm:spPr/>
    </dgm:pt>
    <dgm:pt modelId="{3F2AFE72-0BE6-4942-9B8A-2F564492D24C}" type="pres">
      <dgm:prSet presAssocID="{13831C18-B707-4158-92AE-01076BD3F06D}" presName="connTx" presStyleLbl="parChTrans1D2" presStyleIdx="2" presStyleCnt="3"/>
      <dgm:spPr/>
    </dgm:pt>
    <dgm:pt modelId="{31803571-5D4E-4143-8B09-AE49FA39F9B9}" type="pres">
      <dgm:prSet presAssocID="{8564278B-6CC4-4313-942B-1A892D05178F}" presName="root2" presStyleCnt="0"/>
      <dgm:spPr/>
    </dgm:pt>
    <dgm:pt modelId="{945BFB73-39BD-4A65-B31F-14720F791DC9}" type="pres">
      <dgm:prSet presAssocID="{8564278B-6CC4-4313-942B-1A892D05178F}" presName="LevelTwoTextNode" presStyleLbl="node2" presStyleIdx="2" presStyleCnt="3" custLinFactNeighborY="3992">
        <dgm:presLayoutVars>
          <dgm:chPref val="3"/>
        </dgm:presLayoutVars>
      </dgm:prSet>
      <dgm:spPr/>
    </dgm:pt>
    <dgm:pt modelId="{41E24DFD-9AAA-4B37-83B1-51827D8343B1}" type="pres">
      <dgm:prSet presAssocID="{8564278B-6CC4-4313-942B-1A892D05178F}" presName="level3hierChild" presStyleCnt="0"/>
      <dgm:spPr/>
    </dgm:pt>
  </dgm:ptLst>
  <dgm:cxnLst>
    <dgm:cxn modelId="{5211A612-F83B-4859-A1BE-A49282C9E11B}" srcId="{A7389C7D-670C-4D63-8F59-11454FCC7F4D}" destId="{291F4ACA-1383-4C2D-B1C0-BB46B12D4E22}" srcOrd="1" destOrd="0" parTransId="{5B433715-AA24-4866-95EB-F122690E7E40}" sibTransId="{7B5E2857-E286-4A84-ADA5-5670DC4729E7}"/>
    <dgm:cxn modelId="{B4699C1B-2669-4086-8A05-DC38F443A31B}" type="presOf" srcId="{8564278B-6CC4-4313-942B-1A892D05178F}" destId="{945BFB73-39BD-4A65-B31F-14720F791DC9}" srcOrd="0" destOrd="0" presId="urn:microsoft.com/office/officeart/2005/8/layout/hierarchy2"/>
    <dgm:cxn modelId="{FC60C425-4DB9-4CFD-8662-696E6900B7C3}" type="presOf" srcId="{291F4ACA-1383-4C2D-B1C0-BB46B12D4E22}" destId="{36038EC8-F936-4200-8171-B797C20FB0DE}" srcOrd="0" destOrd="0" presId="urn:microsoft.com/office/officeart/2005/8/layout/hierarchy2"/>
    <dgm:cxn modelId="{6B2CAE27-5E58-4A8D-879A-CE26468037EC}" type="presOf" srcId="{FE74F3F0-A617-4370-B0E4-523F04DDD066}" destId="{30047EFC-A2CD-406F-80B6-BEAA3A345BFA}" srcOrd="0" destOrd="0" presId="urn:microsoft.com/office/officeart/2005/8/layout/hierarchy2"/>
    <dgm:cxn modelId="{B37C0C2C-44C2-41B6-8A87-EC90659245CA}" type="presOf" srcId="{13831C18-B707-4158-92AE-01076BD3F06D}" destId="{3F2AFE72-0BE6-4942-9B8A-2F564492D24C}" srcOrd="1" destOrd="0" presId="urn:microsoft.com/office/officeart/2005/8/layout/hierarchy2"/>
    <dgm:cxn modelId="{9B3E433C-EE1F-44AA-9833-54DD1453654F}" type="presOf" srcId="{8BD628A8-BEF1-4AC6-A64A-329868E0151C}" destId="{F394C743-1404-4676-BDB2-274DDCDEFC83}" srcOrd="1" destOrd="0" presId="urn:microsoft.com/office/officeart/2005/8/layout/hierarchy2"/>
    <dgm:cxn modelId="{645D185E-6DFE-4B21-9EE8-6312CF9FF614}" type="presOf" srcId="{986BF26F-B23B-4BC4-9E39-79617C3F8F42}" destId="{33B2C0D2-0176-401D-B21B-F775FBB92613}" srcOrd="0" destOrd="0" presId="urn:microsoft.com/office/officeart/2005/8/layout/hierarchy2"/>
    <dgm:cxn modelId="{C45B6148-B22E-45C0-89E5-5F478D511FAD}" type="presOf" srcId="{5B433715-AA24-4866-95EB-F122690E7E40}" destId="{691D250B-061D-4559-9AFF-9D029BEAB8E6}" srcOrd="0" destOrd="0" presId="urn:microsoft.com/office/officeart/2005/8/layout/hierarchy2"/>
    <dgm:cxn modelId="{6D37754C-9234-49E9-8DF2-F7176049F3A9}" type="presOf" srcId="{FBA989F3-DFC2-4991-B6D4-6617D66BC696}" destId="{B252953B-9161-4CBE-B01A-3D9613664736}" srcOrd="0" destOrd="0" presId="urn:microsoft.com/office/officeart/2005/8/layout/hierarchy2"/>
    <dgm:cxn modelId="{240ED54D-5E92-445B-9DF1-C07077693DA1}" srcId="{FBA989F3-DFC2-4991-B6D4-6617D66BC696}" destId="{BAB8C24B-4901-4478-8855-181290F7CB8F}" srcOrd="1" destOrd="0" parTransId="{8BD628A8-BEF1-4AC6-A64A-329868E0151C}" sibTransId="{FB20BE42-01E5-4A0C-AA88-AF88249B9C5B}"/>
    <dgm:cxn modelId="{EBDF3C72-444C-4122-9E56-914869FEA33D}" srcId="{FBA989F3-DFC2-4991-B6D4-6617D66BC696}" destId="{54783294-BA16-40F1-895D-0E090AF19F3D}" srcOrd="0" destOrd="0" parTransId="{986BF26F-B23B-4BC4-9E39-79617C3F8F42}" sibTransId="{6CF1C612-875E-4259-939B-44BE43EF2618}"/>
    <dgm:cxn modelId="{3DB23B86-12C1-4A91-BF69-2539245E8F6C}" type="presOf" srcId="{13831C18-B707-4158-92AE-01076BD3F06D}" destId="{1FFBF06F-7803-40AA-8B05-8A45182D3DE3}" srcOrd="0" destOrd="0" presId="urn:microsoft.com/office/officeart/2005/8/layout/hierarchy2"/>
    <dgm:cxn modelId="{F8EAC286-DCBB-4951-9072-638EFE572394}" type="presOf" srcId="{BDC7BD97-A044-4CEF-A4F7-FCDBC6C8DF93}" destId="{73987C67-3700-491C-963B-EFEC62607232}" srcOrd="1" destOrd="0" presId="urn:microsoft.com/office/officeart/2005/8/layout/hierarchy2"/>
    <dgm:cxn modelId="{5849D98A-160F-4C91-AEEE-3F2CA20AD639}" type="presOf" srcId="{A7389C7D-670C-4D63-8F59-11454FCC7F4D}" destId="{C2994B25-9465-45BE-B9C7-1217E6DAF739}" srcOrd="0" destOrd="0" presId="urn:microsoft.com/office/officeart/2005/8/layout/hierarchy2"/>
    <dgm:cxn modelId="{0680DA90-28C6-417D-B6F9-C942D8E82065}" srcId="{291F4ACA-1383-4C2D-B1C0-BB46B12D4E22}" destId="{3D3BEBAB-7954-4082-B029-46EE486A57B2}" srcOrd="1" destOrd="0" parTransId="{BDC7BD97-A044-4CEF-A4F7-FCDBC6C8DF93}" sibTransId="{5370A53B-266B-4E69-955C-78171E87F6DA}"/>
    <dgm:cxn modelId="{D7A6F69C-12DA-41CC-9879-9DAC56949253}" type="presOf" srcId="{900991C7-6B3C-4C3D-8790-DB378BA4ACC7}" destId="{0CDEE9BD-21EC-4762-A2C0-D98281BCB887}" srcOrd="0" destOrd="0" presId="urn:microsoft.com/office/officeart/2005/8/layout/hierarchy2"/>
    <dgm:cxn modelId="{01B7A7A4-838A-4F54-82D2-EFB362F5E3DD}" type="presOf" srcId="{BAB8C24B-4901-4478-8855-181290F7CB8F}" destId="{827001A5-24EF-496C-8EE2-B687D01CED05}" srcOrd="0" destOrd="0" presId="urn:microsoft.com/office/officeart/2005/8/layout/hierarchy2"/>
    <dgm:cxn modelId="{0765CFA5-3EE2-482A-B9E6-522B32DCAF06}" type="presOf" srcId="{E4995594-262B-4C49-8718-068B9ECCBB11}" destId="{24B9C689-EE14-473C-8338-3A861D3CAF51}" srcOrd="0" destOrd="0" presId="urn:microsoft.com/office/officeart/2005/8/layout/hierarchy2"/>
    <dgm:cxn modelId="{65AE9BAC-8646-4D12-893C-92014BC85A4D}" type="presOf" srcId="{BDC7BD97-A044-4CEF-A4F7-FCDBC6C8DF93}" destId="{FADD2413-5495-4184-8B0D-36542D99683C}" srcOrd="0" destOrd="0" presId="urn:microsoft.com/office/officeart/2005/8/layout/hierarchy2"/>
    <dgm:cxn modelId="{0E9E51BE-E1AE-4A09-90DF-E34F39D1F939}" srcId="{291F4ACA-1383-4C2D-B1C0-BB46B12D4E22}" destId="{CCA93B7D-610E-42CC-B602-351EF298A291}" srcOrd="0" destOrd="0" parTransId="{FE74F3F0-A617-4370-B0E4-523F04DDD066}" sibTransId="{4F8F4C40-D18B-4916-BDC7-8A65BB92D880}"/>
    <dgm:cxn modelId="{C3B39AC3-CA8A-442A-9AB6-357B22213AFD}" type="presOf" srcId="{900991C7-6B3C-4C3D-8790-DB378BA4ACC7}" destId="{2F596B48-1E22-44E6-B440-676F20C8BDBE}" srcOrd="1" destOrd="0" presId="urn:microsoft.com/office/officeart/2005/8/layout/hierarchy2"/>
    <dgm:cxn modelId="{0992A9C4-2178-4046-84EB-B61B717BB31F}" type="presOf" srcId="{8BD628A8-BEF1-4AC6-A64A-329868E0151C}" destId="{36D154D0-C922-4C54-9C7A-18F92061FB8F}" srcOrd="0" destOrd="0" presId="urn:microsoft.com/office/officeart/2005/8/layout/hierarchy2"/>
    <dgm:cxn modelId="{8264DACF-F106-4B8F-BD96-2D57FFA61B80}" srcId="{A7389C7D-670C-4D63-8F59-11454FCC7F4D}" destId="{FBA989F3-DFC2-4991-B6D4-6617D66BC696}" srcOrd="0" destOrd="0" parTransId="{900991C7-6B3C-4C3D-8790-DB378BA4ACC7}" sibTransId="{E91B3532-E382-48BE-A8EF-AAF216C3F692}"/>
    <dgm:cxn modelId="{4D582BD7-55D4-4831-9159-5A540E763190}" type="presOf" srcId="{FE74F3F0-A617-4370-B0E4-523F04DDD066}" destId="{0FA8FB8F-ED01-4760-910F-B468232EFADD}" srcOrd="1" destOrd="0" presId="urn:microsoft.com/office/officeart/2005/8/layout/hierarchy2"/>
    <dgm:cxn modelId="{F4EC45D7-DA5E-4912-B622-FCE81C7B71C9}" type="presOf" srcId="{3D3BEBAB-7954-4082-B029-46EE486A57B2}" destId="{9810358F-A69D-4711-ACC2-BF5433C28963}" srcOrd="0" destOrd="0" presId="urn:microsoft.com/office/officeart/2005/8/layout/hierarchy2"/>
    <dgm:cxn modelId="{F4CB35DF-1F32-41D1-A701-2AD8A64780A2}" type="presOf" srcId="{986BF26F-B23B-4BC4-9E39-79617C3F8F42}" destId="{50C39F31-1425-456A-A370-DF724CBDD922}" srcOrd="1" destOrd="0" presId="urn:microsoft.com/office/officeart/2005/8/layout/hierarchy2"/>
    <dgm:cxn modelId="{208136E2-66D8-4565-B2B0-8ED80DDA4C7A}" srcId="{A7389C7D-670C-4D63-8F59-11454FCC7F4D}" destId="{8564278B-6CC4-4313-942B-1A892D05178F}" srcOrd="2" destOrd="0" parTransId="{13831C18-B707-4158-92AE-01076BD3F06D}" sibTransId="{BD1F7E26-D0CF-422B-86DE-5B46DAA39E34}"/>
    <dgm:cxn modelId="{9962FEF0-9554-4675-982A-885993854FF7}" type="presOf" srcId="{5B433715-AA24-4866-95EB-F122690E7E40}" destId="{54613074-BA72-4DC5-B250-94E42553573E}" srcOrd="1" destOrd="0" presId="urn:microsoft.com/office/officeart/2005/8/layout/hierarchy2"/>
    <dgm:cxn modelId="{1FC6ACF4-80E2-43BB-BF43-74F96478CBD5}" type="presOf" srcId="{54783294-BA16-40F1-895D-0E090AF19F3D}" destId="{2559401F-C661-4B98-81E3-9DED8E3A0C80}" srcOrd="0" destOrd="0" presId="urn:microsoft.com/office/officeart/2005/8/layout/hierarchy2"/>
    <dgm:cxn modelId="{4A5FBBF4-20EC-4439-A4E6-9627900687DD}" type="presOf" srcId="{CCA93B7D-610E-42CC-B602-351EF298A291}" destId="{FB6D155B-49A5-4E27-9FB6-77DDD65B19C4}" srcOrd="0" destOrd="0" presId="urn:microsoft.com/office/officeart/2005/8/layout/hierarchy2"/>
    <dgm:cxn modelId="{EFA044F8-69F0-4A46-A6DB-7295DEDC6EB0}" srcId="{E4995594-262B-4C49-8718-068B9ECCBB11}" destId="{A7389C7D-670C-4D63-8F59-11454FCC7F4D}" srcOrd="0" destOrd="0" parTransId="{D4A3BB1D-AAA6-4D24-BDA1-F8D6C1A92096}" sibTransId="{7CB70C7F-669B-40B6-8811-48D8E9CF0B16}"/>
    <dgm:cxn modelId="{923A7400-AA34-41AA-BD93-497370A0BF99}" type="presParOf" srcId="{24B9C689-EE14-473C-8338-3A861D3CAF51}" destId="{B60091FD-FB23-4C6F-8314-494CEC32B4C7}" srcOrd="0" destOrd="0" presId="urn:microsoft.com/office/officeart/2005/8/layout/hierarchy2"/>
    <dgm:cxn modelId="{C7829F4E-C9BE-4C3D-A2A3-7F086ED5FCC6}" type="presParOf" srcId="{B60091FD-FB23-4C6F-8314-494CEC32B4C7}" destId="{C2994B25-9465-45BE-B9C7-1217E6DAF739}" srcOrd="0" destOrd="0" presId="urn:microsoft.com/office/officeart/2005/8/layout/hierarchy2"/>
    <dgm:cxn modelId="{C34062CA-1804-4DC8-80EC-77CEBD7FD622}" type="presParOf" srcId="{B60091FD-FB23-4C6F-8314-494CEC32B4C7}" destId="{98A62860-FDC1-4D2F-8EB7-F06D72BFC3C9}" srcOrd="1" destOrd="0" presId="urn:microsoft.com/office/officeart/2005/8/layout/hierarchy2"/>
    <dgm:cxn modelId="{95ACFBA8-2728-47F9-BD40-A3CC2FB3D16A}" type="presParOf" srcId="{98A62860-FDC1-4D2F-8EB7-F06D72BFC3C9}" destId="{0CDEE9BD-21EC-4762-A2C0-D98281BCB887}" srcOrd="0" destOrd="0" presId="urn:microsoft.com/office/officeart/2005/8/layout/hierarchy2"/>
    <dgm:cxn modelId="{E645E4C9-0A86-4D6D-A456-8B8CD5B38FC7}" type="presParOf" srcId="{0CDEE9BD-21EC-4762-A2C0-D98281BCB887}" destId="{2F596B48-1E22-44E6-B440-676F20C8BDBE}" srcOrd="0" destOrd="0" presId="urn:microsoft.com/office/officeart/2005/8/layout/hierarchy2"/>
    <dgm:cxn modelId="{A74D5155-91BC-4E01-A89B-2DAD9E22AE28}" type="presParOf" srcId="{98A62860-FDC1-4D2F-8EB7-F06D72BFC3C9}" destId="{1AF44FBE-0F5B-4CEA-BF58-931C87B304F3}" srcOrd="1" destOrd="0" presId="urn:microsoft.com/office/officeart/2005/8/layout/hierarchy2"/>
    <dgm:cxn modelId="{6E790548-6415-4117-AABF-9475FDB91360}" type="presParOf" srcId="{1AF44FBE-0F5B-4CEA-BF58-931C87B304F3}" destId="{B252953B-9161-4CBE-B01A-3D9613664736}" srcOrd="0" destOrd="0" presId="urn:microsoft.com/office/officeart/2005/8/layout/hierarchy2"/>
    <dgm:cxn modelId="{40B2618E-9492-4658-828B-1D2B28BF4BC1}" type="presParOf" srcId="{1AF44FBE-0F5B-4CEA-BF58-931C87B304F3}" destId="{9248A6C9-102F-4792-BF66-49DB2CF812D4}" srcOrd="1" destOrd="0" presId="urn:microsoft.com/office/officeart/2005/8/layout/hierarchy2"/>
    <dgm:cxn modelId="{A256AF4E-CC5C-425F-8AA5-19FB91763466}" type="presParOf" srcId="{9248A6C9-102F-4792-BF66-49DB2CF812D4}" destId="{33B2C0D2-0176-401D-B21B-F775FBB92613}" srcOrd="0" destOrd="0" presId="urn:microsoft.com/office/officeart/2005/8/layout/hierarchy2"/>
    <dgm:cxn modelId="{41F41B21-53CD-4B0F-9673-84E54DB514D1}" type="presParOf" srcId="{33B2C0D2-0176-401D-B21B-F775FBB92613}" destId="{50C39F31-1425-456A-A370-DF724CBDD922}" srcOrd="0" destOrd="0" presId="urn:microsoft.com/office/officeart/2005/8/layout/hierarchy2"/>
    <dgm:cxn modelId="{FBD70506-877E-4CE2-8457-955512639441}" type="presParOf" srcId="{9248A6C9-102F-4792-BF66-49DB2CF812D4}" destId="{E41CA2DC-743F-4E09-851F-92A27B468157}" srcOrd="1" destOrd="0" presId="urn:microsoft.com/office/officeart/2005/8/layout/hierarchy2"/>
    <dgm:cxn modelId="{4DD9CF2A-AD8E-48BA-9AF1-7768055FC310}" type="presParOf" srcId="{E41CA2DC-743F-4E09-851F-92A27B468157}" destId="{2559401F-C661-4B98-81E3-9DED8E3A0C80}" srcOrd="0" destOrd="0" presId="urn:microsoft.com/office/officeart/2005/8/layout/hierarchy2"/>
    <dgm:cxn modelId="{A563D782-0502-436F-B8A6-7CF444477DB2}" type="presParOf" srcId="{E41CA2DC-743F-4E09-851F-92A27B468157}" destId="{CC8A685B-1AC8-46A0-A4B0-4E0BD33161F5}" srcOrd="1" destOrd="0" presId="urn:microsoft.com/office/officeart/2005/8/layout/hierarchy2"/>
    <dgm:cxn modelId="{0EA65502-A797-4A48-B0BB-0F9AFA6A452C}" type="presParOf" srcId="{9248A6C9-102F-4792-BF66-49DB2CF812D4}" destId="{36D154D0-C922-4C54-9C7A-18F92061FB8F}" srcOrd="2" destOrd="0" presId="urn:microsoft.com/office/officeart/2005/8/layout/hierarchy2"/>
    <dgm:cxn modelId="{6D49DBF6-2876-4FBB-9378-1F6ED3FC06C7}" type="presParOf" srcId="{36D154D0-C922-4C54-9C7A-18F92061FB8F}" destId="{F394C743-1404-4676-BDB2-274DDCDEFC83}" srcOrd="0" destOrd="0" presId="urn:microsoft.com/office/officeart/2005/8/layout/hierarchy2"/>
    <dgm:cxn modelId="{2C8417F4-E24D-4295-B38E-D7892D9A1C1A}" type="presParOf" srcId="{9248A6C9-102F-4792-BF66-49DB2CF812D4}" destId="{3557020E-6416-4CB4-9F15-2C1E1373C639}" srcOrd="3" destOrd="0" presId="urn:microsoft.com/office/officeart/2005/8/layout/hierarchy2"/>
    <dgm:cxn modelId="{6C0CDF78-D236-4405-A5C7-867B30E96DF0}" type="presParOf" srcId="{3557020E-6416-4CB4-9F15-2C1E1373C639}" destId="{827001A5-24EF-496C-8EE2-B687D01CED05}" srcOrd="0" destOrd="0" presId="urn:microsoft.com/office/officeart/2005/8/layout/hierarchy2"/>
    <dgm:cxn modelId="{6C9CB063-4762-4AB9-806A-8338DE83B408}" type="presParOf" srcId="{3557020E-6416-4CB4-9F15-2C1E1373C639}" destId="{243DC70A-CAF2-45AF-A13F-BE49F8CC99FA}" srcOrd="1" destOrd="0" presId="urn:microsoft.com/office/officeart/2005/8/layout/hierarchy2"/>
    <dgm:cxn modelId="{19A7F8B6-2D51-4933-9D7C-23DE36286DA8}" type="presParOf" srcId="{98A62860-FDC1-4D2F-8EB7-F06D72BFC3C9}" destId="{691D250B-061D-4559-9AFF-9D029BEAB8E6}" srcOrd="2" destOrd="0" presId="urn:microsoft.com/office/officeart/2005/8/layout/hierarchy2"/>
    <dgm:cxn modelId="{D2FE6876-FA4D-4C2D-8B43-88287A865C8C}" type="presParOf" srcId="{691D250B-061D-4559-9AFF-9D029BEAB8E6}" destId="{54613074-BA72-4DC5-B250-94E42553573E}" srcOrd="0" destOrd="0" presId="urn:microsoft.com/office/officeart/2005/8/layout/hierarchy2"/>
    <dgm:cxn modelId="{D053DD90-FAC4-46A6-9D9E-6B3C1CF9C214}" type="presParOf" srcId="{98A62860-FDC1-4D2F-8EB7-F06D72BFC3C9}" destId="{F6459F77-5048-4BB3-912B-83C159684C54}" srcOrd="3" destOrd="0" presId="urn:microsoft.com/office/officeart/2005/8/layout/hierarchy2"/>
    <dgm:cxn modelId="{090103FC-2DC0-43D6-BE47-B943663FCBE8}" type="presParOf" srcId="{F6459F77-5048-4BB3-912B-83C159684C54}" destId="{36038EC8-F936-4200-8171-B797C20FB0DE}" srcOrd="0" destOrd="0" presId="urn:microsoft.com/office/officeart/2005/8/layout/hierarchy2"/>
    <dgm:cxn modelId="{0976C27D-DFC6-454A-9540-7A563DA2DCF3}" type="presParOf" srcId="{F6459F77-5048-4BB3-912B-83C159684C54}" destId="{6C82FD4C-52A8-4705-9A1D-E30E1DB5B5D0}" srcOrd="1" destOrd="0" presId="urn:microsoft.com/office/officeart/2005/8/layout/hierarchy2"/>
    <dgm:cxn modelId="{796F051B-F719-42B6-A1C5-CC03449F8D14}" type="presParOf" srcId="{6C82FD4C-52A8-4705-9A1D-E30E1DB5B5D0}" destId="{30047EFC-A2CD-406F-80B6-BEAA3A345BFA}" srcOrd="0" destOrd="0" presId="urn:microsoft.com/office/officeart/2005/8/layout/hierarchy2"/>
    <dgm:cxn modelId="{B9C99570-6508-4B23-8319-98D62D3B8C69}" type="presParOf" srcId="{30047EFC-A2CD-406F-80B6-BEAA3A345BFA}" destId="{0FA8FB8F-ED01-4760-910F-B468232EFADD}" srcOrd="0" destOrd="0" presId="urn:microsoft.com/office/officeart/2005/8/layout/hierarchy2"/>
    <dgm:cxn modelId="{AEEA73A1-B507-494B-B1C3-B995E5A396B5}" type="presParOf" srcId="{6C82FD4C-52A8-4705-9A1D-E30E1DB5B5D0}" destId="{9D126D96-A23A-4625-BCD1-DA4FAD5CDF43}" srcOrd="1" destOrd="0" presId="urn:microsoft.com/office/officeart/2005/8/layout/hierarchy2"/>
    <dgm:cxn modelId="{4C0107BD-9C74-4FD0-938E-501D65C48C74}" type="presParOf" srcId="{9D126D96-A23A-4625-BCD1-DA4FAD5CDF43}" destId="{FB6D155B-49A5-4E27-9FB6-77DDD65B19C4}" srcOrd="0" destOrd="0" presId="urn:microsoft.com/office/officeart/2005/8/layout/hierarchy2"/>
    <dgm:cxn modelId="{81DA43A2-A496-4E43-99FB-09BA5A7E5B6B}" type="presParOf" srcId="{9D126D96-A23A-4625-BCD1-DA4FAD5CDF43}" destId="{C233B997-2195-4E4A-9833-82AC7A0B7B45}" srcOrd="1" destOrd="0" presId="urn:microsoft.com/office/officeart/2005/8/layout/hierarchy2"/>
    <dgm:cxn modelId="{A380AEF2-614B-4A3B-8E8A-01DA787A16D5}" type="presParOf" srcId="{6C82FD4C-52A8-4705-9A1D-E30E1DB5B5D0}" destId="{FADD2413-5495-4184-8B0D-36542D99683C}" srcOrd="2" destOrd="0" presId="urn:microsoft.com/office/officeart/2005/8/layout/hierarchy2"/>
    <dgm:cxn modelId="{EA689877-1BEF-4BA6-BE1B-B572E85BCA8E}" type="presParOf" srcId="{FADD2413-5495-4184-8B0D-36542D99683C}" destId="{73987C67-3700-491C-963B-EFEC62607232}" srcOrd="0" destOrd="0" presId="urn:microsoft.com/office/officeart/2005/8/layout/hierarchy2"/>
    <dgm:cxn modelId="{B80052C6-F887-4905-B1E9-B6F135C796B5}" type="presParOf" srcId="{6C82FD4C-52A8-4705-9A1D-E30E1DB5B5D0}" destId="{4258858E-B369-4B50-91C3-E1E87C9D1C00}" srcOrd="3" destOrd="0" presId="urn:microsoft.com/office/officeart/2005/8/layout/hierarchy2"/>
    <dgm:cxn modelId="{D3005134-9322-4844-9932-95235E229AD7}" type="presParOf" srcId="{4258858E-B369-4B50-91C3-E1E87C9D1C00}" destId="{9810358F-A69D-4711-ACC2-BF5433C28963}" srcOrd="0" destOrd="0" presId="urn:microsoft.com/office/officeart/2005/8/layout/hierarchy2"/>
    <dgm:cxn modelId="{9B54EF37-7EA7-4D2C-95B5-1821046E9AC4}" type="presParOf" srcId="{4258858E-B369-4B50-91C3-E1E87C9D1C00}" destId="{1F61391A-F34F-43DC-A6FE-5F91E7A68F6F}" srcOrd="1" destOrd="0" presId="urn:microsoft.com/office/officeart/2005/8/layout/hierarchy2"/>
    <dgm:cxn modelId="{3DB2153E-63B7-42D5-AF8A-70B678ED6E6E}" type="presParOf" srcId="{98A62860-FDC1-4D2F-8EB7-F06D72BFC3C9}" destId="{1FFBF06F-7803-40AA-8B05-8A45182D3DE3}" srcOrd="4" destOrd="0" presId="urn:microsoft.com/office/officeart/2005/8/layout/hierarchy2"/>
    <dgm:cxn modelId="{64EAD1F0-11B6-4133-B48C-3F8B541A0379}" type="presParOf" srcId="{1FFBF06F-7803-40AA-8B05-8A45182D3DE3}" destId="{3F2AFE72-0BE6-4942-9B8A-2F564492D24C}" srcOrd="0" destOrd="0" presId="urn:microsoft.com/office/officeart/2005/8/layout/hierarchy2"/>
    <dgm:cxn modelId="{1C3649A5-6C2C-4406-A85F-33BB7ABCA859}" type="presParOf" srcId="{98A62860-FDC1-4D2F-8EB7-F06D72BFC3C9}" destId="{31803571-5D4E-4143-8B09-AE49FA39F9B9}" srcOrd="5" destOrd="0" presId="urn:microsoft.com/office/officeart/2005/8/layout/hierarchy2"/>
    <dgm:cxn modelId="{3E3CE49F-C929-4CB8-8DE6-AE0B334B8C82}" type="presParOf" srcId="{31803571-5D4E-4143-8B09-AE49FA39F9B9}" destId="{945BFB73-39BD-4A65-B31F-14720F791DC9}" srcOrd="0" destOrd="0" presId="urn:microsoft.com/office/officeart/2005/8/layout/hierarchy2"/>
    <dgm:cxn modelId="{7698018A-8382-4BD6-B181-70A87EF33701}" type="presParOf" srcId="{31803571-5D4E-4143-8B09-AE49FA39F9B9}" destId="{41E24DFD-9AAA-4B37-83B1-51827D8343B1}" srcOrd="1" destOrd="0" presId="urn:microsoft.com/office/officeart/2005/8/layout/hierarchy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994B25-9465-45BE-B9C7-1217E6DAF739}">
      <dsp:nvSpPr>
        <dsp:cNvPr id="0" name=""/>
        <dsp:cNvSpPr/>
      </dsp:nvSpPr>
      <dsp:spPr>
        <a:xfrm>
          <a:off x="1905" y="999622"/>
          <a:ext cx="1008484" cy="50424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kumimoji="1" lang="ja-JP" altLang="en-US" sz="1100" kern="1200" dirty="0"/>
            <a:t>成熟期の目標</a:t>
          </a:r>
        </a:p>
      </dsp:txBody>
      <dsp:txXfrm>
        <a:off x="16674" y="1014391"/>
        <a:ext cx="978946" cy="474704"/>
      </dsp:txXfrm>
    </dsp:sp>
    <dsp:sp modelId="{0CDEE9BD-21EC-4762-A2C0-D98281BCB887}">
      <dsp:nvSpPr>
        <dsp:cNvPr id="0" name=""/>
        <dsp:cNvSpPr/>
      </dsp:nvSpPr>
      <dsp:spPr>
        <a:xfrm rot="18289469">
          <a:off x="858892" y="943676"/>
          <a:ext cx="706389" cy="36254"/>
        </a:xfrm>
        <a:custGeom>
          <a:avLst/>
          <a:gdLst/>
          <a:ahLst/>
          <a:cxnLst/>
          <a:rect l="0" t="0" r="0" b="0"/>
          <a:pathLst>
            <a:path>
              <a:moveTo>
                <a:pt x="0" y="18127"/>
              </a:moveTo>
              <a:lnTo>
                <a:pt x="706389" y="18127"/>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1194427" y="944144"/>
        <a:ext cx="35319" cy="35319"/>
      </dsp:txXfrm>
    </dsp:sp>
    <dsp:sp modelId="{B252953B-9161-4CBE-B01A-3D9613664736}">
      <dsp:nvSpPr>
        <dsp:cNvPr id="0" name=""/>
        <dsp:cNvSpPr/>
      </dsp:nvSpPr>
      <dsp:spPr>
        <a:xfrm>
          <a:off x="1413784" y="419743"/>
          <a:ext cx="1008484" cy="50424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kumimoji="1" lang="ja-JP" altLang="en-US" sz="1100" kern="1200" dirty="0"/>
            <a:t>市場シェアの維持</a:t>
          </a:r>
        </a:p>
      </dsp:txBody>
      <dsp:txXfrm>
        <a:off x="1428553" y="434512"/>
        <a:ext cx="978946" cy="474704"/>
      </dsp:txXfrm>
    </dsp:sp>
    <dsp:sp modelId="{33B2C0D2-0176-401D-B21B-F775FBB92613}">
      <dsp:nvSpPr>
        <dsp:cNvPr id="0" name=""/>
        <dsp:cNvSpPr/>
      </dsp:nvSpPr>
      <dsp:spPr>
        <a:xfrm rot="19457599">
          <a:off x="2375575" y="508767"/>
          <a:ext cx="496781" cy="36254"/>
        </a:xfrm>
        <a:custGeom>
          <a:avLst/>
          <a:gdLst/>
          <a:ahLst/>
          <a:cxnLst/>
          <a:rect l="0" t="0" r="0" b="0"/>
          <a:pathLst>
            <a:path>
              <a:moveTo>
                <a:pt x="0" y="18127"/>
              </a:moveTo>
              <a:lnTo>
                <a:pt x="496781" y="18127"/>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2611546" y="514475"/>
        <a:ext cx="24839" cy="24839"/>
      </dsp:txXfrm>
    </dsp:sp>
    <dsp:sp modelId="{2559401F-C661-4B98-81E3-9DED8E3A0C80}">
      <dsp:nvSpPr>
        <dsp:cNvPr id="0" name=""/>
        <dsp:cNvSpPr/>
      </dsp:nvSpPr>
      <dsp:spPr>
        <a:xfrm>
          <a:off x="2825662" y="129804"/>
          <a:ext cx="1249129" cy="50424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kumimoji="1" lang="ja-JP" altLang="en-US" sz="1100" kern="1200" dirty="0"/>
            <a:t>既存顧客の維持</a:t>
          </a:r>
        </a:p>
      </dsp:txBody>
      <dsp:txXfrm>
        <a:off x="2840431" y="144573"/>
        <a:ext cx="1219591" cy="474704"/>
      </dsp:txXfrm>
    </dsp:sp>
    <dsp:sp modelId="{36D154D0-C922-4C54-9C7A-18F92061FB8F}">
      <dsp:nvSpPr>
        <dsp:cNvPr id="0" name=""/>
        <dsp:cNvSpPr/>
      </dsp:nvSpPr>
      <dsp:spPr>
        <a:xfrm rot="2142401">
          <a:off x="2375575" y="798707"/>
          <a:ext cx="496781" cy="36254"/>
        </a:xfrm>
        <a:custGeom>
          <a:avLst/>
          <a:gdLst/>
          <a:ahLst/>
          <a:cxnLst/>
          <a:rect l="0" t="0" r="0" b="0"/>
          <a:pathLst>
            <a:path>
              <a:moveTo>
                <a:pt x="0" y="18127"/>
              </a:moveTo>
              <a:lnTo>
                <a:pt x="496781" y="18127"/>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2611546" y="804414"/>
        <a:ext cx="24839" cy="24839"/>
      </dsp:txXfrm>
    </dsp:sp>
    <dsp:sp modelId="{827001A5-24EF-496C-8EE2-B687D01CED05}">
      <dsp:nvSpPr>
        <dsp:cNvPr id="0" name=""/>
        <dsp:cNvSpPr/>
      </dsp:nvSpPr>
      <dsp:spPr>
        <a:xfrm>
          <a:off x="2825662" y="709682"/>
          <a:ext cx="1249129" cy="50424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kumimoji="1" lang="ja-JP" altLang="en-US" sz="1100" kern="1200" dirty="0"/>
            <a:t>新規顧客の獲得</a:t>
          </a:r>
        </a:p>
      </dsp:txBody>
      <dsp:txXfrm>
        <a:off x="2840431" y="724451"/>
        <a:ext cx="1219591" cy="474704"/>
      </dsp:txXfrm>
    </dsp:sp>
    <dsp:sp modelId="{691D250B-061D-4559-9AFF-9D029BEAB8E6}">
      <dsp:nvSpPr>
        <dsp:cNvPr id="0" name=""/>
        <dsp:cNvSpPr/>
      </dsp:nvSpPr>
      <dsp:spPr>
        <a:xfrm rot="3310531">
          <a:off x="858892" y="1523555"/>
          <a:ext cx="706389" cy="36254"/>
        </a:xfrm>
        <a:custGeom>
          <a:avLst/>
          <a:gdLst/>
          <a:ahLst/>
          <a:cxnLst/>
          <a:rect l="0" t="0" r="0" b="0"/>
          <a:pathLst>
            <a:path>
              <a:moveTo>
                <a:pt x="0" y="18127"/>
              </a:moveTo>
              <a:lnTo>
                <a:pt x="706389" y="18127"/>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1194427" y="1524023"/>
        <a:ext cx="35319" cy="35319"/>
      </dsp:txXfrm>
    </dsp:sp>
    <dsp:sp modelId="{36038EC8-F936-4200-8171-B797C20FB0DE}">
      <dsp:nvSpPr>
        <dsp:cNvPr id="0" name=""/>
        <dsp:cNvSpPr/>
      </dsp:nvSpPr>
      <dsp:spPr>
        <a:xfrm>
          <a:off x="1413784" y="1579501"/>
          <a:ext cx="1008484" cy="50424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kumimoji="1" lang="en-US" altLang="ja-JP" sz="1100" kern="1200" dirty="0"/>
            <a:t>CF</a:t>
          </a:r>
          <a:r>
            <a:rPr kumimoji="1" lang="ja-JP" altLang="en-US" sz="1100" kern="1200" dirty="0"/>
            <a:t>の維持</a:t>
          </a:r>
        </a:p>
      </dsp:txBody>
      <dsp:txXfrm>
        <a:off x="1428553" y="1594270"/>
        <a:ext cx="978946" cy="474704"/>
      </dsp:txXfrm>
    </dsp:sp>
    <dsp:sp modelId="{30047EFC-A2CD-406F-80B6-BEAA3A345BFA}">
      <dsp:nvSpPr>
        <dsp:cNvPr id="0" name=""/>
        <dsp:cNvSpPr/>
      </dsp:nvSpPr>
      <dsp:spPr>
        <a:xfrm rot="19457599">
          <a:off x="2375575" y="1668525"/>
          <a:ext cx="496781" cy="36254"/>
        </a:xfrm>
        <a:custGeom>
          <a:avLst/>
          <a:gdLst/>
          <a:ahLst/>
          <a:cxnLst/>
          <a:rect l="0" t="0" r="0" b="0"/>
          <a:pathLst>
            <a:path>
              <a:moveTo>
                <a:pt x="0" y="18127"/>
              </a:moveTo>
              <a:lnTo>
                <a:pt x="496781" y="18127"/>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2611546" y="1674233"/>
        <a:ext cx="24839" cy="24839"/>
      </dsp:txXfrm>
    </dsp:sp>
    <dsp:sp modelId="{FB6D155B-49A5-4E27-9FB6-77DDD65B19C4}">
      <dsp:nvSpPr>
        <dsp:cNvPr id="0" name=""/>
        <dsp:cNvSpPr/>
      </dsp:nvSpPr>
      <dsp:spPr>
        <a:xfrm>
          <a:off x="2825662" y="1289561"/>
          <a:ext cx="1249129" cy="50424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kumimoji="1" lang="ja-JP" altLang="en-US" sz="1100" kern="1200" dirty="0"/>
            <a:t>売上げの維持</a:t>
          </a:r>
        </a:p>
      </dsp:txBody>
      <dsp:txXfrm>
        <a:off x="2840431" y="1304330"/>
        <a:ext cx="1219591" cy="474704"/>
      </dsp:txXfrm>
    </dsp:sp>
    <dsp:sp modelId="{FADD2413-5495-4184-8B0D-36542D99683C}">
      <dsp:nvSpPr>
        <dsp:cNvPr id="0" name=""/>
        <dsp:cNvSpPr/>
      </dsp:nvSpPr>
      <dsp:spPr>
        <a:xfrm rot="2142401">
          <a:off x="2375575" y="1958464"/>
          <a:ext cx="496781" cy="36254"/>
        </a:xfrm>
        <a:custGeom>
          <a:avLst/>
          <a:gdLst/>
          <a:ahLst/>
          <a:cxnLst/>
          <a:rect l="0" t="0" r="0" b="0"/>
          <a:pathLst>
            <a:path>
              <a:moveTo>
                <a:pt x="0" y="18127"/>
              </a:moveTo>
              <a:lnTo>
                <a:pt x="496781" y="18127"/>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2611546" y="1964172"/>
        <a:ext cx="24839" cy="24839"/>
      </dsp:txXfrm>
    </dsp:sp>
    <dsp:sp modelId="{9810358F-A69D-4711-ACC2-BF5433C28963}">
      <dsp:nvSpPr>
        <dsp:cNvPr id="0" name=""/>
        <dsp:cNvSpPr/>
      </dsp:nvSpPr>
      <dsp:spPr>
        <a:xfrm>
          <a:off x="2825662" y="1869440"/>
          <a:ext cx="1249129" cy="50424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kumimoji="1" lang="ja-JP" altLang="en-US" sz="1100" kern="1200" dirty="0"/>
            <a:t>コストの最適化</a:t>
          </a:r>
        </a:p>
      </dsp:txBody>
      <dsp:txXfrm>
        <a:off x="2840431" y="1884209"/>
        <a:ext cx="1219591" cy="47470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994B25-9465-45BE-B9C7-1217E6DAF739}">
      <dsp:nvSpPr>
        <dsp:cNvPr id="0" name=""/>
        <dsp:cNvSpPr/>
      </dsp:nvSpPr>
      <dsp:spPr>
        <a:xfrm>
          <a:off x="26589" y="1145890"/>
          <a:ext cx="996260" cy="49813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kumimoji="1" lang="ja-JP" altLang="en-US" sz="1200" kern="1200" dirty="0"/>
            <a:t>衰退期の目標</a:t>
          </a:r>
        </a:p>
      </dsp:txBody>
      <dsp:txXfrm>
        <a:off x="41179" y="1160480"/>
        <a:ext cx="967080" cy="468950"/>
      </dsp:txXfrm>
    </dsp:sp>
    <dsp:sp modelId="{0CDEE9BD-21EC-4762-A2C0-D98281BCB887}">
      <dsp:nvSpPr>
        <dsp:cNvPr id="0" name=""/>
        <dsp:cNvSpPr/>
      </dsp:nvSpPr>
      <dsp:spPr>
        <a:xfrm rot="17754070">
          <a:off x="765960" y="966725"/>
          <a:ext cx="912284" cy="35815"/>
        </a:xfrm>
        <a:custGeom>
          <a:avLst/>
          <a:gdLst/>
          <a:ahLst/>
          <a:cxnLst/>
          <a:rect l="0" t="0" r="0" b="0"/>
          <a:pathLst>
            <a:path>
              <a:moveTo>
                <a:pt x="0" y="17907"/>
              </a:moveTo>
              <a:lnTo>
                <a:pt x="912284" y="17907"/>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1199295" y="961826"/>
        <a:ext cx="45614" cy="45614"/>
      </dsp:txXfrm>
    </dsp:sp>
    <dsp:sp modelId="{B252953B-9161-4CBE-B01A-3D9613664736}">
      <dsp:nvSpPr>
        <dsp:cNvPr id="0" name=""/>
        <dsp:cNvSpPr/>
      </dsp:nvSpPr>
      <dsp:spPr>
        <a:xfrm>
          <a:off x="1421354" y="325245"/>
          <a:ext cx="996260" cy="49813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kumimoji="1" lang="ja-JP" altLang="en-US" sz="1200" kern="1200" dirty="0"/>
            <a:t>支出の削減</a:t>
          </a:r>
        </a:p>
      </dsp:txBody>
      <dsp:txXfrm>
        <a:off x="1435944" y="339835"/>
        <a:ext cx="967080" cy="468950"/>
      </dsp:txXfrm>
    </dsp:sp>
    <dsp:sp modelId="{33B2C0D2-0176-401D-B21B-F775FBB92613}">
      <dsp:nvSpPr>
        <dsp:cNvPr id="0" name=""/>
        <dsp:cNvSpPr/>
      </dsp:nvSpPr>
      <dsp:spPr>
        <a:xfrm rot="19247778">
          <a:off x="2359736" y="393875"/>
          <a:ext cx="514262" cy="35815"/>
        </a:xfrm>
        <a:custGeom>
          <a:avLst/>
          <a:gdLst/>
          <a:ahLst/>
          <a:cxnLst/>
          <a:rect l="0" t="0" r="0" b="0"/>
          <a:pathLst>
            <a:path>
              <a:moveTo>
                <a:pt x="0" y="17907"/>
              </a:moveTo>
              <a:lnTo>
                <a:pt x="514262" y="17907"/>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2604011" y="398927"/>
        <a:ext cx="25713" cy="25713"/>
      </dsp:txXfrm>
    </dsp:sp>
    <dsp:sp modelId="{2559401F-C661-4B98-81E3-9DED8E3A0C80}">
      <dsp:nvSpPr>
        <dsp:cNvPr id="0" name=""/>
        <dsp:cNvSpPr/>
      </dsp:nvSpPr>
      <dsp:spPr>
        <a:xfrm>
          <a:off x="2816119" y="191"/>
          <a:ext cx="1233988" cy="49813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kumimoji="1" lang="ja-JP" altLang="en-US" sz="1200" kern="1200" dirty="0"/>
            <a:t>原価の削減</a:t>
          </a:r>
        </a:p>
      </dsp:txBody>
      <dsp:txXfrm>
        <a:off x="2830709" y="14781"/>
        <a:ext cx="1204808" cy="468950"/>
      </dsp:txXfrm>
    </dsp:sp>
    <dsp:sp modelId="{36D154D0-C922-4C54-9C7A-18F92061FB8F}">
      <dsp:nvSpPr>
        <dsp:cNvPr id="0" name=""/>
        <dsp:cNvSpPr/>
      </dsp:nvSpPr>
      <dsp:spPr>
        <a:xfrm rot="1912432">
          <a:off x="2382236" y="680300"/>
          <a:ext cx="469263" cy="35815"/>
        </a:xfrm>
        <a:custGeom>
          <a:avLst/>
          <a:gdLst/>
          <a:ahLst/>
          <a:cxnLst/>
          <a:rect l="0" t="0" r="0" b="0"/>
          <a:pathLst>
            <a:path>
              <a:moveTo>
                <a:pt x="0" y="17907"/>
              </a:moveTo>
              <a:lnTo>
                <a:pt x="469263" y="17907"/>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2605136" y="686477"/>
        <a:ext cx="23463" cy="23463"/>
      </dsp:txXfrm>
    </dsp:sp>
    <dsp:sp modelId="{827001A5-24EF-496C-8EE2-B687D01CED05}">
      <dsp:nvSpPr>
        <dsp:cNvPr id="0" name=""/>
        <dsp:cNvSpPr/>
      </dsp:nvSpPr>
      <dsp:spPr>
        <a:xfrm>
          <a:off x="2816119" y="573040"/>
          <a:ext cx="1233988" cy="49813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kumimoji="1" lang="ja-JP" altLang="en-US" sz="1200" kern="1200" dirty="0"/>
            <a:t>販管費の削減</a:t>
          </a:r>
        </a:p>
      </dsp:txBody>
      <dsp:txXfrm>
        <a:off x="2830709" y="587630"/>
        <a:ext cx="1204808" cy="468950"/>
      </dsp:txXfrm>
    </dsp:sp>
    <dsp:sp modelId="{691D250B-061D-4559-9AFF-9D029BEAB8E6}">
      <dsp:nvSpPr>
        <dsp:cNvPr id="0" name=""/>
        <dsp:cNvSpPr/>
      </dsp:nvSpPr>
      <dsp:spPr>
        <a:xfrm rot="938575">
          <a:off x="1015186" y="1432841"/>
          <a:ext cx="413832" cy="35815"/>
        </a:xfrm>
        <a:custGeom>
          <a:avLst/>
          <a:gdLst/>
          <a:ahLst/>
          <a:cxnLst/>
          <a:rect l="0" t="0" r="0" b="0"/>
          <a:pathLst>
            <a:path>
              <a:moveTo>
                <a:pt x="0" y="17907"/>
              </a:moveTo>
              <a:lnTo>
                <a:pt x="413832" y="17907"/>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1211756" y="1440403"/>
        <a:ext cx="20691" cy="20691"/>
      </dsp:txXfrm>
    </dsp:sp>
    <dsp:sp modelId="{36038EC8-F936-4200-8171-B797C20FB0DE}">
      <dsp:nvSpPr>
        <dsp:cNvPr id="0" name=""/>
        <dsp:cNvSpPr/>
      </dsp:nvSpPr>
      <dsp:spPr>
        <a:xfrm>
          <a:off x="1421354" y="1257476"/>
          <a:ext cx="996260" cy="49813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kumimoji="1" lang="ja-JP" altLang="en-US" sz="1200" kern="1200" dirty="0"/>
            <a:t>利益の維持</a:t>
          </a:r>
        </a:p>
      </dsp:txBody>
      <dsp:txXfrm>
        <a:off x="1435944" y="1272066"/>
        <a:ext cx="967080" cy="468950"/>
      </dsp:txXfrm>
    </dsp:sp>
    <dsp:sp modelId="{30047EFC-A2CD-406F-80B6-BEAA3A345BFA}">
      <dsp:nvSpPr>
        <dsp:cNvPr id="0" name=""/>
        <dsp:cNvSpPr/>
      </dsp:nvSpPr>
      <dsp:spPr>
        <a:xfrm rot="20661425">
          <a:off x="2409951" y="1432841"/>
          <a:ext cx="413832" cy="35815"/>
        </a:xfrm>
        <a:custGeom>
          <a:avLst/>
          <a:gdLst/>
          <a:ahLst/>
          <a:cxnLst/>
          <a:rect l="0" t="0" r="0" b="0"/>
          <a:pathLst>
            <a:path>
              <a:moveTo>
                <a:pt x="0" y="17907"/>
              </a:moveTo>
              <a:lnTo>
                <a:pt x="413832" y="17907"/>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2606521" y="1440403"/>
        <a:ext cx="20691" cy="20691"/>
      </dsp:txXfrm>
    </dsp:sp>
    <dsp:sp modelId="{FB6D155B-49A5-4E27-9FB6-77DDD65B19C4}">
      <dsp:nvSpPr>
        <dsp:cNvPr id="0" name=""/>
        <dsp:cNvSpPr/>
      </dsp:nvSpPr>
      <dsp:spPr>
        <a:xfrm>
          <a:off x="2816119" y="1145890"/>
          <a:ext cx="1233988" cy="49813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kumimoji="1" lang="ja-JP" altLang="en-US" sz="1200" kern="1200" dirty="0"/>
            <a:t>販売拡大</a:t>
          </a:r>
        </a:p>
      </dsp:txBody>
      <dsp:txXfrm>
        <a:off x="2830709" y="1160480"/>
        <a:ext cx="1204808" cy="468950"/>
      </dsp:txXfrm>
    </dsp:sp>
    <dsp:sp modelId="{FADD2413-5495-4184-8B0D-36542D99683C}">
      <dsp:nvSpPr>
        <dsp:cNvPr id="0" name=""/>
        <dsp:cNvSpPr/>
      </dsp:nvSpPr>
      <dsp:spPr>
        <a:xfrm rot="2950497">
          <a:off x="2312084" y="1719266"/>
          <a:ext cx="609565" cy="35815"/>
        </a:xfrm>
        <a:custGeom>
          <a:avLst/>
          <a:gdLst/>
          <a:ahLst/>
          <a:cxnLst/>
          <a:rect l="0" t="0" r="0" b="0"/>
          <a:pathLst>
            <a:path>
              <a:moveTo>
                <a:pt x="0" y="17907"/>
              </a:moveTo>
              <a:lnTo>
                <a:pt x="609565" y="17907"/>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2601628" y="1721934"/>
        <a:ext cx="30478" cy="30478"/>
      </dsp:txXfrm>
    </dsp:sp>
    <dsp:sp modelId="{9810358F-A69D-4711-ACC2-BF5433C28963}">
      <dsp:nvSpPr>
        <dsp:cNvPr id="0" name=""/>
        <dsp:cNvSpPr/>
      </dsp:nvSpPr>
      <dsp:spPr>
        <a:xfrm>
          <a:off x="2816119" y="1718740"/>
          <a:ext cx="1233988" cy="49813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kumimoji="1" lang="ja-JP" altLang="en-US" sz="1200" kern="1200" dirty="0"/>
            <a:t>販売縮小</a:t>
          </a:r>
        </a:p>
      </dsp:txBody>
      <dsp:txXfrm>
        <a:off x="2830709" y="1733330"/>
        <a:ext cx="1204808" cy="468950"/>
      </dsp:txXfrm>
    </dsp:sp>
    <dsp:sp modelId="{1FFBF06F-7803-40AA-8B05-8A45182D3DE3}">
      <dsp:nvSpPr>
        <dsp:cNvPr id="0" name=""/>
        <dsp:cNvSpPr/>
      </dsp:nvSpPr>
      <dsp:spPr>
        <a:xfrm rot="3907470">
          <a:off x="748423" y="1806781"/>
          <a:ext cx="947358" cy="35815"/>
        </a:xfrm>
        <a:custGeom>
          <a:avLst/>
          <a:gdLst/>
          <a:ahLst/>
          <a:cxnLst/>
          <a:rect l="0" t="0" r="0" b="0"/>
          <a:pathLst>
            <a:path>
              <a:moveTo>
                <a:pt x="0" y="17907"/>
              </a:moveTo>
              <a:lnTo>
                <a:pt x="947358" y="17907"/>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1198418" y="1801004"/>
        <a:ext cx="47367" cy="47367"/>
      </dsp:txXfrm>
    </dsp:sp>
    <dsp:sp modelId="{945BFB73-39BD-4A65-B31F-14720F791DC9}">
      <dsp:nvSpPr>
        <dsp:cNvPr id="0" name=""/>
        <dsp:cNvSpPr/>
      </dsp:nvSpPr>
      <dsp:spPr>
        <a:xfrm>
          <a:off x="1421354" y="2005356"/>
          <a:ext cx="996260" cy="49813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kumimoji="1" lang="ja-JP" altLang="en-US" sz="1200" kern="1200" dirty="0"/>
            <a:t>出口戦略</a:t>
          </a:r>
        </a:p>
      </dsp:txBody>
      <dsp:txXfrm>
        <a:off x="1435944" y="2019946"/>
        <a:ext cx="967080" cy="46895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D25CD4-97A0-4A8B-8B68-79239C598E73}" type="datetimeFigureOut">
              <a:rPr kumimoji="1" lang="ja-JP" altLang="en-US" smtClean="0"/>
              <a:t>2026/4/15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FED925-DE13-4A90-A87A-3369165250F3}" type="slidenum">
              <a:rPr kumimoji="1" lang="ja-JP" altLang="en-US" smtClean="0"/>
              <a:t>‹#›</a:t>
            </a:fld>
            <a:endParaRPr kumimoji="1" lang="ja-JP" altLang="en-US"/>
          </a:p>
        </p:txBody>
      </p:sp>
    </p:spTree>
    <p:extLst>
      <p:ext uri="{BB962C8B-B14F-4D97-AF65-F5344CB8AC3E}">
        <p14:creationId xmlns:p14="http://schemas.microsoft.com/office/powerpoint/2010/main" val="375710628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GAFAM</a:t>
            </a:r>
            <a:r>
              <a:rPr kumimoji="1" lang="ja-JP" altLang="en-US" dirty="0"/>
              <a:t>が上に来そう、一般的かつ企業の認知度が高い</a:t>
            </a:r>
            <a:r>
              <a:rPr kumimoji="1" lang="en-US" altLang="ja-JP" dirty="0"/>
              <a:t>Microsoft</a:t>
            </a:r>
            <a:r>
              <a:rPr kumimoji="1" lang="ja-JP" altLang="en-US" dirty="0"/>
              <a:t>がトップ</a:t>
            </a:r>
            <a:endParaRPr kumimoji="1" lang="en-US" altLang="ja-JP" dirty="0"/>
          </a:p>
          <a:p>
            <a:r>
              <a:rPr kumimoji="1" lang="en-US" altLang="ja-JP" dirty="0"/>
              <a:t>SONY</a:t>
            </a:r>
            <a:r>
              <a:rPr kumimoji="1" lang="ja-JP" altLang="en-US" dirty="0"/>
              <a:t>、日産、ファーストリテイリングで迷ったが、多角的企業であり、法人・個人の両方に関わっている</a:t>
            </a:r>
            <a:r>
              <a:rPr kumimoji="1" lang="en-US" altLang="ja-JP" dirty="0"/>
              <a:t>SONY</a:t>
            </a:r>
            <a:r>
              <a:rPr kumimoji="1" lang="ja-JP" altLang="en-US" dirty="0"/>
              <a:t>を選んだ</a:t>
            </a:r>
          </a:p>
        </p:txBody>
      </p:sp>
      <p:sp>
        <p:nvSpPr>
          <p:cNvPr id="4" name="スライド番号プレースホルダー 3"/>
          <p:cNvSpPr>
            <a:spLocks noGrp="1"/>
          </p:cNvSpPr>
          <p:nvPr>
            <p:ph type="sldNum" sz="quarter" idx="5"/>
          </p:nvPr>
        </p:nvSpPr>
        <p:spPr/>
        <p:txBody>
          <a:bodyPr/>
          <a:lstStyle/>
          <a:p>
            <a:fld id="{C7FED925-DE13-4A90-A87A-3369165250F3}" type="slidenum">
              <a:rPr kumimoji="1" lang="ja-JP" altLang="en-US" smtClean="0"/>
              <a:t>1</a:t>
            </a:fld>
            <a:endParaRPr kumimoji="1" lang="ja-JP" altLang="en-US"/>
          </a:p>
        </p:txBody>
      </p:sp>
    </p:spTree>
    <p:extLst>
      <p:ext uri="{BB962C8B-B14F-4D97-AF65-F5344CB8AC3E}">
        <p14:creationId xmlns:p14="http://schemas.microsoft.com/office/powerpoint/2010/main" val="33997589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それぞれの事業の</a:t>
            </a:r>
            <a:r>
              <a:rPr kumimoji="1" lang="en-US" altLang="ja-JP" dirty="0"/>
              <a:t>2022</a:t>
            </a:r>
            <a:r>
              <a:rPr kumimoji="1" lang="ja-JP" altLang="en-US" dirty="0"/>
              <a:t>までの変化と今後の見通しを述べる。（事業ごと、時間軸で切り分け）</a:t>
            </a:r>
          </a:p>
        </p:txBody>
      </p:sp>
      <p:sp>
        <p:nvSpPr>
          <p:cNvPr id="4" name="スライド番号プレースホルダー 3"/>
          <p:cNvSpPr>
            <a:spLocks noGrp="1"/>
          </p:cNvSpPr>
          <p:nvPr>
            <p:ph type="sldNum" sz="quarter" idx="5"/>
          </p:nvPr>
        </p:nvSpPr>
        <p:spPr/>
        <p:txBody>
          <a:bodyPr/>
          <a:lstStyle/>
          <a:p>
            <a:fld id="{C7FED925-DE13-4A90-A87A-3369165250F3}" type="slidenum">
              <a:rPr kumimoji="1" lang="ja-JP" altLang="en-US" smtClean="0"/>
              <a:t>6</a:t>
            </a:fld>
            <a:endParaRPr kumimoji="1" lang="ja-JP" altLang="en-US"/>
          </a:p>
        </p:txBody>
      </p:sp>
    </p:spTree>
    <p:extLst>
      <p:ext uri="{BB962C8B-B14F-4D97-AF65-F5344CB8AC3E}">
        <p14:creationId xmlns:p14="http://schemas.microsoft.com/office/powerpoint/2010/main" val="41325134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285750" indent="-285750">
              <a:buFont typeface="Arial" panose="020B0604020202020204" pitchFamily="34" charset="0"/>
              <a:buChar char="•"/>
            </a:pPr>
            <a:r>
              <a:rPr lang="en-US" altLang="ja-JP" sz="1200" dirty="0">
                <a:solidFill>
                  <a:schemeClr val="tx1">
                    <a:lumMod val="75000"/>
                    <a:lumOff val="25000"/>
                  </a:schemeClr>
                </a:solidFill>
              </a:rPr>
              <a:t>B</a:t>
            </a:r>
            <a:r>
              <a:rPr lang="ja-JP" altLang="en-US" sz="1200" dirty="0">
                <a:solidFill>
                  <a:schemeClr val="tx1">
                    <a:lumMod val="75000"/>
                    <a:lumOff val="25000"/>
                  </a:schemeClr>
                </a:solidFill>
              </a:rPr>
              <a:t>社の累積生産台数逆転には長期を要し、かつ</a:t>
            </a:r>
            <a:r>
              <a:rPr lang="en-US" altLang="ja-JP" sz="1200" dirty="0">
                <a:solidFill>
                  <a:schemeClr val="tx1">
                    <a:lumMod val="75000"/>
                    <a:lumOff val="25000"/>
                  </a:schemeClr>
                </a:solidFill>
              </a:rPr>
              <a:t>B</a:t>
            </a:r>
            <a:r>
              <a:rPr lang="ja-JP" altLang="en-US" sz="1200" dirty="0">
                <a:solidFill>
                  <a:schemeClr val="tx1">
                    <a:lumMod val="75000"/>
                    <a:lumOff val="25000"/>
                  </a:schemeClr>
                </a:solidFill>
              </a:rPr>
              <a:t>社は赤字状態が続くため市場退場の可能性が高い。</a:t>
            </a:r>
            <a:endParaRPr lang="en-US" altLang="ja-JP" sz="1200" dirty="0">
              <a:solidFill>
                <a:schemeClr val="tx1">
                  <a:lumMod val="75000"/>
                  <a:lumOff val="25000"/>
                </a:schemeClr>
              </a:solidFill>
            </a:endParaRPr>
          </a:p>
          <a:p>
            <a:pPr marL="285750" indent="-285750">
              <a:buFont typeface="Arial" panose="020B0604020202020204" pitchFamily="34" charset="0"/>
              <a:buChar char="•"/>
            </a:pPr>
            <a:r>
              <a:rPr lang="ja-JP" altLang="en-US" sz="1200" dirty="0">
                <a:solidFill>
                  <a:schemeClr val="tx1">
                    <a:lumMod val="75000"/>
                    <a:lumOff val="25000"/>
                  </a:schemeClr>
                </a:solidFill>
              </a:rPr>
              <a:t>値下げ追随は不要。</a:t>
            </a:r>
            <a:endParaRPr kumimoji="1" lang="ja-JP" altLang="en-US" sz="1200" dirty="0">
              <a:solidFill>
                <a:schemeClr val="tx1">
                  <a:lumMod val="75000"/>
                  <a:lumOff val="25000"/>
                </a:schemeClr>
              </a:solidFill>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C7FED925-DE13-4A90-A87A-3369165250F3}" type="slidenum">
              <a:rPr kumimoji="1" lang="ja-JP" altLang="en-US" smtClean="0"/>
              <a:t>12</a:t>
            </a:fld>
            <a:endParaRPr kumimoji="1" lang="ja-JP" altLang="en-US"/>
          </a:p>
        </p:txBody>
      </p:sp>
    </p:spTree>
    <p:extLst>
      <p:ext uri="{BB962C8B-B14F-4D97-AF65-F5344CB8AC3E}">
        <p14:creationId xmlns:p14="http://schemas.microsoft.com/office/powerpoint/2010/main" val="18061961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E6D315-CFA7-F18F-5611-0E390411DD47}"/>
              </a:ext>
            </a:extLst>
          </p:cNvPr>
          <p:cNvSpPr>
            <a:spLocks noGrp="1"/>
          </p:cNvSpPr>
          <p:nvPr>
            <p:ph type="title" hasCustomPrompt="1"/>
          </p:nvPr>
        </p:nvSpPr>
        <p:spPr>
          <a:xfrm>
            <a:off x="317241" y="131860"/>
            <a:ext cx="11551298" cy="474630"/>
          </a:xfrm>
        </p:spPr>
        <p:txBody>
          <a:bodyPr/>
          <a:lstStyle>
            <a:lvl1pPr>
              <a:defRPr sz="2400">
                <a:solidFill>
                  <a:schemeClr val="accent1"/>
                </a:solidFill>
                <a:latin typeface="Meiryo UI" panose="020B0604030504040204" pitchFamily="50" charset="-128"/>
                <a:ea typeface="Meiryo UI" panose="020B0604030504040204" pitchFamily="50" charset="-128"/>
              </a:defRPr>
            </a:lvl1pPr>
          </a:lstStyle>
          <a:p>
            <a:r>
              <a:rPr kumimoji="1" lang="ja-JP" altLang="en-US" dirty="0"/>
              <a:t>スライドメッセージ</a:t>
            </a:r>
          </a:p>
        </p:txBody>
      </p:sp>
      <p:sp>
        <p:nvSpPr>
          <p:cNvPr id="3" name="日付プレースホルダー 2">
            <a:extLst>
              <a:ext uri="{FF2B5EF4-FFF2-40B4-BE49-F238E27FC236}">
                <a16:creationId xmlns:a16="http://schemas.microsoft.com/office/drawing/2014/main" id="{7FDA7B0C-E626-8C86-C3F9-6029BC54B71E}"/>
              </a:ext>
            </a:extLst>
          </p:cNvPr>
          <p:cNvSpPr>
            <a:spLocks noGrp="1"/>
          </p:cNvSpPr>
          <p:nvPr>
            <p:ph type="dt" sz="half" idx="10"/>
          </p:nvPr>
        </p:nvSpPr>
        <p:spPr>
          <a:xfrm>
            <a:off x="838200" y="6356351"/>
            <a:ext cx="2743200" cy="171858"/>
          </a:xfrm>
        </p:spPr>
        <p:txBody>
          <a:bodyPr/>
          <a:lstStyle>
            <a:lvl1pPr>
              <a:defRPr>
                <a:latin typeface="Meiryo UI" panose="020B0604030504040204" pitchFamily="50" charset="-128"/>
                <a:ea typeface="Meiryo UI" panose="020B0604030504040204" pitchFamily="50" charset="-128"/>
              </a:defRPr>
            </a:lvl1pPr>
          </a:lstStyle>
          <a:p>
            <a:fld id="{C01B8CA8-A7CC-40E4-8ED6-81B4D5F9400B}" type="datetimeFigureOut">
              <a:rPr lang="ja-JP" altLang="en-US" smtClean="0"/>
              <a:pPr/>
              <a:t>2026/4/15</a:t>
            </a:fld>
            <a:endParaRPr lang="ja-JP" altLang="en-US"/>
          </a:p>
        </p:txBody>
      </p:sp>
      <p:sp>
        <p:nvSpPr>
          <p:cNvPr id="4" name="フッター プレースホルダー 3">
            <a:extLst>
              <a:ext uri="{FF2B5EF4-FFF2-40B4-BE49-F238E27FC236}">
                <a16:creationId xmlns:a16="http://schemas.microsoft.com/office/drawing/2014/main" id="{6BFC6DE0-39C8-6F03-0152-8578F7BA9AC8}"/>
              </a:ext>
            </a:extLst>
          </p:cNvPr>
          <p:cNvSpPr>
            <a:spLocks noGrp="1"/>
          </p:cNvSpPr>
          <p:nvPr>
            <p:ph type="ftr" sz="quarter" idx="11"/>
          </p:nvPr>
        </p:nvSpPr>
        <p:spPr>
          <a:xfrm>
            <a:off x="4038600" y="6356351"/>
            <a:ext cx="4114800" cy="171858"/>
          </a:xfrm>
        </p:spPr>
        <p:txBody>
          <a:bodyPr/>
          <a:lstStyle>
            <a:lvl1pPr>
              <a:defRPr>
                <a:latin typeface="Meiryo UI" panose="020B0604030504040204" pitchFamily="50" charset="-128"/>
                <a:ea typeface="Meiryo UI" panose="020B0604030504040204" pitchFamily="50" charset="-128"/>
              </a:defRPr>
            </a:lvl1pPr>
          </a:lstStyle>
          <a:p>
            <a:endParaRPr lang="ja-JP" altLang="en-US"/>
          </a:p>
        </p:txBody>
      </p:sp>
      <p:sp>
        <p:nvSpPr>
          <p:cNvPr id="5" name="スライド番号プレースホルダー 4">
            <a:extLst>
              <a:ext uri="{FF2B5EF4-FFF2-40B4-BE49-F238E27FC236}">
                <a16:creationId xmlns:a16="http://schemas.microsoft.com/office/drawing/2014/main" id="{59BE49F0-AEDB-0D71-7A52-F96FE8285EF9}"/>
              </a:ext>
            </a:extLst>
          </p:cNvPr>
          <p:cNvSpPr>
            <a:spLocks noGrp="1"/>
          </p:cNvSpPr>
          <p:nvPr>
            <p:ph type="sldNum" sz="quarter" idx="12"/>
          </p:nvPr>
        </p:nvSpPr>
        <p:spPr>
          <a:xfrm>
            <a:off x="8610600" y="6356351"/>
            <a:ext cx="2743200" cy="171858"/>
          </a:xfrm>
        </p:spPr>
        <p:txBody>
          <a:bodyPr/>
          <a:lstStyle>
            <a:lvl1pPr>
              <a:defRPr>
                <a:latin typeface="Meiryo UI" panose="020B0604030504040204" pitchFamily="50" charset="-128"/>
                <a:ea typeface="Meiryo UI" panose="020B0604030504040204" pitchFamily="50" charset="-128"/>
              </a:defRPr>
            </a:lvl1pPr>
          </a:lstStyle>
          <a:p>
            <a:fld id="{09DA963F-7807-4395-8A58-DD707CA51887}" type="slidenum">
              <a:rPr lang="ja-JP" altLang="en-US" smtClean="0"/>
              <a:pPr/>
              <a:t>‹#›</a:t>
            </a:fld>
            <a:endParaRPr lang="ja-JP" altLang="en-US"/>
          </a:p>
        </p:txBody>
      </p:sp>
      <p:sp>
        <p:nvSpPr>
          <p:cNvPr id="6" name="コンテンツ プレースホルダー 6">
            <a:extLst>
              <a:ext uri="{FF2B5EF4-FFF2-40B4-BE49-F238E27FC236}">
                <a16:creationId xmlns:a16="http://schemas.microsoft.com/office/drawing/2014/main" id="{05896C3B-FD85-59A7-4E4A-0D29E197E4DE}"/>
              </a:ext>
            </a:extLst>
          </p:cNvPr>
          <p:cNvSpPr>
            <a:spLocks noGrp="1"/>
          </p:cNvSpPr>
          <p:nvPr>
            <p:ph sz="quarter" idx="13" hasCustomPrompt="1"/>
          </p:nvPr>
        </p:nvSpPr>
        <p:spPr>
          <a:xfrm>
            <a:off x="317241" y="672225"/>
            <a:ext cx="11591536" cy="783351"/>
          </a:xfrm>
        </p:spPr>
        <p:txBody>
          <a:bodyPr>
            <a:normAutofit/>
          </a:bodyPr>
          <a:lstStyle>
            <a:lvl1pPr>
              <a:defRPr sz="1800">
                <a:solidFill>
                  <a:schemeClr val="bg2">
                    <a:lumMod val="25000"/>
                  </a:schemeClr>
                </a:solidFill>
                <a:latin typeface="Meiryo UI" panose="020B0604030504040204" pitchFamily="50" charset="-128"/>
                <a:ea typeface="Meiryo UI" panose="020B0604030504040204" pitchFamily="50" charset="-128"/>
              </a:defRPr>
            </a:lvl1pPr>
          </a:lstStyle>
          <a:p>
            <a:pPr lvl="0"/>
            <a:r>
              <a:rPr kumimoji="1" lang="ja-JP" altLang="en-US" dirty="0"/>
              <a:t>概要①</a:t>
            </a:r>
            <a:endParaRPr kumimoji="1" lang="en-US" altLang="ja-JP" dirty="0"/>
          </a:p>
          <a:p>
            <a:pPr lvl="0"/>
            <a:r>
              <a:rPr kumimoji="1" lang="ja-JP" altLang="en-US" dirty="0"/>
              <a:t>概要②</a:t>
            </a:r>
          </a:p>
        </p:txBody>
      </p:sp>
      <p:sp>
        <p:nvSpPr>
          <p:cNvPr id="7" name="コンテンツ プレースホルダー 6">
            <a:extLst>
              <a:ext uri="{FF2B5EF4-FFF2-40B4-BE49-F238E27FC236}">
                <a16:creationId xmlns:a16="http://schemas.microsoft.com/office/drawing/2014/main" id="{1241F936-A09D-5A21-68FF-0035A12F523E}"/>
              </a:ext>
            </a:extLst>
          </p:cNvPr>
          <p:cNvSpPr>
            <a:spLocks noGrp="1"/>
          </p:cNvSpPr>
          <p:nvPr>
            <p:ph sz="quarter" idx="14" hasCustomPrompt="1"/>
          </p:nvPr>
        </p:nvSpPr>
        <p:spPr>
          <a:xfrm>
            <a:off x="317241" y="1455576"/>
            <a:ext cx="11591536" cy="4730198"/>
          </a:xfrm>
        </p:spPr>
        <p:txBody>
          <a:bodyPr>
            <a:normAutofit/>
          </a:bodyPr>
          <a:lstStyle>
            <a:lvl1pPr>
              <a:defRPr sz="1600">
                <a:solidFill>
                  <a:schemeClr val="bg2">
                    <a:lumMod val="25000"/>
                  </a:schemeClr>
                </a:solidFill>
                <a:latin typeface="Meiryo UI" panose="020B0604030504040204" pitchFamily="50" charset="-128"/>
                <a:ea typeface="Meiryo UI" panose="020B0604030504040204" pitchFamily="50" charset="-128"/>
              </a:defRPr>
            </a:lvl1pPr>
            <a:lvl2pPr>
              <a:buFont typeface="Wingdings" panose="05000000000000000000" pitchFamily="2" charset="2"/>
              <a:buChar char="Ø"/>
              <a:defRPr sz="1400">
                <a:solidFill>
                  <a:schemeClr val="bg2">
                    <a:lumMod val="25000"/>
                  </a:schemeClr>
                </a:solidFill>
                <a:latin typeface="Meiryo UI" panose="020B0604030504040204" pitchFamily="50" charset="-128"/>
                <a:ea typeface="Meiryo UI" panose="020B0604030504040204" pitchFamily="50" charset="-128"/>
              </a:defRPr>
            </a:lvl2pPr>
          </a:lstStyle>
          <a:p>
            <a:pPr lvl="0"/>
            <a:r>
              <a:rPr kumimoji="1" lang="ja-JP" altLang="en-US" dirty="0"/>
              <a:t>インデント①</a:t>
            </a:r>
            <a:endParaRPr kumimoji="1" lang="en-US" altLang="ja-JP" dirty="0"/>
          </a:p>
          <a:p>
            <a:pPr lvl="1"/>
            <a:r>
              <a:rPr kumimoji="1" lang="ja-JP" altLang="en-US" dirty="0"/>
              <a:t>インデント②</a:t>
            </a:r>
          </a:p>
        </p:txBody>
      </p:sp>
    </p:spTree>
    <p:extLst>
      <p:ext uri="{BB962C8B-B14F-4D97-AF65-F5344CB8AC3E}">
        <p14:creationId xmlns:p14="http://schemas.microsoft.com/office/powerpoint/2010/main" val="3484750496"/>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A764A8A-05EF-FF45-EC95-3A9C5909D1E2}"/>
              </a:ext>
            </a:extLst>
          </p:cNvPr>
          <p:cNvSpPr>
            <a:spLocks noGrp="1"/>
          </p:cNvSpPr>
          <p:nvPr>
            <p:ph type="title"/>
          </p:nvPr>
        </p:nvSpPr>
        <p:spPr>
          <a:xfrm>
            <a:off x="317241" y="131860"/>
            <a:ext cx="11551298" cy="474630"/>
          </a:xfrm>
          <a:prstGeom prst="rect">
            <a:avLst/>
          </a:prstGeom>
        </p:spPr>
        <p:txBody>
          <a:bodyPr vert="horz" lIns="91440" tIns="45720" rIns="91440" bIns="45720" rtlCol="0" anchor="ctr">
            <a:noAutofit/>
          </a:bodyPr>
          <a:lstStyle/>
          <a:p>
            <a:r>
              <a:rPr kumimoji="1" lang="ja-JP" altLang="en-US" dirty="0"/>
              <a:t>スライドメッセージ</a:t>
            </a:r>
          </a:p>
        </p:txBody>
      </p:sp>
      <p:sp>
        <p:nvSpPr>
          <p:cNvPr id="3" name="テキスト プレースホルダー 2">
            <a:extLst>
              <a:ext uri="{FF2B5EF4-FFF2-40B4-BE49-F238E27FC236}">
                <a16:creationId xmlns:a16="http://schemas.microsoft.com/office/drawing/2014/main" id="{ED3FD47D-708A-7F8E-1E52-F5921F5509E5}"/>
              </a:ext>
            </a:extLst>
          </p:cNvPr>
          <p:cNvSpPr>
            <a:spLocks noGrp="1"/>
          </p:cNvSpPr>
          <p:nvPr>
            <p:ph type="body" idx="1"/>
          </p:nvPr>
        </p:nvSpPr>
        <p:spPr>
          <a:xfrm>
            <a:off x="838200" y="1825625"/>
            <a:ext cx="10515600" cy="2048101"/>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62AE49-EF35-CCB1-26EF-AC9D5131B276}"/>
              </a:ext>
            </a:extLst>
          </p:cNvPr>
          <p:cNvSpPr>
            <a:spLocks noGrp="1"/>
          </p:cNvSpPr>
          <p:nvPr>
            <p:ph type="dt" sz="half" idx="2"/>
          </p:nvPr>
        </p:nvSpPr>
        <p:spPr>
          <a:xfrm>
            <a:off x="838200" y="6356351"/>
            <a:ext cx="2743200" cy="171858"/>
          </a:xfrm>
          <a:prstGeom prst="rect">
            <a:avLst/>
          </a:prstGeom>
        </p:spPr>
        <p:txBody>
          <a:bodyPr vert="horz" lIns="91440" tIns="45720" rIns="91440" bIns="45720" rtlCol="0" anchor="ctr"/>
          <a:lstStyle>
            <a:lvl1pPr algn="l">
              <a:defRPr sz="1200">
                <a:solidFill>
                  <a:schemeClr val="tx1">
                    <a:tint val="82000"/>
                  </a:schemeClr>
                </a:solidFill>
                <a:latin typeface="Meiryo UI" panose="020B0604030504040204" pitchFamily="50" charset="-128"/>
                <a:ea typeface="Meiryo UI" panose="020B0604030504040204" pitchFamily="50" charset="-128"/>
              </a:defRPr>
            </a:lvl1pPr>
          </a:lstStyle>
          <a:p>
            <a:fld id="{C01B8CA8-A7CC-40E4-8ED6-81B4D5F9400B}" type="datetimeFigureOut">
              <a:rPr lang="ja-JP" altLang="en-US" smtClean="0"/>
              <a:pPr/>
              <a:t>2026/4/15</a:t>
            </a:fld>
            <a:endParaRPr lang="ja-JP" altLang="en-US"/>
          </a:p>
        </p:txBody>
      </p:sp>
      <p:sp>
        <p:nvSpPr>
          <p:cNvPr id="5" name="フッター プレースホルダー 4">
            <a:extLst>
              <a:ext uri="{FF2B5EF4-FFF2-40B4-BE49-F238E27FC236}">
                <a16:creationId xmlns:a16="http://schemas.microsoft.com/office/drawing/2014/main" id="{291A030F-6976-1B52-C3D0-4273BCA10343}"/>
              </a:ext>
            </a:extLst>
          </p:cNvPr>
          <p:cNvSpPr>
            <a:spLocks noGrp="1"/>
          </p:cNvSpPr>
          <p:nvPr>
            <p:ph type="ftr" sz="quarter" idx="3"/>
          </p:nvPr>
        </p:nvSpPr>
        <p:spPr>
          <a:xfrm>
            <a:off x="4038600" y="6356351"/>
            <a:ext cx="4114800" cy="171858"/>
          </a:xfrm>
          <a:prstGeom prst="rect">
            <a:avLst/>
          </a:prstGeom>
        </p:spPr>
        <p:txBody>
          <a:bodyPr vert="horz" lIns="91440" tIns="45720" rIns="91440" bIns="45720" rtlCol="0" anchor="ctr"/>
          <a:lstStyle>
            <a:lvl1pPr algn="ctr">
              <a:defRPr sz="1200">
                <a:solidFill>
                  <a:schemeClr val="tx1">
                    <a:tint val="82000"/>
                  </a:schemeClr>
                </a:solidFill>
                <a:latin typeface="Meiryo UI" panose="020B0604030504040204" pitchFamily="50" charset="-128"/>
                <a:ea typeface="Meiryo UI" panose="020B0604030504040204" pitchFamily="50" charset="-128"/>
              </a:defRPr>
            </a:lvl1pPr>
          </a:lstStyle>
          <a:p>
            <a:endParaRPr lang="ja-JP" altLang="en-US"/>
          </a:p>
        </p:txBody>
      </p:sp>
      <p:sp>
        <p:nvSpPr>
          <p:cNvPr id="6" name="スライド番号プレースホルダー 5">
            <a:extLst>
              <a:ext uri="{FF2B5EF4-FFF2-40B4-BE49-F238E27FC236}">
                <a16:creationId xmlns:a16="http://schemas.microsoft.com/office/drawing/2014/main" id="{40836DE0-44E5-50EA-C883-68714F6310E6}"/>
              </a:ext>
            </a:extLst>
          </p:cNvPr>
          <p:cNvSpPr>
            <a:spLocks noGrp="1"/>
          </p:cNvSpPr>
          <p:nvPr>
            <p:ph type="sldNum" sz="quarter" idx="4"/>
          </p:nvPr>
        </p:nvSpPr>
        <p:spPr>
          <a:xfrm>
            <a:off x="8610600" y="6356351"/>
            <a:ext cx="2743200" cy="171858"/>
          </a:xfrm>
          <a:prstGeom prst="rect">
            <a:avLst/>
          </a:prstGeom>
        </p:spPr>
        <p:txBody>
          <a:bodyPr vert="horz" lIns="91440" tIns="45720" rIns="91440" bIns="45720" rtlCol="0" anchor="ctr"/>
          <a:lstStyle>
            <a:lvl1pPr algn="r">
              <a:defRPr sz="1200">
                <a:solidFill>
                  <a:schemeClr val="tx1">
                    <a:tint val="82000"/>
                  </a:schemeClr>
                </a:solidFill>
                <a:latin typeface="Meiryo UI" panose="020B0604030504040204" pitchFamily="50" charset="-128"/>
                <a:ea typeface="Meiryo UI" panose="020B0604030504040204" pitchFamily="50" charset="-128"/>
              </a:defRPr>
            </a:lvl1pPr>
          </a:lstStyle>
          <a:p>
            <a:fld id="{09DA963F-7807-4395-8A58-DD707CA51887}" type="slidenum">
              <a:rPr lang="ja-JP" altLang="en-US" smtClean="0"/>
              <a:pPr/>
              <a:t>‹#›</a:t>
            </a:fld>
            <a:endParaRPr lang="ja-JP" altLang="en-US"/>
          </a:p>
        </p:txBody>
      </p:sp>
    </p:spTree>
    <p:extLst>
      <p:ext uri="{BB962C8B-B14F-4D97-AF65-F5344CB8AC3E}">
        <p14:creationId xmlns:p14="http://schemas.microsoft.com/office/powerpoint/2010/main" val="366315266"/>
      </p:ext>
    </p:extLst>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kumimoji="1" sz="3200" kern="1200">
          <a:solidFill>
            <a:schemeClr val="tx2">
              <a:lumMod val="75000"/>
              <a:lumOff val="25000"/>
            </a:schemeClr>
          </a:solidFill>
          <a:latin typeface="Meiryo UI" panose="020B0604030504040204" pitchFamily="50" charset="-128"/>
          <a:ea typeface="Meiryo UI" panose="020B0604030504040204" pitchFamily="50"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eiryo UI" panose="020B0604030504040204" pitchFamily="50" charset="-128"/>
          <a:ea typeface="Meiryo UI"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eiryo UI" panose="020B0604030504040204" pitchFamily="50" charset="-128"/>
          <a:ea typeface="Meiryo UI"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8FEB54-5690-23B1-75AC-6503A0B61491}"/>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5B8254EC-CE83-317C-40EA-083FD87E7307}"/>
              </a:ext>
            </a:extLst>
          </p:cNvPr>
          <p:cNvSpPr>
            <a:spLocks noGrp="1"/>
          </p:cNvSpPr>
          <p:nvPr>
            <p:ph sz="quarter" idx="13"/>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11DFFFDC-7CB3-3F68-17B1-FB41E505CD1F}"/>
              </a:ext>
            </a:extLst>
          </p:cNvPr>
          <p:cNvSpPr>
            <a:spLocks noGrp="1"/>
          </p:cNvSpPr>
          <p:nvPr>
            <p:ph sz="quarter" idx="14"/>
          </p:nvPr>
        </p:nvSpPr>
        <p:spPr/>
        <p:txBody>
          <a:bodyPr>
            <a:normAutofit lnSpcReduction="10000"/>
          </a:bodyPr>
          <a:lstStyle/>
          <a:p>
            <a:pPr marL="0" indent="0">
              <a:buNone/>
            </a:pPr>
            <a:r>
              <a:rPr lang="en-US" altLang="ja-JP" dirty="0"/>
              <a:t>Q</a:t>
            </a:r>
            <a:r>
              <a:rPr lang="ja-JP" altLang="en-US" dirty="0"/>
              <a:t>：グローバル・ブランド・ランキングの空欄を埋めよ</a:t>
            </a:r>
            <a:endParaRPr lang="en-US" altLang="ja-JP" dirty="0"/>
          </a:p>
          <a:p>
            <a:pPr marL="342900" indent="-342900">
              <a:buFont typeface="+mj-lt"/>
              <a:buAutoNum type="arabicPeriod"/>
            </a:pPr>
            <a:r>
              <a:rPr kumimoji="1" lang="en-US" altLang="ja-JP" dirty="0"/>
              <a:t>Apple</a:t>
            </a:r>
          </a:p>
          <a:p>
            <a:pPr marL="342900" indent="-342900">
              <a:buFont typeface="+mj-lt"/>
              <a:buAutoNum type="arabicPeriod"/>
            </a:pPr>
            <a:r>
              <a:rPr lang="en-US" altLang="ja-JP" dirty="0"/>
              <a:t>Microsoft</a:t>
            </a:r>
          </a:p>
          <a:p>
            <a:pPr marL="342900" indent="-342900">
              <a:buFont typeface="+mj-lt"/>
              <a:buAutoNum type="arabicPeriod"/>
            </a:pPr>
            <a:r>
              <a:rPr kumimoji="1" lang="en-US" altLang="ja-JP" dirty="0"/>
              <a:t>Amazon</a:t>
            </a:r>
          </a:p>
          <a:p>
            <a:pPr marL="342900" indent="-342900">
              <a:buFont typeface="+mj-lt"/>
              <a:buAutoNum type="arabicPeriod"/>
            </a:pPr>
            <a:r>
              <a:rPr lang="en-US" altLang="ja-JP" dirty="0"/>
              <a:t>Google</a:t>
            </a:r>
          </a:p>
          <a:p>
            <a:pPr marL="342900" indent="-342900">
              <a:buFont typeface="+mj-lt"/>
              <a:buAutoNum type="arabicPeriod"/>
            </a:pPr>
            <a:r>
              <a:rPr lang="en-US" altLang="ja-JP" dirty="0"/>
              <a:t>Samsung</a:t>
            </a:r>
          </a:p>
          <a:p>
            <a:pPr marL="342900" indent="-342900">
              <a:buFont typeface="+mj-lt"/>
              <a:buAutoNum type="arabicPeriod"/>
            </a:pPr>
            <a:r>
              <a:rPr lang="en-US" altLang="ja-JP" dirty="0"/>
              <a:t>Toyota</a:t>
            </a:r>
          </a:p>
          <a:p>
            <a:pPr marL="342900" indent="-342900">
              <a:buFont typeface="+mj-lt"/>
              <a:buAutoNum type="arabicPeriod"/>
            </a:pPr>
            <a:r>
              <a:rPr lang="en-US" altLang="ja-JP" dirty="0" err="1"/>
              <a:t>Coca-cola</a:t>
            </a:r>
            <a:endParaRPr lang="en-US" altLang="ja-JP" dirty="0"/>
          </a:p>
          <a:p>
            <a:pPr marL="0" indent="0">
              <a:buNone/>
            </a:pPr>
            <a:r>
              <a:rPr kumimoji="1" lang="ja-JP" altLang="en-US" dirty="0"/>
              <a:t>　・</a:t>
            </a:r>
            <a:endParaRPr lang="en-US" altLang="ja-JP" dirty="0"/>
          </a:p>
          <a:p>
            <a:pPr marL="0" indent="0">
              <a:buNone/>
            </a:pPr>
            <a:r>
              <a:rPr kumimoji="1" lang="ja-JP" altLang="en-US" dirty="0"/>
              <a:t>　・</a:t>
            </a:r>
            <a:endParaRPr kumimoji="1" lang="en-US" altLang="ja-JP" dirty="0"/>
          </a:p>
          <a:p>
            <a:pPr marL="0" indent="0">
              <a:buNone/>
            </a:pPr>
            <a:r>
              <a:rPr kumimoji="1" lang="ja-JP" altLang="en-US" dirty="0"/>
              <a:t>　・</a:t>
            </a:r>
            <a:endParaRPr kumimoji="1" lang="en-US" altLang="ja-JP" dirty="0"/>
          </a:p>
          <a:p>
            <a:pPr marL="0" indent="0">
              <a:buNone/>
            </a:pPr>
            <a:r>
              <a:rPr lang="en-US" altLang="ja-JP" dirty="0"/>
              <a:t>28. Netflix</a:t>
            </a:r>
          </a:p>
          <a:p>
            <a:pPr marL="0" indent="0">
              <a:buNone/>
            </a:pPr>
            <a:r>
              <a:rPr kumimoji="1" lang="en-US" altLang="ja-JP" dirty="0"/>
              <a:t>29. SONY</a:t>
            </a:r>
          </a:p>
          <a:p>
            <a:pPr marL="0" indent="0">
              <a:buNone/>
            </a:pPr>
            <a:r>
              <a:rPr lang="en-US" altLang="ja-JP" dirty="0"/>
              <a:t>30. Hyundai </a:t>
            </a:r>
            <a:endParaRPr kumimoji="1" lang="ja-JP" altLang="en-US" dirty="0"/>
          </a:p>
        </p:txBody>
      </p:sp>
    </p:spTree>
    <p:extLst>
      <p:ext uri="{BB962C8B-B14F-4D97-AF65-F5344CB8AC3E}">
        <p14:creationId xmlns:p14="http://schemas.microsoft.com/office/powerpoint/2010/main" val="26437647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FDFCA-09D6-C7B5-1D17-225F0B89588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B65EE2C-7706-8952-5264-8CC0D5CBB99D}"/>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327E04D5-AE48-E96D-EF4F-B20B9FB4D30C}"/>
              </a:ext>
            </a:extLst>
          </p:cNvPr>
          <p:cNvSpPr>
            <a:spLocks noGrp="1"/>
          </p:cNvSpPr>
          <p:nvPr>
            <p:ph sz="quarter" idx="13"/>
          </p:nvPr>
        </p:nvSpPr>
        <p:spPr/>
        <p:txBody>
          <a:bodyPr/>
          <a:lstStyle/>
          <a:p>
            <a:r>
              <a:rPr lang="en-US" altLang="ja-JP" dirty="0"/>
              <a:t>Word</a:t>
            </a:r>
            <a:r>
              <a:rPr lang="ja-JP" altLang="en-US" dirty="0"/>
              <a:t>参照</a:t>
            </a:r>
            <a:endParaRPr kumimoji="1" lang="ja-JP" altLang="en-US" dirty="0"/>
          </a:p>
        </p:txBody>
      </p:sp>
      <p:sp>
        <p:nvSpPr>
          <p:cNvPr id="4" name="コンテンツ プレースホルダー 3">
            <a:extLst>
              <a:ext uri="{FF2B5EF4-FFF2-40B4-BE49-F238E27FC236}">
                <a16:creationId xmlns:a16="http://schemas.microsoft.com/office/drawing/2014/main" id="{BB054655-2EDC-A86B-EA34-2D976AE8F1D5}"/>
              </a:ext>
            </a:extLst>
          </p:cNvPr>
          <p:cNvSpPr>
            <a:spLocks noGrp="1"/>
          </p:cNvSpPr>
          <p:nvPr>
            <p:ph sz="quarter" idx="14"/>
          </p:nvPr>
        </p:nvSpPr>
        <p:spPr/>
        <p:txBody>
          <a:bodyPr/>
          <a:lstStyle/>
          <a:p>
            <a:endParaRPr kumimoji="1" lang="ja-JP" altLang="en-US"/>
          </a:p>
        </p:txBody>
      </p:sp>
    </p:spTree>
    <p:extLst>
      <p:ext uri="{BB962C8B-B14F-4D97-AF65-F5344CB8AC3E}">
        <p14:creationId xmlns:p14="http://schemas.microsoft.com/office/powerpoint/2010/main" val="32853415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07804-CE47-3518-5F5B-4FD4993110C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053A781-E7D9-DC0C-C614-E3B6FF692755}"/>
              </a:ext>
            </a:extLst>
          </p:cNvPr>
          <p:cNvSpPr>
            <a:spLocks noGrp="1"/>
          </p:cNvSpPr>
          <p:nvPr>
            <p:ph type="title"/>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4D385DAC-120C-8015-9960-C7014CD5D73F}"/>
              </a:ext>
            </a:extLst>
          </p:cNvPr>
          <p:cNvSpPr>
            <a:spLocks noGrp="1"/>
          </p:cNvSpPr>
          <p:nvPr>
            <p:ph sz="quarter" idx="14"/>
          </p:nvPr>
        </p:nvSpPr>
        <p:spPr>
          <a:xfrm>
            <a:off x="317241" y="1455576"/>
            <a:ext cx="11591536" cy="657685"/>
          </a:xfrm>
        </p:spPr>
        <p:txBody>
          <a:bodyPr>
            <a:normAutofit/>
          </a:bodyPr>
          <a:lstStyle/>
          <a:p>
            <a:pPr marL="0" indent="0">
              <a:buNone/>
            </a:pPr>
            <a:r>
              <a:rPr kumimoji="1" lang="en-US" altLang="ja-JP" dirty="0"/>
              <a:t>Q</a:t>
            </a:r>
            <a:r>
              <a:rPr kumimoji="1" lang="ja-JP" altLang="en-US" dirty="0"/>
              <a:t>：成熟期・衰退期のそれぞれのステージに関して、あるべきマーケティング戦略を考えよ</a:t>
            </a:r>
            <a:endParaRPr kumimoji="1" lang="en-US" altLang="ja-JP" dirty="0"/>
          </a:p>
        </p:txBody>
      </p:sp>
      <p:graphicFrame>
        <p:nvGraphicFramePr>
          <p:cNvPr id="6" name="コンテンツ プレースホルダー 5">
            <a:extLst>
              <a:ext uri="{FF2B5EF4-FFF2-40B4-BE49-F238E27FC236}">
                <a16:creationId xmlns:a16="http://schemas.microsoft.com/office/drawing/2014/main" id="{C9B35FC8-068F-31E3-0FE7-702495465378}"/>
              </a:ext>
            </a:extLst>
          </p:cNvPr>
          <p:cNvGraphicFramePr>
            <a:graphicFrameLocks noGrp="1"/>
          </p:cNvGraphicFramePr>
          <p:nvPr>
            <p:ph sz="quarter" idx="13"/>
            <p:extLst>
              <p:ext uri="{D42A27DB-BD31-4B8C-83A1-F6EECF244321}">
                <p14:modId xmlns:p14="http://schemas.microsoft.com/office/powerpoint/2010/main" val="1918567400"/>
              </p:ext>
            </p:extLst>
          </p:nvPr>
        </p:nvGraphicFramePr>
        <p:xfrm>
          <a:off x="2" y="3668713"/>
          <a:ext cx="4076698" cy="250348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テキスト ボックス 6">
            <a:extLst>
              <a:ext uri="{FF2B5EF4-FFF2-40B4-BE49-F238E27FC236}">
                <a16:creationId xmlns:a16="http://schemas.microsoft.com/office/drawing/2014/main" id="{FBDE2908-C95C-B99F-A9C9-787F0B7117BB}"/>
              </a:ext>
            </a:extLst>
          </p:cNvPr>
          <p:cNvSpPr txBox="1"/>
          <p:nvPr/>
        </p:nvSpPr>
        <p:spPr>
          <a:xfrm>
            <a:off x="444500" y="1895792"/>
            <a:ext cx="5524500" cy="1200329"/>
          </a:xfrm>
          <a:prstGeom prst="rect">
            <a:avLst/>
          </a:prstGeom>
          <a:noFill/>
        </p:spPr>
        <p:txBody>
          <a:bodyPr wrap="square" rtlCol="0">
            <a:spAutoFit/>
          </a:bodyPr>
          <a:lstStyle/>
          <a:p>
            <a:pPr algn="ctr"/>
            <a:r>
              <a:rPr lang="ja-JP" altLang="en-US" b="1" dirty="0"/>
              <a:t>成熟期</a:t>
            </a:r>
            <a:r>
              <a:rPr lang="ja-JP" altLang="en-US" dirty="0"/>
              <a:t> </a:t>
            </a:r>
            <a:endParaRPr lang="en-US" altLang="ja-JP" dirty="0"/>
          </a:p>
          <a:p>
            <a:r>
              <a:rPr lang="ja-JP" altLang="en-US" dirty="0"/>
              <a:t>市場シェアと</a:t>
            </a:r>
            <a:r>
              <a:rPr lang="en-US" altLang="ja-JP" dirty="0"/>
              <a:t>CF</a:t>
            </a:r>
            <a:r>
              <a:rPr lang="ja-JP" altLang="en-US" dirty="0"/>
              <a:t>の維持を目標に、既存顧客の囲い込みと新規顧客獲得で売上を守りながら、コスト最適化と高価格帯の充実によって収益性を確保する戦略。</a:t>
            </a:r>
            <a:endParaRPr lang="en-US" altLang="ja-JP" dirty="0">
              <a:latin typeface="Meiryo UI" panose="020B0604030504040204" pitchFamily="50" charset="-128"/>
              <a:ea typeface="Meiryo UI" panose="020B0604030504040204" pitchFamily="50" charset="-128"/>
            </a:endParaRPr>
          </a:p>
        </p:txBody>
      </p:sp>
      <p:sp>
        <p:nvSpPr>
          <p:cNvPr id="11" name="テキスト ボックス 10">
            <a:extLst>
              <a:ext uri="{FF2B5EF4-FFF2-40B4-BE49-F238E27FC236}">
                <a16:creationId xmlns:a16="http://schemas.microsoft.com/office/drawing/2014/main" id="{7089C513-019D-47C8-3C60-A210ADA5CA5F}"/>
              </a:ext>
            </a:extLst>
          </p:cNvPr>
          <p:cNvSpPr txBox="1"/>
          <p:nvPr/>
        </p:nvSpPr>
        <p:spPr>
          <a:xfrm>
            <a:off x="4143031" y="3899248"/>
            <a:ext cx="1825969" cy="307777"/>
          </a:xfrm>
          <a:prstGeom prst="rect">
            <a:avLst/>
          </a:prstGeom>
          <a:noFill/>
        </p:spPr>
        <p:txBody>
          <a:bodyPr wrap="square" rtlCol="0">
            <a:spAutoFit/>
          </a:bodyPr>
          <a:lstStyle/>
          <a:p>
            <a:pPr algn="ctr"/>
            <a:r>
              <a:rPr kumimoji="1" lang="ja-JP" altLang="en-US" sz="1400" dirty="0"/>
              <a:t>サブスク導入</a:t>
            </a:r>
          </a:p>
        </p:txBody>
      </p:sp>
      <p:sp>
        <p:nvSpPr>
          <p:cNvPr id="13" name="テキスト ボックス 12">
            <a:extLst>
              <a:ext uri="{FF2B5EF4-FFF2-40B4-BE49-F238E27FC236}">
                <a16:creationId xmlns:a16="http://schemas.microsoft.com/office/drawing/2014/main" id="{4716875B-A1A9-E171-3220-240B772883E0}"/>
              </a:ext>
            </a:extLst>
          </p:cNvPr>
          <p:cNvSpPr txBox="1"/>
          <p:nvPr/>
        </p:nvSpPr>
        <p:spPr>
          <a:xfrm>
            <a:off x="4314154" y="3355559"/>
            <a:ext cx="1458324" cy="307777"/>
          </a:xfrm>
          <a:prstGeom prst="rect">
            <a:avLst/>
          </a:prstGeom>
          <a:noFill/>
        </p:spPr>
        <p:txBody>
          <a:bodyPr wrap="square" rtlCol="0">
            <a:spAutoFit/>
          </a:bodyPr>
          <a:lstStyle/>
          <a:p>
            <a:pPr algn="ctr"/>
            <a:r>
              <a:rPr kumimoji="1" lang="ja-JP" altLang="en-US" sz="1400" dirty="0"/>
              <a:t>具体施策例</a:t>
            </a:r>
          </a:p>
        </p:txBody>
      </p:sp>
      <p:sp>
        <p:nvSpPr>
          <p:cNvPr id="14" name="テキスト ボックス 13">
            <a:extLst>
              <a:ext uri="{FF2B5EF4-FFF2-40B4-BE49-F238E27FC236}">
                <a16:creationId xmlns:a16="http://schemas.microsoft.com/office/drawing/2014/main" id="{2BE98837-7920-7CD6-847E-056952DA145C}"/>
              </a:ext>
            </a:extLst>
          </p:cNvPr>
          <p:cNvSpPr txBox="1"/>
          <p:nvPr/>
        </p:nvSpPr>
        <p:spPr>
          <a:xfrm>
            <a:off x="4143031" y="4382155"/>
            <a:ext cx="1825969" cy="307777"/>
          </a:xfrm>
          <a:prstGeom prst="rect">
            <a:avLst/>
          </a:prstGeom>
          <a:noFill/>
        </p:spPr>
        <p:txBody>
          <a:bodyPr wrap="square" rtlCol="0">
            <a:spAutoFit/>
          </a:bodyPr>
          <a:lstStyle/>
          <a:p>
            <a:pPr algn="ctr"/>
            <a:r>
              <a:rPr kumimoji="1" lang="ja-JP" altLang="en-US" sz="1400" dirty="0"/>
              <a:t>競合との差別化</a:t>
            </a:r>
          </a:p>
        </p:txBody>
      </p:sp>
      <p:sp>
        <p:nvSpPr>
          <p:cNvPr id="15" name="テキスト ボックス 14">
            <a:extLst>
              <a:ext uri="{FF2B5EF4-FFF2-40B4-BE49-F238E27FC236}">
                <a16:creationId xmlns:a16="http://schemas.microsoft.com/office/drawing/2014/main" id="{54314EFD-FD76-5511-2AD7-5373A087DC68}"/>
              </a:ext>
            </a:extLst>
          </p:cNvPr>
          <p:cNvSpPr txBox="1"/>
          <p:nvPr/>
        </p:nvSpPr>
        <p:spPr>
          <a:xfrm>
            <a:off x="4143031" y="5063870"/>
            <a:ext cx="1825969" cy="307777"/>
          </a:xfrm>
          <a:prstGeom prst="rect">
            <a:avLst/>
          </a:prstGeom>
          <a:noFill/>
        </p:spPr>
        <p:txBody>
          <a:bodyPr wrap="square" rtlCol="0">
            <a:spAutoFit/>
          </a:bodyPr>
          <a:lstStyle/>
          <a:p>
            <a:pPr algn="ctr"/>
            <a:r>
              <a:rPr kumimoji="1" lang="ja-JP" altLang="en-US" sz="1400" dirty="0"/>
              <a:t>高価格帯の充実</a:t>
            </a:r>
          </a:p>
        </p:txBody>
      </p:sp>
      <p:sp>
        <p:nvSpPr>
          <p:cNvPr id="16" name="テキスト ボックス 15">
            <a:extLst>
              <a:ext uri="{FF2B5EF4-FFF2-40B4-BE49-F238E27FC236}">
                <a16:creationId xmlns:a16="http://schemas.microsoft.com/office/drawing/2014/main" id="{D63B6754-594F-1097-5CB1-B575993A961D}"/>
              </a:ext>
            </a:extLst>
          </p:cNvPr>
          <p:cNvSpPr txBox="1"/>
          <p:nvPr/>
        </p:nvSpPr>
        <p:spPr>
          <a:xfrm>
            <a:off x="4143031" y="5608588"/>
            <a:ext cx="1825969" cy="307777"/>
          </a:xfrm>
          <a:prstGeom prst="rect">
            <a:avLst/>
          </a:prstGeom>
          <a:noFill/>
        </p:spPr>
        <p:txBody>
          <a:bodyPr wrap="square" rtlCol="0">
            <a:spAutoFit/>
          </a:bodyPr>
          <a:lstStyle/>
          <a:p>
            <a:pPr algn="ctr"/>
            <a:r>
              <a:rPr kumimoji="1" lang="ja-JP" altLang="en-US" sz="1400" dirty="0"/>
              <a:t>不採算店舗の整理</a:t>
            </a:r>
          </a:p>
        </p:txBody>
      </p:sp>
      <p:cxnSp>
        <p:nvCxnSpPr>
          <p:cNvPr id="18" name="直線コネクタ 17">
            <a:extLst>
              <a:ext uri="{FF2B5EF4-FFF2-40B4-BE49-F238E27FC236}">
                <a16:creationId xmlns:a16="http://schemas.microsoft.com/office/drawing/2014/main" id="{C31EB893-5295-6C5F-B6D0-697E00E4CA7A}"/>
              </a:ext>
            </a:extLst>
          </p:cNvPr>
          <p:cNvCxnSpPr>
            <a:cxnSpLocks/>
          </p:cNvCxnSpPr>
          <p:nvPr/>
        </p:nvCxnSpPr>
        <p:spPr>
          <a:xfrm>
            <a:off x="4178763" y="3668713"/>
            <a:ext cx="1825969"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graphicFrame>
        <p:nvGraphicFramePr>
          <p:cNvPr id="30" name="コンテンツ プレースホルダー 5">
            <a:extLst>
              <a:ext uri="{FF2B5EF4-FFF2-40B4-BE49-F238E27FC236}">
                <a16:creationId xmlns:a16="http://schemas.microsoft.com/office/drawing/2014/main" id="{29270655-4D9B-AA93-A462-B29BF2FF9A60}"/>
              </a:ext>
            </a:extLst>
          </p:cNvPr>
          <p:cNvGraphicFramePr>
            <a:graphicFrameLocks/>
          </p:cNvGraphicFramePr>
          <p:nvPr>
            <p:extLst>
              <p:ext uri="{D42A27DB-BD31-4B8C-83A1-F6EECF244321}">
                <p14:modId xmlns:p14="http://schemas.microsoft.com/office/powerpoint/2010/main" val="3912061273"/>
              </p:ext>
            </p:extLst>
          </p:nvPr>
        </p:nvGraphicFramePr>
        <p:xfrm>
          <a:off x="5969000" y="3668713"/>
          <a:ext cx="4076698" cy="250348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1" name="テキスト ボックス 30">
            <a:extLst>
              <a:ext uri="{FF2B5EF4-FFF2-40B4-BE49-F238E27FC236}">
                <a16:creationId xmlns:a16="http://schemas.microsoft.com/office/drawing/2014/main" id="{263BAA58-C010-5E1A-0367-486D648C21C0}"/>
              </a:ext>
            </a:extLst>
          </p:cNvPr>
          <p:cNvSpPr txBox="1"/>
          <p:nvPr/>
        </p:nvSpPr>
        <p:spPr>
          <a:xfrm>
            <a:off x="9981661" y="3759855"/>
            <a:ext cx="2304784" cy="338554"/>
          </a:xfrm>
          <a:prstGeom prst="rect">
            <a:avLst/>
          </a:prstGeom>
          <a:noFill/>
        </p:spPr>
        <p:txBody>
          <a:bodyPr wrap="square" rtlCol="0">
            <a:spAutoFit/>
          </a:bodyPr>
          <a:lstStyle/>
          <a:p>
            <a:pPr algn="ctr"/>
            <a:r>
              <a:rPr kumimoji="1" lang="ja-JP" altLang="en-US" sz="1600" dirty="0"/>
              <a:t>製品の絞り込み</a:t>
            </a:r>
          </a:p>
        </p:txBody>
      </p:sp>
      <p:sp>
        <p:nvSpPr>
          <p:cNvPr id="32" name="テキスト ボックス 31">
            <a:extLst>
              <a:ext uri="{FF2B5EF4-FFF2-40B4-BE49-F238E27FC236}">
                <a16:creationId xmlns:a16="http://schemas.microsoft.com/office/drawing/2014/main" id="{FF29276B-0A5F-8983-7519-C63BA7FA94D6}"/>
              </a:ext>
            </a:extLst>
          </p:cNvPr>
          <p:cNvSpPr txBox="1"/>
          <p:nvPr/>
        </p:nvSpPr>
        <p:spPr>
          <a:xfrm>
            <a:off x="10413998" y="3355559"/>
            <a:ext cx="1458324" cy="338554"/>
          </a:xfrm>
          <a:prstGeom prst="rect">
            <a:avLst/>
          </a:prstGeom>
          <a:noFill/>
        </p:spPr>
        <p:txBody>
          <a:bodyPr wrap="square" rtlCol="0">
            <a:spAutoFit/>
          </a:bodyPr>
          <a:lstStyle/>
          <a:p>
            <a:pPr algn="ctr"/>
            <a:r>
              <a:rPr kumimoji="1" lang="ja-JP" altLang="en-US" sz="1600" dirty="0"/>
              <a:t>具体施策例</a:t>
            </a:r>
          </a:p>
        </p:txBody>
      </p:sp>
      <p:sp>
        <p:nvSpPr>
          <p:cNvPr id="33" name="テキスト ボックス 32">
            <a:extLst>
              <a:ext uri="{FF2B5EF4-FFF2-40B4-BE49-F238E27FC236}">
                <a16:creationId xmlns:a16="http://schemas.microsoft.com/office/drawing/2014/main" id="{9B95EAE3-5463-D124-56B7-83A1E9814D9A}"/>
              </a:ext>
            </a:extLst>
          </p:cNvPr>
          <p:cNvSpPr txBox="1"/>
          <p:nvPr/>
        </p:nvSpPr>
        <p:spPr>
          <a:xfrm>
            <a:off x="9981661" y="4303076"/>
            <a:ext cx="2304784" cy="338554"/>
          </a:xfrm>
          <a:prstGeom prst="rect">
            <a:avLst/>
          </a:prstGeom>
          <a:noFill/>
        </p:spPr>
        <p:txBody>
          <a:bodyPr wrap="square" rtlCol="0">
            <a:spAutoFit/>
          </a:bodyPr>
          <a:lstStyle/>
          <a:p>
            <a:pPr algn="ctr"/>
            <a:r>
              <a:rPr kumimoji="1" lang="ja-JP" altLang="en-US" sz="1600" dirty="0"/>
              <a:t>製造ライン縮小</a:t>
            </a:r>
          </a:p>
        </p:txBody>
      </p:sp>
      <p:sp>
        <p:nvSpPr>
          <p:cNvPr id="34" name="テキスト ボックス 33">
            <a:extLst>
              <a:ext uri="{FF2B5EF4-FFF2-40B4-BE49-F238E27FC236}">
                <a16:creationId xmlns:a16="http://schemas.microsoft.com/office/drawing/2014/main" id="{8A825BE1-C0FE-4DD0-C699-E5A3DA8EA654}"/>
              </a:ext>
            </a:extLst>
          </p:cNvPr>
          <p:cNvSpPr txBox="1"/>
          <p:nvPr/>
        </p:nvSpPr>
        <p:spPr>
          <a:xfrm>
            <a:off x="9981661" y="4885612"/>
            <a:ext cx="2304784" cy="338554"/>
          </a:xfrm>
          <a:prstGeom prst="rect">
            <a:avLst/>
          </a:prstGeom>
          <a:noFill/>
        </p:spPr>
        <p:txBody>
          <a:bodyPr wrap="square" rtlCol="0">
            <a:spAutoFit/>
          </a:bodyPr>
          <a:lstStyle/>
          <a:p>
            <a:pPr algn="ctr"/>
            <a:r>
              <a:rPr kumimoji="1" lang="ja-JP" altLang="en-US" sz="1600" dirty="0"/>
              <a:t>ニッチ製品の充実</a:t>
            </a:r>
          </a:p>
        </p:txBody>
      </p:sp>
      <p:sp>
        <p:nvSpPr>
          <p:cNvPr id="35" name="テキスト ボックス 34">
            <a:extLst>
              <a:ext uri="{FF2B5EF4-FFF2-40B4-BE49-F238E27FC236}">
                <a16:creationId xmlns:a16="http://schemas.microsoft.com/office/drawing/2014/main" id="{5B40CD8E-6D51-8D30-767D-0F44F5E3DCC7}"/>
              </a:ext>
            </a:extLst>
          </p:cNvPr>
          <p:cNvSpPr txBox="1"/>
          <p:nvPr/>
        </p:nvSpPr>
        <p:spPr>
          <a:xfrm>
            <a:off x="9981661" y="5812850"/>
            <a:ext cx="2304784" cy="338554"/>
          </a:xfrm>
          <a:prstGeom prst="rect">
            <a:avLst/>
          </a:prstGeom>
          <a:noFill/>
        </p:spPr>
        <p:txBody>
          <a:bodyPr wrap="square" rtlCol="0">
            <a:spAutoFit/>
          </a:bodyPr>
          <a:lstStyle/>
          <a:p>
            <a:pPr algn="ctr"/>
            <a:r>
              <a:rPr kumimoji="1" lang="ja-JP" altLang="en-US" sz="1600" dirty="0"/>
              <a:t>事業売却</a:t>
            </a:r>
          </a:p>
        </p:txBody>
      </p:sp>
      <p:cxnSp>
        <p:nvCxnSpPr>
          <p:cNvPr id="36" name="直線コネクタ 35">
            <a:extLst>
              <a:ext uri="{FF2B5EF4-FFF2-40B4-BE49-F238E27FC236}">
                <a16:creationId xmlns:a16="http://schemas.microsoft.com/office/drawing/2014/main" id="{CE3DB061-177A-00C8-A4C4-1F6F16A42355}"/>
              </a:ext>
            </a:extLst>
          </p:cNvPr>
          <p:cNvCxnSpPr>
            <a:cxnSpLocks/>
          </p:cNvCxnSpPr>
          <p:nvPr/>
        </p:nvCxnSpPr>
        <p:spPr>
          <a:xfrm>
            <a:off x="10278607" y="3668713"/>
            <a:ext cx="1825969"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1" name="テキスト ボックス 40">
            <a:extLst>
              <a:ext uri="{FF2B5EF4-FFF2-40B4-BE49-F238E27FC236}">
                <a16:creationId xmlns:a16="http://schemas.microsoft.com/office/drawing/2014/main" id="{8DE623B3-4E2E-5ED7-FB5A-B60032A7A7EB}"/>
              </a:ext>
            </a:extLst>
          </p:cNvPr>
          <p:cNvSpPr txBox="1"/>
          <p:nvPr/>
        </p:nvSpPr>
        <p:spPr>
          <a:xfrm>
            <a:off x="9981661" y="5423922"/>
            <a:ext cx="2304784" cy="338554"/>
          </a:xfrm>
          <a:prstGeom prst="rect">
            <a:avLst/>
          </a:prstGeom>
          <a:noFill/>
        </p:spPr>
        <p:txBody>
          <a:bodyPr wrap="square" rtlCol="0">
            <a:spAutoFit/>
          </a:bodyPr>
          <a:lstStyle/>
          <a:p>
            <a:pPr algn="ctr"/>
            <a:r>
              <a:rPr kumimoji="1" lang="ja-JP" altLang="en-US" sz="1600" dirty="0"/>
              <a:t>低コスト商品のみ販売</a:t>
            </a:r>
          </a:p>
        </p:txBody>
      </p:sp>
      <p:sp>
        <p:nvSpPr>
          <p:cNvPr id="42" name="テキスト ボックス 41">
            <a:extLst>
              <a:ext uri="{FF2B5EF4-FFF2-40B4-BE49-F238E27FC236}">
                <a16:creationId xmlns:a16="http://schemas.microsoft.com/office/drawing/2014/main" id="{8DD60579-B963-B795-90DD-AF4E3ABCD40D}"/>
              </a:ext>
            </a:extLst>
          </p:cNvPr>
          <p:cNvSpPr txBox="1"/>
          <p:nvPr/>
        </p:nvSpPr>
        <p:spPr>
          <a:xfrm>
            <a:off x="6223002" y="1895792"/>
            <a:ext cx="5524500" cy="1200329"/>
          </a:xfrm>
          <a:prstGeom prst="rect">
            <a:avLst/>
          </a:prstGeom>
          <a:noFill/>
        </p:spPr>
        <p:txBody>
          <a:bodyPr wrap="square" rtlCol="0">
            <a:spAutoFit/>
          </a:bodyPr>
          <a:lstStyle/>
          <a:p>
            <a:pPr algn="ctr"/>
            <a:r>
              <a:rPr lang="ja-JP" altLang="en-US" b="1" dirty="0"/>
              <a:t>衰退期</a:t>
            </a:r>
            <a:r>
              <a:rPr lang="ja-JP" altLang="en-US" dirty="0"/>
              <a:t> </a:t>
            </a:r>
            <a:endParaRPr lang="en-US" altLang="ja-JP" dirty="0"/>
          </a:p>
          <a:p>
            <a:r>
              <a:rPr lang="ja-JP" altLang="en-US" dirty="0"/>
              <a:t>支出削減・利益維持・出口戦略の</a:t>
            </a:r>
            <a:r>
              <a:rPr lang="en-US" altLang="ja-JP" dirty="0"/>
              <a:t>3</a:t>
            </a:r>
            <a:r>
              <a:rPr lang="ja-JP" altLang="en-US" dirty="0"/>
              <a:t>軸のもと、原価等の圧縮と販売の選択的縮小でキャッシュを確保しながら、事業売却を含む戦略的撤退を実行する戦略。</a:t>
            </a:r>
            <a:endParaRPr lang="en-US" alt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6201659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FEBCF-FDD3-CC34-8447-987D1FD7E56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F46F9F0-9FB8-C03F-96AD-2C7EC8AFDD9C}"/>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9389CC17-25E7-838F-BAD9-D6D1C960764E}"/>
              </a:ext>
            </a:extLst>
          </p:cNvPr>
          <p:cNvSpPr>
            <a:spLocks noGrp="1"/>
          </p:cNvSpPr>
          <p:nvPr>
            <p:ph sz="quarter" idx="13"/>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EDDBFC4C-3F98-1029-CA9A-E6DF9B7F49D4}"/>
              </a:ext>
            </a:extLst>
          </p:cNvPr>
          <p:cNvSpPr>
            <a:spLocks noGrp="1"/>
          </p:cNvSpPr>
          <p:nvPr>
            <p:ph sz="quarter" idx="14"/>
          </p:nvPr>
        </p:nvSpPr>
        <p:spPr>
          <a:xfrm>
            <a:off x="317241" y="1455576"/>
            <a:ext cx="11591536" cy="5270564"/>
          </a:xfrm>
        </p:spPr>
        <p:txBody>
          <a:bodyPr/>
          <a:lstStyle/>
          <a:p>
            <a:pPr marL="0" indent="0">
              <a:buNone/>
            </a:pPr>
            <a:r>
              <a:rPr kumimoji="1" lang="en-US" altLang="ja-JP" dirty="0"/>
              <a:t>Q</a:t>
            </a:r>
            <a:r>
              <a:rPr kumimoji="1" lang="ja-JP" altLang="en-US" dirty="0"/>
              <a:t>：成熟期または衰退期にある商品（サービス）にどのようなものがあるかを考えよ。</a:t>
            </a:r>
            <a:endParaRPr kumimoji="1" lang="en-US" altLang="ja-JP" dirty="0"/>
          </a:p>
          <a:p>
            <a:r>
              <a:rPr lang="ja-JP" altLang="en-US" dirty="0"/>
              <a:t>成熟期：シャンプー等の日用消費財、スマホ・</a:t>
            </a:r>
            <a:r>
              <a:rPr lang="en-US" altLang="ja-JP" dirty="0"/>
              <a:t>PC</a:t>
            </a:r>
            <a:r>
              <a:rPr lang="ja-JP" altLang="en-US" dirty="0"/>
              <a:t>等の電子機器、清涼飲料水、クラウド製品</a:t>
            </a:r>
            <a:endParaRPr lang="en-US" altLang="ja-JP" dirty="0"/>
          </a:p>
          <a:p>
            <a:r>
              <a:rPr kumimoji="1" lang="ja-JP" altLang="en-US" dirty="0"/>
              <a:t>衰退期：新聞、デジカメ、物理的記録媒体（</a:t>
            </a:r>
            <a:r>
              <a:rPr lang="en-US" altLang="ja-JP" dirty="0"/>
              <a:t>DVD</a:t>
            </a:r>
            <a:r>
              <a:rPr lang="ja-JP" altLang="en-US" dirty="0"/>
              <a:t>等）</a:t>
            </a:r>
            <a:endParaRPr lang="en-US" altLang="ja-JP" dirty="0"/>
          </a:p>
          <a:p>
            <a:pPr marL="0" indent="0">
              <a:buNone/>
            </a:pPr>
            <a:endParaRPr kumimoji="1" lang="en-US" altLang="ja-JP" dirty="0"/>
          </a:p>
          <a:p>
            <a:pPr marL="0" indent="0">
              <a:buNone/>
            </a:pPr>
            <a:r>
              <a:rPr lang="en-US" altLang="ja-JP" dirty="0"/>
              <a:t>Q</a:t>
            </a:r>
            <a:r>
              <a:rPr lang="ja-JP" altLang="en-US" dirty="0"/>
              <a:t>：サービス提供者（新聞社）が、その状況にどのように対処しようとしているかを考えよ。</a:t>
            </a:r>
            <a:endParaRPr kumimoji="1" lang="en-US" altLang="ja-JP" dirty="0"/>
          </a:p>
          <a:p>
            <a:pPr marL="0" indent="0">
              <a:buNone/>
            </a:pPr>
            <a:r>
              <a:rPr kumimoji="1" lang="ja-JP" altLang="en-US" dirty="0"/>
              <a:t>現状：</a:t>
            </a:r>
            <a:r>
              <a:rPr kumimoji="1" lang="en-US" altLang="ja-JP" dirty="0"/>
              <a:t>2024</a:t>
            </a:r>
            <a:r>
              <a:rPr kumimoji="1" lang="ja-JP" altLang="en-US" dirty="0"/>
              <a:t>年時点で発行部数は</a:t>
            </a:r>
            <a:r>
              <a:rPr kumimoji="1" lang="en-US" altLang="ja-JP" dirty="0"/>
              <a:t>2700</a:t>
            </a:r>
            <a:r>
              <a:rPr kumimoji="1" lang="ja-JP" altLang="en-US" dirty="0"/>
              <a:t>万部だったが</a:t>
            </a:r>
            <a:r>
              <a:rPr kumimoji="1" lang="en-US" altLang="ja-JP" dirty="0"/>
              <a:t>2000</a:t>
            </a:r>
            <a:r>
              <a:rPr kumimoji="1" lang="ja-JP" altLang="en-US" dirty="0"/>
              <a:t>年には</a:t>
            </a:r>
            <a:r>
              <a:rPr kumimoji="1" lang="en-US" altLang="ja-JP" dirty="0"/>
              <a:t>5300</a:t>
            </a:r>
            <a:r>
              <a:rPr kumimoji="1" lang="ja-JP" altLang="en-US" dirty="0"/>
              <a:t>万部あったことから、約</a:t>
            </a:r>
            <a:r>
              <a:rPr lang="en-US" altLang="ja-JP" dirty="0"/>
              <a:t>20</a:t>
            </a:r>
            <a:r>
              <a:rPr lang="ja-JP" altLang="en-US" dirty="0"/>
              <a:t>年で半減している。</a:t>
            </a:r>
            <a:endParaRPr kumimoji="1" lang="en-US" altLang="ja-JP" dirty="0"/>
          </a:p>
          <a:p>
            <a:r>
              <a:rPr kumimoji="1" lang="ja-JP" altLang="en-US" dirty="0"/>
              <a:t>支出の削減</a:t>
            </a:r>
            <a:endParaRPr kumimoji="1" lang="en-US" altLang="ja-JP" dirty="0"/>
          </a:p>
          <a:p>
            <a:pPr lvl="1"/>
            <a:r>
              <a:rPr kumimoji="1" lang="ja-JP" altLang="en-US" dirty="0"/>
              <a:t>人員削減：</a:t>
            </a:r>
            <a:r>
              <a:rPr lang="ja-JP" altLang="en-US" dirty="0"/>
              <a:t>朝日新聞は</a:t>
            </a:r>
            <a:r>
              <a:rPr lang="en-US" altLang="ja-JP" dirty="0"/>
              <a:t>2021</a:t>
            </a:r>
            <a:r>
              <a:rPr lang="ja-JP" altLang="en-US" dirty="0"/>
              <a:t>年から</a:t>
            </a:r>
            <a:r>
              <a:rPr lang="en-US" altLang="ja-JP" dirty="0"/>
              <a:t>2025</a:t>
            </a:r>
            <a:r>
              <a:rPr lang="ja-JP" altLang="en-US" dirty="0"/>
              <a:t>年にかけて従業員が約</a:t>
            </a:r>
            <a:r>
              <a:rPr lang="en-US" altLang="ja-JP" dirty="0"/>
              <a:t>600</a:t>
            </a:r>
            <a:r>
              <a:rPr lang="ja-JP" altLang="en-US" dirty="0"/>
              <a:t>人減少している。</a:t>
            </a:r>
            <a:endParaRPr kumimoji="1" lang="en-US" altLang="ja-JP" dirty="0"/>
          </a:p>
          <a:p>
            <a:pPr lvl="1"/>
            <a:r>
              <a:rPr kumimoji="1" lang="ja-JP" altLang="en-US" dirty="0"/>
              <a:t>販売網</a:t>
            </a:r>
            <a:r>
              <a:rPr lang="ja-JP" altLang="en-US" dirty="0"/>
              <a:t>縮小：毎日新聞は</a:t>
            </a:r>
            <a:r>
              <a:rPr kumimoji="1" lang="en-US" altLang="ja-JP" dirty="0"/>
              <a:t>2024</a:t>
            </a:r>
            <a:r>
              <a:rPr kumimoji="1" lang="ja-JP" altLang="en-US" dirty="0"/>
              <a:t>年に富山県での宅配事業を停止している。</a:t>
            </a:r>
            <a:endParaRPr kumimoji="1" lang="en-US" altLang="ja-JP" dirty="0"/>
          </a:p>
          <a:p>
            <a:pPr lvl="1"/>
            <a:r>
              <a:rPr lang="ja-JP" altLang="en-US" dirty="0"/>
              <a:t>一部サービス廃止：朝日新聞は</a:t>
            </a:r>
            <a:r>
              <a:rPr lang="en-US" altLang="ja-JP" dirty="0"/>
              <a:t>2024</a:t>
            </a:r>
            <a:r>
              <a:rPr lang="ja-JP" altLang="en-US" dirty="0"/>
              <a:t>年に北海道で夕刊を休刊した。</a:t>
            </a:r>
            <a:endParaRPr kumimoji="1" lang="en-US" altLang="ja-JP" dirty="0"/>
          </a:p>
          <a:p>
            <a:r>
              <a:rPr kumimoji="1" lang="ja-JP" altLang="en-US" dirty="0"/>
              <a:t>利益の維持</a:t>
            </a:r>
            <a:endParaRPr kumimoji="1" lang="en-US" altLang="ja-JP" dirty="0"/>
          </a:p>
          <a:p>
            <a:pPr lvl="1"/>
            <a:r>
              <a:rPr kumimoji="1" lang="ja-JP" altLang="en-US" dirty="0"/>
              <a:t>デジタル課金：日経新聞は電子版の有料会員数が</a:t>
            </a:r>
            <a:r>
              <a:rPr kumimoji="1" lang="en-US" altLang="ja-JP" dirty="0"/>
              <a:t>100</a:t>
            </a:r>
            <a:r>
              <a:rPr kumimoji="1" lang="ja-JP" altLang="en-US" dirty="0"/>
              <a:t>万人越え。</a:t>
            </a:r>
            <a:endParaRPr kumimoji="1" lang="en-US" altLang="ja-JP" dirty="0"/>
          </a:p>
          <a:p>
            <a:pPr lvl="1"/>
            <a:r>
              <a:rPr kumimoji="1" lang="ja-JP" altLang="en-US" dirty="0"/>
              <a:t>購読料値上げ：</a:t>
            </a:r>
            <a:r>
              <a:rPr kumimoji="1" lang="en-US" altLang="ja-JP" dirty="0"/>
              <a:t>2021</a:t>
            </a:r>
            <a:r>
              <a:rPr kumimoji="1" lang="ja-JP" altLang="en-US" dirty="0"/>
              <a:t>年、</a:t>
            </a:r>
            <a:r>
              <a:rPr kumimoji="1" lang="en-US" altLang="ja-JP" dirty="0"/>
              <a:t>2023</a:t>
            </a:r>
            <a:r>
              <a:rPr kumimoji="1" lang="ja-JP" altLang="en-US" dirty="0"/>
              <a:t>年に各社が一斉に新聞本体価格を値上げした。</a:t>
            </a:r>
            <a:endParaRPr kumimoji="1" lang="en-US" altLang="ja-JP" dirty="0"/>
          </a:p>
          <a:p>
            <a:r>
              <a:rPr lang="ja-JP" altLang="en-US" dirty="0"/>
              <a:t>出口戦略</a:t>
            </a:r>
            <a:endParaRPr kumimoji="1" lang="en-US" altLang="ja-JP" dirty="0"/>
          </a:p>
          <a:p>
            <a:pPr lvl="1"/>
            <a:r>
              <a:rPr kumimoji="1" lang="ja-JP" altLang="en-US" dirty="0"/>
              <a:t>資産売却：</a:t>
            </a:r>
            <a:r>
              <a:rPr lang="ja-JP" altLang="en-US" dirty="0"/>
              <a:t>毎日新聞が自社保有物件であるパレスサイドビルの再開発プランを大手デベロッパーに打診した。</a:t>
            </a:r>
            <a:endParaRPr kumimoji="1" lang="en-US" altLang="ja-JP" dirty="0"/>
          </a:p>
          <a:p>
            <a:pPr lvl="1"/>
            <a:r>
              <a:rPr lang="ja-JP" altLang="en-US" dirty="0"/>
              <a:t>業界再編：フジ・メディア・ホールディングスが産経新聞社の大株主として資本関係を持ち、報道面で緊密に連携している。</a:t>
            </a:r>
            <a:endParaRPr kumimoji="1" lang="ja-JP" altLang="en-US" dirty="0"/>
          </a:p>
        </p:txBody>
      </p:sp>
    </p:spTree>
    <p:extLst>
      <p:ext uri="{BB962C8B-B14F-4D97-AF65-F5344CB8AC3E}">
        <p14:creationId xmlns:p14="http://schemas.microsoft.com/office/powerpoint/2010/main" val="19729337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68B033-4FDE-4A19-F2CD-162135FC729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4D1B728-2415-CE0E-943D-D272CB5C6F5C}"/>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FD2DC9E6-AE60-EA3C-B751-268793B9F032}"/>
              </a:ext>
            </a:extLst>
          </p:cNvPr>
          <p:cNvSpPr>
            <a:spLocks noGrp="1"/>
          </p:cNvSpPr>
          <p:nvPr>
            <p:ph sz="quarter" idx="13"/>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96EFD19E-C989-4D62-A372-A54D7EAFC186}"/>
              </a:ext>
            </a:extLst>
          </p:cNvPr>
          <p:cNvSpPr>
            <a:spLocks noGrp="1"/>
          </p:cNvSpPr>
          <p:nvPr>
            <p:ph sz="quarter" idx="14"/>
          </p:nvPr>
        </p:nvSpPr>
        <p:spPr/>
        <p:txBody>
          <a:bodyPr/>
          <a:lstStyle/>
          <a:p>
            <a:pPr marL="0" indent="0">
              <a:buNone/>
            </a:pPr>
            <a:r>
              <a:rPr kumimoji="1" lang="en-US" altLang="ja-JP" dirty="0"/>
              <a:t>Q</a:t>
            </a:r>
            <a:r>
              <a:rPr kumimoji="1" lang="ja-JP" altLang="en-US" dirty="0"/>
              <a:t>：日本の消費財の中で、非常に長い期間にわたり強いブランド力を維持しているブランドにどのようなものがあるか考えなさい。</a:t>
            </a:r>
            <a:endParaRPr kumimoji="1" lang="en-US" altLang="ja-JP" dirty="0"/>
          </a:p>
          <a:p>
            <a:pPr marL="0" indent="0">
              <a:buNone/>
            </a:pPr>
            <a:r>
              <a:rPr lang="ja-JP" altLang="en-US" dirty="0"/>
              <a:t>カップヌードル、花王ブランド（ビオレ、メリット）、コンビニ菓子類（ポッキー、きのこの山、たけのこの里）</a:t>
            </a:r>
            <a:endParaRPr lang="en-US" altLang="ja-JP" dirty="0"/>
          </a:p>
        </p:txBody>
      </p:sp>
    </p:spTree>
    <p:extLst>
      <p:ext uri="{BB962C8B-B14F-4D97-AF65-F5344CB8AC3E}">
        <p14:creationId xmlns:p14="http://schemas.microsoft.com/office/powerpoint/2010/main" val="19579507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6CEB7-EAF2-0486-F42C-B9CD41F92B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A59D10A-08B2-30C4-2DBC-9F1FBD7A9448}"/>
              </a:ext>
            </a:extLst>
          </p:cNvPr>
          <p:cNvSpPr>
            <a:spLocks noGrp="1"/>
          </p:cNvSpPr>
          <p:nvPr>
            <p:ph type="title"/>
          </p:nvPr>
        </p:nvSpPr>
        <p:spPr/>
        <p:txBody>
          <a:bodyPr/>
          <a:lstStyle/>
          <a:p>
            <a:r>
              <a:rPr kumimoji="1" lang="en-US" altLang="ja-JP" dirty="0"/>
              <a:t>D</a:t>
            </a:r>
            <a:r>
              <a:rPr kumimoji="1" lang="ja-JP" altLang="en-US" dirty="0"/>
              <a:t>事業から撤退し、</a:t>
            </a:r>
            <a:r>
              <a:rPr lang="en-US" altLang="ja-JP" dirty="0"/>
              <a:t>B</a:t>
            </a:r>
            <a:r>
              <a:rPr lang="ja-JP" altLang="en-US" dirty="0"/>
              <a:t>事業に経営資源を集中的に投資すべき。</a:t>
            </a:r>
            <a:endParaRPr kumimoji="1" lang="ja-JP" altLang="en-US" dirty="0"/>
          </a:p>
        </p:txBody>
      </p:sp>
      <p:sp>
        <p:nvSpPr>
          <p:cNvPr id="3" name="コンテンツ プレースホルダー 2">
            <a:extLst>
              <a:ext uri="{FF2B5EF4-FFF2-40B4-BE49-F238E27FC236}">
                <a16:creationId xmlns:a16="http://schemas.microsoft.com/office/drawing/2014/main" id="{2D5C5F8D-04F4-31E3-87FD-CD8BF2D297F1}"/>
              </a:ext>
            </a:extLst>
          </p:cNvPr>
          <p:cNvSpPr>
            <a:spLocks noGrp="1"/>
          </p:cNvSpPr>
          <p:nvPr>
            <p:ph sz="quarter" idx="13"/>
          </p:nvPr>
        </p:nvSpPr>
        <p:spPr/>
        <p:txBody>
          <a:bodyPr>
            <a:normAutofit/>
          </a:bodyPr>
          <a:lstStyle/>
          <a:p>
            <a:r>
              <a:rPr kumimoji="1" lang="en-US" altLang="ja-JP" dirty="0"/>
              <a:t>X</a:t>
            </a:r>
            <a:r>
              <a:rPr kumimoji="1" lang="ja-JP" altLang="en-US" dirty="0"/>
              <a:t>社の主力事業として</a:t>
            </a:r>
            <a:r>
              <a:rPr kumimoji="1" lang="en-US" altLang="ja-JP" dirty="0"/>
              <a:t>A</a:t>
            </a:r>
            <a:r>
              <a:rPr kumimoji="1" lang="ja-JP" altLang="en-US" dirty="0"/>
              <a:t>事業と</a:t>
            </a:r>
            <a:r>
              <a:rPr kumimoji="1" lang="en-US" altLang="ja-JP" dirty="0"/>
              <a:t>B</a:t>
            </a:r>
            <a:r>
              <a:rPr kumimoji="1" lang="ja-JP" altLang="en-US" dirty="0"/>
              <a:t>事業が挙げられる。</a:t>
            </a:r>
            <a:endParaRPr kumimoji="1" lang="en-US" altLang="ja-JP" dirty="0"/>
          </a:p>
          <a:p>
            <a:r>
              <a:rPr lang="ja-JP" altLang="en-US" dirty="0"/>
              <a:t>売り上げ増加の見込みのない</a:t>
            </a:r>
            <a:r>
              <a:rPr lang="en-US" altLang="ja-JP" dirty="0"/>
              <a:t>D</a:t>
            </a:r>
            <a:r>
              <a:rPr lang="ja-JP" altLang="en-US" dirty="0"/>
              <a:t>事業から撤退し、市場成長率が高く、市場リーダーである</a:t>
            </a:r>
            <a:r>
              <a:rPr lang="en-US" altLang="ja-JP" dirty="0"/>
              <a:t>B</a:t>
            </a:r>
            <a:r>
              <a:rPr lang="ja-JP" altLang="en-US" dirty="0"/>
              <a:t>事業に集中投資するべきである</a:t>
            </a:r>
            <a:endParaRPr kumimoji="1" lang="ja-JP" altLang="en-US" dirty="0"/>
          </a:p>
        </p:txBody>
      </p:sp>
      <p:sp>
        <p:nvSpPr>
          <p:cNvPr id="4" name="コンテンツ プレースホルダー 3">
            <a:extLst>
              <a:ext uri="{FF2B5EF4-FFF2-40B4-BE49-F238E27FC236}">
                <a16:creationId xmlns:a16="http://schemas.microsoft.com/office/drawing/2014/main" id="{1E5F3566-219C-DD68-0138-03E4BE2C1198}"/>
              </a:ext>
            </a:extLst>
          </p:cNvPr>
          <p:cNvSpPr>
            <a:spLocks noGrp="1"/>
          </p:cNvSpPr>
          <p:nvPr>
            <p:ph sz="quarter" idx="14"/>
          </p:nvPr>
        </p:nvSpPr>
        <p:spPr>
          <a:xfrm>
            <a:off x="317241" y="1455576"/>
            <a:ext cx="11591536" cy="2307675"/>
          </a:xfrm>
        </p:spPr>
        <p:txBody>
          <a:bodyPr>
            <a:normAutofit/>
          </a:bodyPr>
          <a:lstStyle/>
          <a:p>
            <a:pPr marL="0" indent="0">
              <a:buNone/>
            </a:pPr>
            <a:r>
              <a:rPr lang="en-US" altLang="ja-JP" dirty="0"/>
              <a:t>A</a:t>
            </a:r>
            <a:r>
              <a:rPr lang="ja-JP" altLang="en-US" dirty="0"/>
              <a:t>事業（金のなる木）：市場成長率が低いが相対市場シェアの高い事象に位置している。</a:t>
            </a:r>
            <a:r>
              <a:rPr lang="en-US" altLang="ja-JP" dirty="0"/>
              <a:t>2022</a:t>
            </a:r>
            <a:r>
              <a:rPr lang="ja-JP" altLang="en-US" dirty="0"/>
              <a:t>年までは売上げの大きさを維持しているが、市場成長率は下がり続けているため、同様の収益性を今後も目指していくには市場シェアの高さを保持する戦略が必要。</a:t>
            </a:r>
            <a:endParaRPr lang="en-US" altLang="ja-JP" dirty="0"/>
          </a:p>
          <a:p>
            <a:pPr marL="0" indent="0">
              <a:buNone/>
            </a:pPr>
            <a:r>
              <a:rPr lang="en-US" altLang="ja-JP" dirty="0"/>
              <a:t>B</a:t>
            </a:r>
            <a:r>
              <a:rPr lang="ja-JP" altLang="en-US" dirty="0"/>
              <a:t>事業（花形）：市場成長率と相対市場シェアともに高い事象に位置している。</a:t>
            </a:r>
            <a:r>
              <a:rPr lang="en-US" altLang="ja-JP" dirty="0"/>
              <a:t>2022</a:t>
            </a:r>
            <a:r>
              <a:rPr lang="ja-JP" altLang="en-US" dirty="0"/>
              <a:t>年にかけて市場成長率が伸びているが、相対市場シェアは変わっていないため、売上げの大きさが変わっていない。市場シェアを大きくするための投資が必要。</a:t>
            </a:r>
            <a:endParaRPr lang="en-US" altLang="ja-JP" dirty="0"/>
          </a:p>
          <a:p>
            <a:pPr marL="0" indent="0">
              <a:buNone/>
            </a:pPr>
            <a:r>
              <a:rPr lang="en-US" altLang="ja-JP" dirty="0"/>
              <a:t>C</a:t>
            </a:r>
            <a:r>
              <a:rPr lang="ja-JP" altLang="en-US" dirty="0"/>
              <a:t>事業（問題児）：市場成長率が高いが相対市場シェアの低い事象に位置している。最も市場成長率の高い事業であるが、相対市場シェアは大きくなっていないため、売上げの大きさが変わっていない。市場シェアを大きくするための投資を行うか、撤退することで</a:t>
            </a:r>
            <a:r>
              <a:rPr lang="en-US" altLang="ja-JP" dirty="0"/>
              <a:t>A</a:t>
            </a:r>
            <a:r>
              <a:rPr lang="ja-JP" altLang="en-US" dirty="0"/>
              <a:t>・</a:t>
            </a:r>
            <a:r>
              <a:rPr lang="en-US" altLang="ja-JP" dirty="0"/>
              <a:t>B</a:t>
            </a:r>
            <a:r>
              <a:rPr lang="ja-JP" altLang="en-US" dirty="0"/>
              <a:t>事業に経営資源を振り分けるかの判断が必要。</a:t>
            </a:r>
            <a:endParaRPr lang="en-US" altLang="ja-JP" dirty="0"/>
          </a:p>
          <a:p>
            <a:pPr marL="0" indent="0">
              <a:buNone/>
            </a:pPr>
            <a:r>
              <a:rPr kumimoji="1" lang="en-US" altLang="ja-JP" dirty="0"/>
              <a:t>D</a:t>
            </a:r>
            <a:r>
              <a:rPr kumimoji="1" lang="ja-JP" altLang="en-US" dirty="0"/>
              <a:t>事業（負け犬）：市場成長率と相対市場</a:t>
            </a:r>
            <a:r>
              <a:rPr lang="ja-JP" altLang="en-US" dirty="0"/>
              <a:t>シェアともに低い市場に位置している。売上も小さいため、撤退すべきである。</a:t>
            </a:r>
            <a:endParaRPr kumimoji="1" lang="en-US" altLang="ja-JP" dirty="0"/>
          </a:p>
        </p:txBody>
      </p:sp>
      <p:graphicFrame>
        <p:nvGraphicFramePr>
          <p:cNvPr id="6" name="グラフ 5">
            <a:extLst>
              <a:ext uri="{FF2B5EF4-FFF2-40B4-BE49-F238E27FC236}">
                <a16:creationId xmlns:a16="http://schemas.microsoft.com/office/drawing/2014/main" id="{C702DE35-A51D-D1F9-FA58-B9F1EDCFB23A}"/>
              </a:ext>
            </a:extLst>
          </p:cNvPr>
          <p:cNvGraphicFramePr>
            <a:graphicFrameLocks/>
          </p:cNvGraphicFramePr>
          <p:nvPr>
            <p:extLst>
              <p:ext uri="{D42A27DB-BD31-4B8C-83A1-F6EECF244321}">
                <p14:modId xmlns:p14="http://schemas.microsoft.com/office/powerpoint/2010/main" val="1369639421"/>
              </p:ext>
            </p:extLst>
          </p:nvPr>
        </p:nvGraphicFramePr>
        <p:xfrm>
          <a:off x="659162" y="3571875"/>
          <a:ext cx="5262583" cy="31575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グラフ 6">
            <a:extLst>
              <a:ext uri="{FF2B5EF4-FFF2-40B4-BE49-F238E27FC236}">
                <a16:creationId xmlns:a16="http://schemas.microsoft.com/office/drawing/2014/main" id="{F0D2CD49-ACEA-8BA0-FFD3-780A74C7397D}"/>
              </a:ext>
            </a:extLst>
          </p:cNvPr>
          <p:cNvGraphicFramePr>
            <a:graphicFrameLocks/>
          </p:cNvGraphicFramePr>
          <p:nvPr>
            <p:extLst>
              <p:ext uri="{D42A27DB-BD31-4B8C-83A1-F6EECF244321}">
                <p14:modId xmlns:p14="http://schemas.microsoft.com/office/powerpoint/2010/main" val="1613086322"/>
              </p:ext>
            </p:extLst>
          </p:nvPr>
        </p:nvGraphicFramePr>
        <p:xfrm>
          <a:off x="6254262" y="3571875"/>
          <a:ext cx="5262583" cy="3157550"/>
        </p:xfrm>
        <a:graphic>
          <a:graphicData uri="http://schemas.openxmlformats.org/drawingml/2006/chart">
            <c:chart xmlns:c="http://schemas.openxmlformats.org/drawingml/2006/chart" xmlns:r="http://schemas.openxmlformats.org/officeDocument/2006/relationships" r:id="rId4"/>
          </a:graphicData>
        </a:graphic>
      </p:graphicFrame>
      <p:cxnSp>
        <p:nvCxnSpPr>
          <p:cNvPr id="9" name="直線コネクタ 8">
            <a:extLst>
              <a:ext uri="{FF2B5EF4-FFF2-40B4-BE49-F238E27FC236}">
                <a16:creationId xmlns:a16="http://schemas.microsoft.com/office/drawing/2014/main" id="{18278B2F-5A9F-2545-91EA-4937DE914DD3}"/>
              </a:ext>
            </a:extLst>
          </p:cNvPr>
          <p:cNvCxnSpPr/>
          <p:nvPr/>
        </p:nvCxnSpPr>
        <p:spPr>
          <a:xfrm>
            <a:off x="3344707" y="4112473"/>
            <a:ext cx="0" cy="2299317"/>
          </a:xfrm>
          <a:prstGeom prst="line">
            <a:avLst/>
          </a:prstGeom>
          <a:ln w="3175">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10" name="直線コネクタ 9">
            <a:extLst>
              <a:ext uri="{FF2B5EF4-FFF2-40B4-BE49-F238E27FC236}">
                <a16:creationId xmlns:a16="http://schemas.microsoft.com/office/drawing/2014/main" id="{F7AD8694-0DAE-676D-697E-2F530B5B96E0}"/>
              </a:ext>
            </a:extLst>
          </p:cNvPr>
          <p:cNvCxnSpPr/>
          <p:nvPr/>
        </p:nvCxnSpPr>
        <p:spPr>
          <a:xfrm>
            <a:off x="8945407" y="4112473"/>
            <a:ext cx="0" cy="2299317"/>
          </a:xfrm>
          <a:prstGeom prst="line">
            <a:avLst/>
          </a:prstGeom>
          <a:ln w="3175">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7B63294E-E9D0-85BF-701A-D41662BFE881}"/>
              </a:ext>
            </a:extLst>
          </p:cNvPr>
          <p:cNvCxnSpPr/>
          <p:nvPr/>
        </p:nvCxnSpPr>
        <p:spPr>
          <a:xfrm>
            <a:off x="975360" y="5260430"/>
            <a:ext cx="4739640" cy="0"/>
          </a:xfrm>
          <a:prstGeom prst="line">
            <a:avLst/>
          </a:prstGeom>
          <a:ln w="3175">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13" name="直線コネクタ 12">
            <a:extLst>
              <a:ext uri="{FF2B5EF4-FFF2-40B4-BE49-F238E27FC236}">
                <a16:creationId xmlns:a16="http://schemas.microsoft.com/office/drawing/2014/main" id="{5201239C-9AA0-9BDE-99FF-91C9AEB0A176}"/>
              </a:ext>
            </a:extLst>
          </p:cNvPr>
          <p:cNvCxnSpPr/>
          <p:nvPr/>
        </p:nvCxnSpPr>
        <p:spPr>
          <a:xfrm>
            <a:off x="6575587" y="5260430"/>
            <a:ext cx="4739640" cy="0"/>
          </a:xfrm>
          <a:prstGeom prst="line">
            <a:avLst/>
          </a:prstGeom>
          <a:ln w="3175">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4" name="テキスト ボックス 13">
            <a:extLst>
              <a:ext uri="{FF2B5EF4-FFF2-40B4-BE49-F238E27FC236}">
                <a16:creationId xmlns:a16="http://schemas.microsoft.com/office/drawing/2014/main" id="{70353AEB-57FD-14A7-33FE-D3DFE9F6565E}"/>
              </a:ext>
            </a:extLst>
          </p:cNvPr>
          <p:cNvSpPr txBox="1"/>
          <p:nvPr/>
        </p:nvSpPr>
        <p:spPr>
          <a:xfrm>
            <a:off x="2462931" y="5466778"/>
            <a:ext cx="600074" cy="369332"/>
          </a:xfrm>
          <a:prstGeom prst="rect">
            <a:avLst/>
          </a:prstGeom>
          <a:noFill/>
        </p:spPr>
        <p:txBody>
          <a:bodyPr wrap="square" rtlCol="0">
            <a:spAutoFit/>
          </a:bodyPr>
          <a:lstStyle/>
          <a:p>
            <a:pPr algn="ctr"/>
            <a:r>
              <a:rPr kumimoji="1" lang="en-US" altLang="ja-JP" b="1" dirty="0"/>
              <a:t>A</a:t>
            </a:r>
            <a:endParaRPr kumimoji="1" lang="ja-JP" altLang="en-US" b="1" dirty="0"/>
          </a:p>
        </p:txBody>
      </p:sp>
      <p:sp>
        <p:nvSpPr>
          <p:cNvPr id="15" name="テキスト ボックス 14">
            <a:extLst>
              <a:ext uri="{FF2B5EF4-FFF2-40B4-BE49-F238E27FC236}">
                <a16:creationId xmlns:a16="http://schemas.microsoft.com/office/drawing/2014/main" id="{BF9EA445-FBA4-55FC-9D10-823D44DD585B}"/>
              </a:ext>
            </a:extLst>
          </p:cNvPr>
          <p:cNvSpPr txBox="1"/>
          <p:nvPr/>
        </p:nvSpPr>
        <p:spPr>
          <a:xfrm>
            <a:off x="4882634" y="5466778"/>
            <a:ext cx="600074" cy="369332"/>
          </a:xfrm>
          <a:prstGeom prst="rect">
            <a:avLst/>
          </a:prstGeom>
          <a:noFill/>
        </p:spPr>
        <p:txBody>
          <a:bodyPr wrap="square" rtlCol="0">
            <a:spAutoFit/>
          </a:bodyPr>
          <a:lstStyle/>
          <a:p>
            <a:pPr algn="ctr"/>
            <a:r>
              <a:rPr kumimoji="1" lang="en-US" altLang="ja-JP" b="1" dirty="0"/>
              <a:t>D</a:t>
            </a:r>
            <a:endParaRPr kumimoji="1" lang="ja-JP" altLang="en-US" b="1" dirty="0"/>
          </a:p>
        </p:txBody>
      </p:sp>
      <p:sp>
        <p:nvSpPr>
          <p:cNvPr id="16" name="テキスト ボックス 15">
            <a:extLst>
              <a:ext uri="{FF2B5EF4-FFF2-40B4-BE49-F238E27FC236}">
                <a16:creationId xmlns:a16="http://schemas.microsoft.com/office/drawing/2014/main" id="{64AFAACA-4668-C678-A7EB-8F788E79D2AE}"/>
              </a:ext>
            </a:extLst>
          </p:cNvPr>
          <p:cNvSpPr txBox="1"/>
          <p:nvPr/>
        </p:nvSpPr>
        <p:spPr>
          <a:xfrm>
            <a:off x="3989529" y="4156995"/>
            <a:ext cx="600074" cy="369332"/>
          </a:xfrm>
          <a:prstGeom prst="rect">
            <a:avLst/>
          </a:prstGeom>
          <a:noFill/>
        </p:spPr>
        <p:txBody>
          <a:bodyPr wrap="square" rtlCol="0">
            <a:spAutoFit/>
          </a:bodyPr>
          <a:lstStyle/>
          <a:p>
            <a:pPr algn="ctr"/>
            <a:r>
              <a:rPr lang="en-US" altLang="ja-JP" b="1" dirty="0"/>
              <a:t>C</a:t>
            </a:r>
            <a:endParaRPr kumimoji="1" lang="ja-JP" altLang="en-US" b="1" dirty="0"/>
          </a:p>
        </p:txBody>
      </p:sp>
      <p:sp>
        <p:nvSpPr>
          <p:cNvPr id="25" name="テキスト ボックス 24">
            <a:extLst>
              <a:ext uri="{FF2B5EF4-FFF2-40B4-BE49-F238E27FC236}">
                <a16:creationId xmlns:a16="http://schemas.microsoft.com/office/drawing/2014/main" id="{F0594CF5-3175-4639-16F9-208FE75BFCEF}"/>
              </a:ext>
            </a:extLst>
          </p:cNvPr>
          <p:cNvSpPr txBox="1"/>
          <p:nvPr/>
        </p:nvSpPr>
        <p:spPr>
          <a:xfrm>
            <a:off x="8492068" y="4108290"/>
            <a:ext cx="600074" cy="369332"/>
          </a:xfrm>
          <a:prstGeom prst="rect">
            <a:avLst/>
          </a:prstGeom>
          <a:noFill/>
        </p:spPr>
        <p:txBody>
          <a:bodyPr wrap="square" rtlCol="0">
            <a:spAutoFit/>
          </a:bodyPr>
          <a:lstStyle/>
          <a:p>
            <a:pPr algn="ctr"/>
            <a:r>
              <a:rPr lang="en-US" altLang="ja-JP" b="1" dirty="0"/>
              <a:t>B</a:t>
            </a:r>
            <a:endParaRPr kumimoji="1" lang="ja-JP" altLang="en-US" b="1" dirty="0"/>
          </a:p>
        </p:txBody>
      </p:sp>
      <p:sp>
        <p:nvSpPr>
          <p:cNvPr id="26" name="テキスト ボックス 25">
            <a:extLst>
              <a:ext uri="{FF2B5EF4-FFF2-40B4-BE49-F238E27FC236}">
                <a16:creationId xmlns:a16="http://schemas.microsoft.com/office/drawing/2014/main" id="{24F5E2BB-65D4-E4B7-4D13-E42D6FC98488}"/>
              </a:ext>
            </a:extLst>
          </p:cNvPr>
          <p:cNvSpPr txBox="1"/>
          <p:nvPr/>
        </p:nvSpPr>
        <p:spPr>
          <a:xfrm>
            <a:off x="7985098" y="5827334"/>
            <a:ext cx="600074" cy="369332"/>
          </a:xfrm>
          <a:prstGeom prst="rect">
            <a:avLst/>
          </a:prstGeom>
          <a:noFill/>
        </p:spPr>
        <p:txBody>
          <a:bodyPr wrap="square" rtlCol="0">
            <a:spAutoFit/>
          </a:bodyPr>
          <a:lstStyle/>
          <a:p>
            <a:pPr algn="ctr"/>
            <a:r>
              <a:rPr kumimoji="1" lang="en-US" altLang="ja-JP" b="1" dirty="0"/>
              <a:t>A</a:t>
            </a:r>
            <a:endParaRPr kumimoji="1" lang="ja-JP" altLang="en-US" b="1" dirty="0"/>
          </a:p>
        </p:txBody>
      </p:sp>
      <p:sp>
        <p:nvSpPr>
          <p:cNvPr id="27" name="テキスト ボックス 26">
            <a:extLst>
              <a:ext uri="{FF2B5EF4-FFF2-40B4-BE49-F238E27FC236}">
                <a16:creationId xmlns:a16="http://schemas.microsoft.com/office/drawing/2014/main" id="{D5BD1191-8294-97CF-5388-4C12810A4905}"/>
              </a:ext>
            </a:extLst>
          </p:cNvPr>
          <p:cNvSpPr txBox="1"/>
          <p:nvPr/>
        </p:nvSpPr>
        <p:spPr>
          <a:xfrm>
            <a:off x="9667452" y="3869177"/>
            <a:ext cx="600074" cy="369332"/>
          </a:xfrm>
          <a:prstGeom prst="rect">
            <a:avLst/>
          </a:prstGeom>
          <a:noFill/>
        </p:spPr>
        <p:txBody>
          <a:bodyPr wrap="square" rtlCol="0">
            <a:spAutoFit/>
          </a:bodyPr>
          <a:lstStyle/>
          <a:p>
            <a:pPr algn="ctr"/>
            <a:r>
              <a:rPr lang="en-US" altLang="ja-JP" b="1" dirty="0"/>
              <a:t>C</a:t>
            </a:r>
            <a:endParaRPr kumimoji="1" lang="ja-JP" altLang="en-US" b="1" dirty="0"/>
          </a:p>
        </p:txBody>
      </p:sp>
      <p:sp>
        <p:nvSpPr>
          <p:cNvPr id="28" name="テキスト ボックス 27">
            <a:extLst>
              <a:ext uri="{FF2B5EF4-FFF2-40B4-BE49-F238E27FC236}">
                <a16:creationId xmlns:a16="http://schemas.microsoft.com/office/drawing/2014/main" id="{4A9E39B1-F699-240C-08A1-517CAE872A69}"/>
              </a:ext>
            </a:extLst>
          </p:cNvPr>
          <p:cNvSpPr txBox="1"/>
          <p:nvPr/>
        </p:nvSpPr>
        <p:spPr>
          <a:xfrm>
            <a:off x="10487143" y="5548167"/>
            <a:ext cx="600074" cy="369332"/>
          </a:xfrm>
          <a:prstGeom prst="rect">
            <a:avLst/>
          </a:prstGeom>
          <a:noFill/>
        </p:spPr>
        <p:txBody>
          <a:bodyPr wrap="square" rtlCol="0">
            <a:spAutoFit/>
          </a:bodyPr>
          <a:lstStyle/>
          <a:p>
            <a:pPr algn="ctr"/>
            <a:r>
              <a:rPr kumimoji="1" lang="en-US" altLang="ja-JP" b="1" dirty="0"/>
              <a:t>D</a:t>
            </a:r>
            <a:endParaRPr kumimoji="1" lang="ja-JP" altLang="en-US" b="1" dirty="0"/>
          </a:p>
        </p:txBody>
      </p:sp>
      <p:sp>
        <p:nvSpPr>
          <p:cNvPr id="29" name="楕円 28">
            <a:extLst>
              <a:ext uri="{FF2B5EF4-FFF2-40B4-BE49-F238E27FC236}">
                <a16:creationId xmlns:a16="http://schemas.microsoft.com/office/drawing/2014/main" id="{FF3F5A48-1052-D7F4-1D6F-BA1A179DCE8C}"/>
              </a:ext>
            </a:extLst>
          </p:cNvPr>
          <p:cNvSpPr/>
          <p:nvPr/>
        </p:nvSpPr>
        <p:spPr>
          <a:xfrm>
            <a:off x="8441630" y="4124062"/>
            <a:ext cx="720000" cy="720000"/>
          </a:xfrm>
          <a:prstGeom prst="ellipse">
            <a:avLst/>
          </a:prstGeom>
          <a:solidFill>
            <a:srgbClr val="FBE3D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楕円 29">
            <a:extLst>
              <a:ext uri="{FF2B5EF4-FFF2-40B4-BE49-F238E27FC236}">
                <a16:creationId xmlns:a16="http://schemas.microsoft.com/office/drawing/2014/main" id="{2A8A61D8-32CF-BBF1-3106-7459E761FF81}"/>
              </a:ext>
            </a:extLst>
          </p:cNvPr>
          <p:cNvSpPr/>
          <p:nvPr/>
        </p:nvSpPr>
        <p:spPr>
          <a:xfrm>
            <a:off x="2608656" y="4501786"/>
            <a:ext cx="720000" cy="720000"/>
          </a:xfrm>
          <a:prstGeom prst="ellipse">
            <a:avLst/>
          </a:prstGeom>
          <a:solidFill>
            <a:srgbClr val="FBE3D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E424F82B-D8DE-468D-5705-B94BBE092137}"/>
              </a:ext>
            </a:extLst>
          </p:cNvPr>
          <p:cNvSpPr txBox="1"/>
          <p:nvPr/>
        </p:nvSpPr>
        <p:spPr>
          <a:xfrm>
            <a:off x="2682508" y="4501786"/>
            <a:ext cx="600074" cy="369332"/>
          </a:xfrm>
          <a:prstGeom prst="rect">
            <a:avLst/>
          </a:prstGeom>
          <a:noFill/>
        </p:spPr>
        <p:txBody>
          <a:bodyPr wrap="square" rtlCol="0">
            <a:spAutoFit/>
          </a:bodyPr>
          <a:lstStyle/>
          <a:p>
            <a:pPr algn="ctr"/>
            <a:r>
              <a:rPr kumimoji="1" lang="en-US" altLang="ja-JP" b="1" dirty="0"/>
              <a:t>B</a:t>
            </a:r>
            <a:endParaRPr kumimoji="1" lang="ja-JP" altLang="en-US" b="1" dirty="0"/>
          </a:p>
        </p:txBody>
      </p:sp>
      <p:sp>
        <p:nvSpPr>
          <p:cNvPr id="32" name="楕円 31">
            <a:extLst>
              <a:ext uri="{FF2B5EF4-FFF2-40B4-BE49-F238E27FC236}">
                <a16:creationId xmlns:a16="http://schemas.microsoft.com/office/drawing/2014/main" id="{A97E6425-AB8A-CC1F-A926-120A61D414CD}"/>
              </a:ext>
            </a:extLst>
          </p:cNvPr>
          <p:cNvSpPr/>
          <p:nvPr/>
        </p:nvSpPr>
        <p:spPr>
          <a:xfrm>
            <a:off x="2176045" y="5143603"/>
            <a:ext cx="1137600" cy="1137600"/>
          </a:xfrm>
          <a:prstGeom prst="ellipse">
            <a:avLst/>
          </a:prstGeom>
          <a:solidFill>
            <a:srgbClr val="FBE3D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楕円 32">
            <a:extLst>
              <a:ext uri="{FF2B5EF4-FFF2-40B4-BE49-F238E27FC236}">
                <a16:creationId xmlns:a16="http://schemas.microsoft.com/office/drawing/2014/main" id="{61B90B8B-2426-BE3A-95E3-8F224520E589}"/>
              </a:ext>
            </a:extLst>
          </p:cNvPr>
          <p:cNvSpPr/>
          <p:nvPr/>
        </p:nvSpPr>
        <p:spPr>
          <a:xfrm>
            <a:off x="4041490" y="4273906"/>
            <a:ext cx="432000" cy="432000"/>
          </a:xfrm>
          <a:prstGeom prst="ellipse">
            <a:avLst/>
          </a:prstGeom>
          <a:solidFill>
            <a:srgbClr val="FBE3D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楕円 34">
            <a:extLst>
              <a:ext uri="{FF2B5EF4-FFF2-40B4-BE49-F238E27FC236}">
                <a16:creationId xmlns:a16="http://schemas.microsoft.com/office/drawing/2014/main" id="{CCDA3469-FB5A-8A5B-ED1D-461C0C1B2249}"/>
              </a:ext>
            </a:extLst>
          </p:cNvPr>
          <p:cNvSpPr/>
          <p:nvPr/>
        </p:nvSpPr>
        <p:spPr>
          <a:xfrm>
            <a:off x="4981578" y="5604216"/>
            <a:ext cx="360000" cy="360000"/>
          </a:xfrm>
          <a:prstGeom prst="ellipse">
            <a:avLst/>
          </a:prstGeom>
          <a:solidFill>
            <a:srgbClr val="FBE3D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6BF60BA6-D952-323B-5EE6-1F655A3FF56B}"/>
              </a:ext>
            </a:extLst>
          </p:cNvPr>
          <p:cNvSpPr/>
          <p:nvPr/>
        </p:nvSpPr>
        <p:spPr>
          <a:xfrm>
            <a:off x="7661553" y="5486375"/>
            <a:ext cx="1224000" cy="1224000"/>
          </a:xfrm>
          <a:prstGeom prst="ellipse">
            <a:avLst/>
          </a:prstGeom>
          <a:solidFill>
            <a:srgbClr val="FBE3D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77F1590D-56DD-26E6-E55B-8F683F59B000}"/>
              </a:ext>
            </a:extLst>
          </p:cNvPr>
          <p:cNvSpPr/>
          <p:nvPr/>
        </p:nvSpPr>
        <p:spPr>
          <a:xfrm>
            <a:off x="9725026" y="4019147"/>
            <a:ext cx="468000" cy="468000"/>
          </a:xfrm>
          <a:prstGeom prst="ellipse">
            <a:avLst/>
          </a:prstGeom>
          <a:solidFill>
            <a:srgbClr val="FBE3D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C931978F-7C0C-3634-A799-16D513A3FB20}"/>
              </a:ext>
            </a:extLst>
          </p:cNvPr>
          <p:cNvSpPr/>
          <p:nvPr/>
        </p:nvSpPr>
        <p:spPr>
          <a:xfrm>
            <a:off x="10534130" y="5675244"/>
            <a:ext cx="468000" cy="468000"/>
          </a:xfrm>
          <a:prstGeom prst="ellipse">
            <a:avLst/>
          </a:prstGeom>
          <a:solidFill>
            <a:srgbClr val="FBE3D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292801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D978E-EBB8-CF93-F17D-CBF8D9A8960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0A404AF-96A2-D995-7D95-DDD0B8117E30}"/>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BEA40439-E7A7-7B19-0229-DCB6B46B0BB5}"/>
              </a:ext>
            </a:extLst>
          </p:cNvPr>
          <p:cNvSpPr>
            <a:spLocks noGrp="1"/>
          </p:cNvSpPr>
          <p:nvPr>
            <p:ph sz="quarter" idx="13"/>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A27A6E2E-DD20-C693-CB18-53C3DEE78B76}"/>
              </a:ext>
            </a:extLst>
          </p:cNvPr>
          <p:cNvSpPr>
            <a:spLocks noGrp="1"/>
          </p:cNvSpPr>
          <p:nvPr>
            <p:ph sz="quarter" idx="14"/>
          </p:nvPr>
        </p:nvSpPr>
        <p:spPr>
          <a:xfrm>
            <a:off x="317241" y="1455576"/>
            <a:ext cx="11591536" cy="783351"/>
          </a:xfrm>
        </p:spPr>
        <p:txBody>
          <a:bodyPr/>
          <a:lstStyle/>
          <a:p>
            <a:pPr marL="0" indent="0">
              <a:buNone/>
            </a:pPr>
            <a:r>
              <a:rPr kumimoji="1" lang="en-US" altLang="ja-JP" dirty="0"/>
              <a:t>Q</a:t>
            </a:r>
            <a:r>
              <a:rPr kumimoji="1" lang="ja-JP" altLang="en-US" dirty="0"/>
              <a:t>：</a:t>
            </a:r>
            <a:r>
              <a:rPr kumimoji="1" lang="en-US" altLang="ja-JP" dirty="0"/>
              <a:t>BCG</a:t>
            </a:r>
            <a:r>
              <a:rPr kumimoji="1" lang="ja-JP" altLang="en-US" dirty="0"/>
              <a:t>モデルにはどのような限界が存在するか？</a:t>
            </a:r>
          </a:p>
        </p:txBody>
      </p:sp>
      <p:sp>
        <p:nvSpPr>
          <p:cNvPr id="5" name="四角形: 角を丸くする 4">
            <a:extLst>
              <a:ext uri="{FF2B5EF4-FFF2-40B4-BE49-F238E27FC236}">
                <a16:creationId xmlns:a16="http://schemas.microsoft.com/office/drawing/2014/main" id="{87A76288-679B-57EE-A98F-DD605E3B183B}"/>
              </a:ext>
            </a:extLst>
          </p:cNvPr>
          <p:cNvSpPr/>
          <p:nvPr/>
        </p:nvSpPr>
        <p:spPr>
          <a:xfrm>
            <a:off x="101600" y="2547648"/>
            <a:ext cx="1092200" cy="474630"/>
          </a:xfrm>
          <a:prstGeom prst="roundRect">
            <a:avLst/>
          </a:prstGeom>
          <a:no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lumMod val="75000"/>
                    <a:lumOff val="25000"/>
                  </a:schemeClr>
                </a:solidFill>
                <a:latin typeface="Meiryo UI" panose="020B0604030504040204" pitchFamily="50" charset="-128"/>
                <a:ea typeface="Meiryo UI" panose="020B0604030504040204" pitchFamily="50" charset="-128"/>
              </a:rPr>
              <a:t>BCG</a:t>
            </a: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モデル</a:t>
            </a:r>
          </a:p>
        </p:txBody>
      </p:sp>
      <p:sp>
        <p:nvSpPr>
          <p:cNvPr id="6" name="四角形: 角を丸くする 5">
            <a:extLst>
              <a:ext uri="{FF2B5EF4-FFF2-40B4-BE49-F238E27FC236}">
                <a16:creationId xmlns:a16="http://schemas.microsoft.com/office/drawing/2014/main" id="{F9013094-A4AB-DB34-F338-8D58CAC5878F}"/>
              </a:ext>
            </a:extLst>
          </p:cNvPr>
          <p:cNvSpPr/>
          <p:nvPr/>
        </p:nvSpPr>
        <p:spPr>
          <a:xfrm>
            <a:off x="1612900" y="2547648"/>
            <a:ext cx="1930400" cy="985870"/>
          </a:xfrm>
          <a:prstGeom prst="roundRect">
            <a:avLst/>
          </a:prstGeom>
          <a:no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事業の市場地位を確認し、売上げが伸びそうかを推定し、投資判断を行うこと</a:t>
            </a:r>
          </a:p>
        </p:txBody>
      </p:sp>
      <p:sp>
        <p:nvSpPr>
          <p:cNvPr id="7" name="四角形: 角を丸くする 6">
            <a:extLst>
              <a:ext uri="{FF2B5EF4-FFF2-40B4-BE49-F238E27FC236}">
                <a16:creationId xmlns:a16="http://schemas.microsoft.com/office/drawing/2014/main" id="{7EEB2F2E-D87B-9977-4FE1-F08CE757366B}"/>
              </a:ext>
            </a:extLst>
          </p:cNvPr>
          <p:cNvSpPr/>
          <p:nvPr/>
        </p:nvSpPr>
        <p:spPr>
          <a:xfrm>
            <a:off x="4152900" y="4456795"/>
            <a:ext cx="1206500" cy="474630"/>
          </a:xfrm>
          <a:prstGeom prst="roundRect">
            <a:avLst/>
          </a:prstGeom>
          <a:no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市場成長率</a:t>
            </a:r>
          </a:p>
        </p:txBody>
      </p:sp>
      <p:sp>
        <p:nvSpPr>
          <p:cNvPr id="8" name="テキスト ボックス 7">
            <a:extLst>
              <a:ext uri="{FF2B5EF4-FFF2-40B4-BE49-F238E27FC236}">
                <a16:creationId xmlns:a16="http://schemas.microsoft.com/office/drawing/2014/main" id="{650F8848-8C3D-C14B-A89A-B26AF843CC8A}"/>
              </a:ext>
            </a:extLst>
          </p:cNvPr>
          <p:cNvSpPr txBox="1"/>
          <p:nvPr/>
        </p:nvSpPr>
        <p:spPr>
          <a:xfrm>
            <a:off x="2139820" y="5275262"/>
            <a:ext cx="876559" cy="254323"/>
          </a:xfrm>
          <a:prstGeom prst="rect">
            <a:avLst/>
          </a:prstGeom>
          <a:noFill/>
        </p:spPr>
        <p:txBody>
          <a:bodyPr wrap="square" rtlCol="0">
            <a:spAutoFit/>
          </a:bodyPr>
          <a:lstStyle/>
          <a:p>
            <a:pPr algn="ctr"/>
            <a:r>
              <a:rPr kumimoji="1" lang="ja-JP" altLang="en-US" sz="1050" dirty="0">
                <a:latin typeface="Meiryo UI" panose="020B0604030504040204" pitchFamily="50" charset="-128"/>
                <a:ea typeface="Meiryo UI" panose="020B0604030504040204" pitchFamily="50" charset="-128"/>
              </a:rPr>
              <a:t>変数ごと</a:t>
            </a:r>
          </a:p>
        </p:txBody>
      </p:sp>
      <p:cxnSp>
        <p:nvCxnSpPr>
          <p:cNvPr id="10" name="コネクタ: カギ線 9">
            <a:extLst>
              <a:ext uri="{FF2B5EF4-FFF2-40B4-BE49-F238E27FC236}">
                <a16:creationId xmlns:a16="http://schemas.microsoft.com/office/drawing/2014/main" id="{210DD7C2-4560-AF8A-E338-054667968DEE}"/>
              </a:ext>
            </a:extLst>
          </p:cNvPr>
          <p:cNvCxnSpPr>
            <a:cxnSpLocks/>
            <a:stCxn id="5" idx="3"/>
            <a:endCxn id="6" idx="1"/>
          </p:cNvCxnSpPr>
          <p:nvPr/>
        </p:nvCxnSpPr>
        <p:spPr>
          <a:xfrm>
            <a:off x="1193800" y="2784963"/>
            <a:ext cx="419100" cy="255620"/>
          </a:xfrm>
          <a:prstGeom prst="bentConnector3">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sp>
        <p:nvSpPr>
          <p:cNvPr id="14" name="四角形: 角を丸くする 13">
            <a:extLst>
              <a:ext uri="{FF2B5EF4-FFF2-40B4-BE49-F238E27FC236}">
                <a16:creationId xmlns:a16="http://schemas.microsoft.com/office/drawing/2014/main" id="{3305C092-35B9-29F3-B6DD-5BD43E61E43F}"/>
              </a:ext>
            </a:extLst>
          </p:cNvPr>
          <p:cNvSpPr/>
          <p:nvPr/>
        </p:nvSpPr>
        <p:spPr>
          <a:xfrm>
            <a:off x="1612900" y="4119530"/>
            <a:ext cx="1930400" cy="985870"/>
          </a:xfrm>
          <a:prstGeom prst="roundRect">
            <a:avLst/>
          </a:prstGeom>
          <a:no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市場成長率</a:t>
            </a:r>
            <a:endParaRPr lang="en-US" altLang="ja-JP" sz="1200" dirty="0">
              <a:solidFill>
                <a:schemeClr val="tx1">
                  <a:lumMod val="75000"/>
                  <a:lumOff val="25000"/>
                </a:schemeClr>
              </a:solidFill>
              <a:latin typeface="Meiryo UI" panose="020B0604030504040204" pitchFamily="50" charset="-128"/>
              <a:ea typeface="Meiryo UI" panose="020B0604030504040204" pitchFamily="50" charset="-128"/>
            </a:endParaRPr>
          </a:p>
          <a:p>
            <a:pPr algn="ct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相対市場シェア</a:t>
            </a:r>
            <a:endParaRPr kumimoji="1" lang="en-US" altLang="ja-JP" sz="1200" dirty="0">
              <a:solidFill>
                <a:schemeClr val="tx1">
                  <a:lumMod val="75000"/>
                  <a:lumOff val="25000"/>
                </a:schemeClr>
              </a:solidFill>
              <a:latin typeface="Meiryo UI" panose="020B0604030504040204" pitchFamily="50" charset="-128"/>
              <a:ea typeface="Meiryo UI" panose="020B0604030504040204" pitchFamily="50" charset="-128"/>
            </a:endParaRPr>
          </a:p>
          <a:p>
            <a:pPr algn="ctr"/>
            <a:r>
              <a:rPr lang="ja-JP" altLang="en-US" sz="1200" dirty="0">
                <a:solidFill>
                  <a:schemeClr val="tx1">
                    <a:lumMod val="75000"/>
                    <a:lumOff val="25000"/>
                  </a:schemeClr>
                </a:solidFill>
                <a:latin typeface="Meiryo UI" panose="020B0604030504040204" pitchFamily="50" charset="-128"/>
                <a:ea typeface="Meiryo UI" panose="020B0604030504040204" pitchFamily="50" charset="-128"/>
              </a:rPr>
              <a:t>売上の大きさ</a:t>
            </a:r>
            <a:endPar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endParaRPr>
          </a:p>
        </p:txBody>
      </p:sp>
      <p:cxnSp>
        <p:nvCxnSpPr>
          <p:cNvPr id="15" name="コネクタ: カギ線 14">
            <a:extLst>
              <a:ext uri="{FF2B5EF4-FFF2-40B4-BE49-F238E27FC236}">
                <a16:creationId xmlns:a16="http://schemas.microsoft.com/office/drawing/2014/main" id="{1D3ACFF9-0BC8-D9D7-83C8-E5BB68EEC725}"/>
              </a:ext>
            </a:extLst>
          </p:cNvPr>
          <p:cNvCxnSpPr>
            <a:cxnSpLocks/>
            <a:stCxn id="5" idx="3"/>
            <a:endCxn id="14" idx="1"/>
          </p:cNvCxnSpPr>
          <p:nvPr/>
        </p:nvCxnSpPr>
        <p:spPr>
          <a:xfrm>
            <a:off x="1193800" y="2784963"/>
            <a:ext cx="419100" cy="1827502"/>
          </a:xfrm>
          <a:prstGeom prst="bentConnector3">
            <a:avLst>
              <a:gd name="adj1" fmla="val 50000"/>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sp>
        <p:nvSpPr>
          <p:cNvPr id="20" name="四角形: 角を丸くする 19">
            <a:extLst>
              <a:ext uri="{FF2B5EF4-FFF2-40B4-BE49-F238E27FC236}">
                <a16:creationId xmlns:a16="http://schemas.microsoft.com/office/drawing/2014/main" id="{B68F0BB3-5BCD-B742-CBA8-C957CC31D6C4}"/>
              </a:ext>
            </a:extLst>
          </p:cNvPr>
          <p:cNvSpPr/>
          <p:nvPr/>
        </p:nvSpPr>
        <p:spPr>
          <a:xfrm>
            <a:off x="4152900" y="5268721"/>
            <a:ext cx="1206500" cy="474630"/>
          </a:xfrm>
          <a:prstGeom prst="roundRect">
            <a:avLst/>
          </a:prstGeom>
          <a:no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相対市場シェア</a:t>
            </a:r>
          </a:p>
        </p:txBody>
      </p:sp>
      <p:sp>
        <p:nvSpPr>
          <p:cNvPr id="21" name="四角形: 角を丸くする 20">
            <a:extLst>
              <a:ext uri="{FF2B5EF4-FFF2-40B4-BE49-F238E27FC236}">
                <a16:creationId xmlns:a16="http://schemas.microsoft.com/office/drawing/2014/main" id="{84C14920-E3A0-A6B2-600C-2940B15B668A}"/>
              </a:ext>
            </a:extLst>
          </p:cNvPr>
          <p:cNvSpPr/>
          <p:nvPr/>
        </p:nvSpPr>
        <p:spPr>
          <a:xfrm>
            <a:off x="4152900" y="6080649"/>
            <a:ext cx="1206500" cy="474630"/>
          </a:xfrm>
          <a:prstGeom prst="roundRect">
            <a:avLst/>
          </a:prstGeom>
          <a:no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lumMod val="75000"/>
                    <a:lumOff val="25000"/>
                  </a:schemeClr>
                </a:solidFill>
                <a:latin typeface="Meiryo UI" panose="020B0604030504040204" pitchFamily="50" charset="-128"/>
                <a:ea typeface="Meiryo UI" panose="020B0604030504040204" pitchFamily="50" charset="-128"/>
              </a:rPr>
              <a:t>売上げの大きさ</a:t>
            </a:r>
            <a:endPar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endParaRPr>
          </a:p>
        </p:txBody>
      </p:sp>
      <p:cxnSp>
        <p:nvCxnSpPr>
          <p:cNvPr id="22" name="コネクタ: カギ線 21">
            <a:extLst>
              <a:ext uri="{FF2B5EF4-FFF2-40B4-BE49-F238E27FC236}">
                <a16:creationId xmlns:a16="http://schemas.microsoft.com/office/drawing/2014/main" id="{710435EF-9F6A-4CD1-B5C0-D53241CF84B2}"/>
              </a:ext>
            </a:extLst>
          </p:cNvPr>
          <p:cNvCxnSpPr>
            <a:cxnSpLocks/>
            <a:stCxn id="14" idx="3"/>
            <a:endCxn id="7" idx="1"/>
          </p:cNvCxnSpPr>
          <p:nvPr/>
        </p:nvCxnSpPr>
        <p:spPr>
          <a:xfrm>
            <a:off x="3543300" y="4612465"/>
            <a:ext cx="609600" cy="81645"/>
          </a:xfrm>
          <a:prstGeom prst="bentConnector3">
            <a:avLst>
              <a:gd name="adj1" fmla="val 50000"/>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コネクタ: カギ線 24">
            <a:extLst>
              <a:ext uri="{FF2B5EF4-FFF2-40B4-BE49-F238E27FC236}">
                <a16:creationId xmlns:a16="http://schemas.microsoft.com/office/drawing/2014/main" id="{F6FE5689-5890-789C-FD67-F2877B84D88D}"/>
              </a:ext>
            </a:extLst>
          </p:cNvPr>
          <p:cNvCxnSpPr>
            <a:cxnSpLocks/>
            <a:stCxn id="14" idx="3"/>
            <a:endCxn id="20" idx="1"/>
          </p:cNvCxnSpPr>
          <p:nvPr/>
        </p:nvCxnSpPr>
        <p:spPr>
          <a:xfrm>
            <a:off x="3543300" y="4612465"/>
            <a:ext cx="609600" cy="893571"/>
          </a:xfrm>
          <a:prstGeom prst="bentConnector3">
            <a:avLst>
              <a:gd name="adj1" fmla="val 50000"/>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8" name="コネクタ: カギ線 27">
            <a:extLst>
              <a:ext uri="{FF2B5EF4-FFF2-40B4-BE49-F238E27FC236}">
                <a16:creationId xmlns:a16="http://schemas.microsoft.com/office/drawing/2014/main" id="{57C5C2F4-EFAD-774C-10ED-629CEC25CF35}"/>
              </a:ext>
            </a:extLst>
          </p:cNvPr>
          <p:cNvCxnSpPr>
            <a:cxnSpLocks/>
            <a:stCxn id="14" idx="3"/>
            <a:endCxn id="21" idx="1"/>
          </p:cNvCxnSpPr>
          <p:nvPr/>
        </p:nvCxnSpPr>
        <p:spPr>
          <a:xfrm>
            <a:off x="3543300" y="4612465"/>
            <a:ext cx="609600" cy="1705499"/>
          </a:xfrm>
          <a:prstGeom prst="bentConnector3">
            <a:avLst>
              <a:gd name="adj1" fmla="val 50000"/>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sp>
        <p:nvSpPr>
          <p:cNvPr id="32" name="四角形: 角を丸くする 31">
            <a:extLst>
              <a:ext uri="{FF2B5EF4-FFF2-40B4-BE49-F238E27FC236}">
                <a16:creationId xmlns:a16="http://schemas.microsoft.com/office/drawing/2014/main" id="{190768C2-8FE6-8B63-9902-3C050A365CAC}"/>
              </a:ext>
            </a:extLst>
          </p:cNvPr>
          <p:cNvSpPr/>
          <p:nvPr/>
        </p:nvSpPr>
        <p:spPr>
          <a:xfrm>
            <a:off x="4152900" y="2021017"/>
            <a:ext cx="1206500" cy="474630"/>
          </a:xfrm>
          <a:prstGeom prst="roundRect">
            <a:avLst/>
          </a:prstGeom>
          <a:no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市場地位の</a:t>
            </a:r>
            <a:endParaRPr kumimoji="1" lang="en-US" altLang="ja-JP" sz="1200" dirty="0">
              <a:solidFill>
                <a:schemeClr val="tx1">
                  <a:lumMod val="75000"/>
                  <a:lumOff val="25000"/>
                </a:schemeClr>
              </a:solidFill>
              <a:latin typeface="Meiryo UI" panose="020B0604030504040204" pitchFamily="50" charset="-128"/>
              <a:ea typeface="Meiryo UI" panose="020B0604030504040204" pitchFamily="50" charset="-128"/>
            </a:endParaRPr>
          </a:p>
          <a:p>
            <a:pPr algn="ct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確認</a:t>
            </a:r>
          </a:p>
        </p:txBody>
      </p:sp>
      <p:cxnSp>
        <p:nvCxnSpPr>
          <p:cNvPr id="33" name="コネクタ: カギ線 32">
            <a:extLst>
              <a:ext uri="{FF2B5EF4-FFF2-40B4-BE49-F238E27FC236}">
                <a16:creationId xmlns:a16="http://schemas.microsoft.com/office/drawing/2014/main" id="{26D373ED-0389-9297-C212-0AAA7E402810}"/>
              </a:ext>
            </a:extLst>
          </p:cNvPr>
          <p:cNvCxnSpPr>
            <a:cxnSpLocks/>
            <a:stCxn id="6" idx="3"/>
            <a:endCxn id="32" idx="1"/>
          </p:cNvCxnSpPr>
          <p:nvPr/>
        </p:nvCxnSpPr>
        <p:spPr>
          <a:xfrm flipV="1">
            <a:off x="3543300" y="2258332"/>
            <a:ext cx="609600" cy="782251"/>
          </a:xfrm>
          <a:prstGeom prst="bentConnector3">
            <a:avLst>
              <a:gd name="adj1" fmla="val 50000"/>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sp>
        <p:nvSpPr>
          <p:cNvPr id="37" name="四角形: 角を丸くする 36">
            <a:extLst>
              <a:ext uri="{FF2B5EF4-FFF2-40B4-BE49-F238E27FC236}">
                <a16:creationId xmlns:a16="http://schemas.microsoft.com/office/drawing/2014/main" id="{F73D0A6B-167A-F27C-8888-2EB20272CA05}"/>
              </a:ext>
            </a:extLst>
          </p:cNvPr>
          <p:cNvSpPr/>
          <p:nvPr/>
        </p:nvSpPr>
        <p:spPr>
          <a:xfrm>
            <a:off x="4152900" y="2832943"/>
            <a:ext cx="1206500" cy="474630"/>
          </a:xfrm>
          <a:prstGeom prst="roundRect">
            <a:avLst/>
          </a:prstGeom>
          <a:no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lumMod val="75000"/>
                    <a:lumOff val="25000"/>
                  </a:schemeClr>
                </a:solidFill>
                <a:latin typeface="Meiryo UI" panose="020B0604030504040204" pitchFamily="50" charset="-128"/>
                <a:ea typeface="Meiryo UI" panose="020B0604030504040204" pitchFamily="50" charset="-128"/>
              </a:rPr>
              <a:t>売上げの伸びの</a:t>
            </a:r>
            <a:endParaRPr lang="en-US" altLang="ja-JP" sz="1200" dirty="0">
              <a:solidFill>
                <a:schemeClr val="tx1">
                  <a:lumMod val="75000"/>
                  <a:lumOff val="25000"/>
                </a:schemeClr>
              </a:solidFill>
              <a:latin typeface="Meiryo UI" panose="020B0604030504040204" pitchFamily="50" charset="-128"/>
              <a:ea typeface="Meiryo UI" panose="020B0604030504040204" pitchFamily="50" charset="-128"/>
            </a:endParaRPr>
          </a:p>
          <a:p>
            <a:pPr algn="ct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推定</a:t>
            </a:r>
          </a:p>
        </p:txBody>
      </p:sp>
      <p:cxnSp>
        <p:nvCxnSpPr>
          <p:cNvPr id="38" name="コネクタ: カギ線 37">
            <a:extLst>
              <a:ext uri="{FF2B5EF4-FFF2-40B4-BE49-F238E27FC236}">
                <a16:creationId xmlns:a16="http://schemas.microsoft.com/office/drawing/2014/main" id="{A4A3DD22-3980-D319-CCC8-C822A29823F6}"/>
              </a:ext>
            </a:extLst>
          </p:cNvPr>
          <p:cNvCxnSpPr>
            <a:cxnSpLocks/>
            <a:stCxn id="6" idx="3"/>
            <a:endCxn id="37" idx="1"/>
          </p:cNvCxnSpPr>
          <p:nvPr/>
        </p:nvCxnSpPr>
        <p:spPr>
          <a:xfrm>
            <a:off x="3543300" y="3040583"/>
            <a:ext cx="609600" cy="29675"/>
          </a:xfrm>
          <a:prstGeom prst="bentConnector3">
            <a:avLst>
              <a:gd name="adj1" fmla="val 50000"/>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sp>
        <p:nvSpPr>
          <p:cNvPr id="41" name="テキスト ボックス 40">
            <a:extLst>
              <a:ext uri="{FF2B5EF4-FFF2-40B4-BE49-F238E27FC236}">
                <a16:creationId xmlns:a16="http://schemas.microsoft.com/office/drawing/2014/main" id="{532BAE3A-F7BA-7F78-026E-25B588BE57A9}"/>
              </a:ext>
            </a:extLst>
          </p:cNvPr>
          <p:cNvSpPr txBox="1"/>
          <p:nvPr/>
        </p:nvSpPr>
        <p:spPr>
          <a:xfrm>
            <a:off x="2139820" y="3587916"/>
            <a:ext cx="876559" cy="254323"/>
          </a:xfrm>
          <a:prstGeom prst="rect">
            <a:avLst/>
          </a:prstGeom>
          <a:noFill/>
        </p:spPr>
        <p:txBody>
          <a:bodyPr wrap="square" rtlCol="0">
            <a:spAutoFit/>
          </a:bodyPr>
          <a:lstStyle/>
          <a:p>
            <a:pPr algn="ctr"/>
            <a:r>
              <a:rPr kumimoji="1" lang="ja-JP" altLang="en-US" sz="1050" dirty="0">
                <a:latin typeface="Meiryo UI" panose="020B0604030504040204" pitchFamily="50" charset="-128"/>
                <a:ea typeface="Meiryo UI" panose="020B0604030504040204" pitchFamily="50" charset="-128"/>
              </a:rPr>
              <a:t>プロセスごと</a:t>
            </a:r>
          </a:p>
        </p:txBody>
      </p:sp>
      <p:sp>
        <p:nvSpPr>
          <p:cNvPr id="43" name="四角形: 角を丸くする 42">
            <a:extLst>
              <a:ext uri="{FF2B5EF4-FFF2-40B4-BE49-F238E27FC236}">
                <a16:creationId xmlns:a16="http://schemas.microsoft.com/office/drawing/2014/main" id="{4F52B679-1EF1-26C2-DFB5-25D4A7BE04C4}"/>
              </a:ext>
            </a:extLst>
          </p:cNvPr>
          <p:cNvSpPr/>
          <p:nvPr/>
        </p:nvSpPr>
        <p:spPr>
          <a:xfrm>
            <a:off x="5670810" y="2757310"/>
            <a:ext cx="4635498" cy="588819"/>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kumimoji="1" lang="en-US" altLang="ja-JP" sz="1200" dirty="0">
                <a:solidFill>
                  <a:schemeClr val="tx1">
                    <a:lumMod val="75000"/>
                    <a:lumOff val="25000"/>
                  </a:schemeClr>
                </a:solidFill>
                <a:latin typeface="Meiryo UI" panose="020B0604030504040204" pitchFamily="50" charset="-128"/>
                <a:ea typeface="Meiryo UI" panose="020B0604030504040204" pitchFamily="50" charset="-128"/>
              </a:rPr>
              <a:t>“</a:t>
            </a: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市場地位が高い</a:t>
            </a:r>
            <a:r>
              <a:rPr kumimoji="1" lang="en-US" altLang="ja-JP" sz="1200" dirty="0">
                <a:solidFill>
                  <a:schemeClr val="tx1">
                    <a:lumMod val="75000"/>
                    <a:lumOff val="25000"/>
                  </a:schemeClr>
                </a:solidFill>
                <a:latin typeface="Meiryo UI" panose="020B0604030504040204" pitchFamily="50" charset="-128"/>
                <a:ea typeface="Meiryo UI" panose="020B0604030504040204" pitchFamily="50" charset="-128"/>
              </a:rPr>
              <a:t>=</a:t>
            </a: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売上げが高い</a:t>
            </a:r>
            <a:r>
              <a:rPr kumimoji="1" lang="en-US" altLang="ja-JP" sz="1200" dirty="0">
                <a:solidFill>
                  <a:schemeClr val="tx1">
                    <a:lumMod val="75000"/>
                    <a:lumOff val="25000"/>
                  </a:schemeClr>
                </a:solidFill>
                <a:latin typeface="Meiryo UI" panose="020B0604030504040204" pitchFamily="50" charset="-128"/>
                <a:ea typeface="Meiryo UI" panose="020B0604030504040204" pitchFamily="50" charset="-128"/>
              </a:rPr>
              <a:t>/</a:t>
            </a: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今後伸びる</a:t>
            </a:r>
            <a:r>
              <a:rPr kumimoji="1" lang="en-US" altLang="ja-JP" sz="1200" dirty="0">
                <a:solidFill>
                  <a:schemeClr val="tx1">
                    <a:lumMod val="75000"/>
                    <a:lumOff val="25000"/>
                  </a:schemeClr>
                </a:solidFill>
                <a:latin typeface="Meiryo UI" panose="020B0604030504040204" pitchFamily="50" charset="-128"/>
                <a:ea typeface="Meiryo UI" panose="020B0604030504040204" pitchFamily="50" charset="-128"/>
              </a:rPr>
              <a:t>”</a:t>
            </a: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と言えるか？</a:t>
            </a:r>
            <a:endParaRPr kumimoji="1" lang="en-US" altLang="ja-JP" sz="1200" dirty="0">
              <a:solidFill>
                <a:schemeClr val="tx1">
                  <a:lumMod val="75000"/>
                  <a:lumOff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lang="ja-JP" altLang="en-US" sz="1200" dirty="0">
                <a:solidFill>
                  <a:schemeClr val="tx1">
                    <a:lumMod val="75000"/>
                    <a:lumOff val="25000"/>
                  </a:schemeClr>
                </a:solidFill>
                <a:latin typeface="Meiryo UI" panose="020B0604030504040204" pitchFamily="50" charset="-128"/>
                <a:ea typeface="Meiryo UI" panose="020B0604030504040204" pitchFamily="50" charset="-128"/>
              </a:rPr>
              <a:t>突発的に売上が伸びる要因（業界変容、技術革新等）を考慮できるか？</a:t>
            </a:r>
            <a:endPar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endParaRPr>
          </a:p>
        </p:txBody>
      </p:sp>
      <p:sp>
        <p:nvSpPr>
          <p:cNvPr id="44" name="四角形: 角を丸くする 43">
            <a:extLst>
              <a:ext uri="{FF2B5EF4-FFF2-40B4-BE49-F238E27FC236}">
                <a16:creationId xmlns:a16="http://schemas.microsoft.com/office/drawing/2014/main" id="{66E91D37-E4DE-2489-3C60-9F8D516F58C5}"/>
              </a:ext>
            </a:extLst>
          </p:cNvPr>
          <p:cNvSpPr/>
          <p:nvPr/>
        </p:nvSpPr>
        <p:spPr>
          <a:xfrm>
            <a:off x="5670810" y="3578826"/>
            <a:ext cx="4635498" cy="564284"/>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kumimoji="1" lang="en-US" altLang="ja-JP" sz="1200" dirty="0">
                <a:solidFill>
                  <a:schemeClr val="tx1">
                    <a:lumMod val="75000"/>
                    <a:lumOff val="25000"/>
                  </a:schemeClr>
                </a:solidFill>
                <a:latin typeface="Meiryo UI" panose="020B0604030504040204" pitchFamily="50" charset="-128"/>
                <a:ea typeface="Meiryo UI" panose="020B0604030504040204" pitchFamily="50" charset="-128"/>
              </a:rPr>
              <a:t>“</a:t>
            </a: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売上げが高い</a:t>
            </a:r>
            <a:r>
              <a:rPr kumimoji="1" lang="en-US" altLang="ja-JP" sz="1200" dirty="0">
                <a:solidFill>
                  <a:schemeClr val="tx1">
                    <a:lumMod val="75000"/>
                    <a:lumOff val="25000"/>
                  </a:schemeClr>
                </a:solidFill>
                <a:latin typeface="Meiryo UI" panose="020B0604030504040204" pitchFamily="50" charset="-128"/>
                <a:ea typeface="Meiryo UI" panose="020B0604030504040204" pitchFamily="50" charset="-128"/>
              </a:rPr>
              <a:t>=</a:t>
            </a: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投資判断をすべき</a:t>
            </a:r>
            <a:r>
              <a:rPr lang="en-US" altLang="ja-JP" sz="1200" dirty="0">
                <a:solidFill>
                  <a:schemeClr val="tx1">
                    <a:lumMod val="75000"/>
                    <a:lumOff val="25000"/>
                  </a:schemeClr>
                </a:solidFill>
                <a:latin typeface="Meiryo UI" panose="020B0604030504040204" pitchFamily="50" charset="-128"/>
                <a:ea typeface="Meiryo UI" panose="020B0604030504040204" pitchFamily="50" charset="-128"/>
              </a:rPr>
              <a:t>”</a:t>
            </a:r>
            <a:r>
              <a:rPr lang="ja-JP" altLang="en-US" sz="1200" dirty="0">
                <a:solidFill>
                  <a:schemeClr val="tx1">
                    <a:lumMod val="75000"/>
                    <a:lumOff val="25000"/>
                  </a:schemeClr>
                </a:solidFill>
                <a:latin typeface="Meiryo UI" panose="020B0604030504040204" pitchFamily="50" charset="-128"/>
                <a:ea typeface="Meiryo UI" panose="020B0604030504040204" pitchFamily="50" charset="-128"/>
              </a:rPr>
              <a:t>と言えるか？</a:t>
            </a:r>
            <a:endParaRPr lang="en-US" altLang="ja-JP" sz="1200" dirty="0">
              <a:solidFill>
                <a:schemeClr val="tx1">
                  <a:lumMod val="75000"/>
                  <a:lumOff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lang="ja-JP" altLang="en-US" sz="1200" dirty="0">
                <a:solidFill>
                  <a:schemeClr val="tx1">
                    <a:lumMod val="75000"/>
                    <a:lumOff val="25000"/>
                  </a:schemeClr>
                </a:solidFill>
                <a:latin typeface="Meiryo UI" panose="020B0604030504040204" pitchFamily="50" charset="-128"/>
                <a:ea typeface="Meiryo UI" panose="020B0604030504040204" pitchFamily="50" charset="-128"/>
              </a:rPr>
              <a:t>問題児と分類されたとして、投資継続か撤退かを判断できるか？</a:t>
            </a:r>
            <a:endParaRPr lang="en-US" altLang="ja-JP" sz="1200" dirty="0">
              <a:solidFill>
                <a:schemeClr val="tx1">
                  <a:lumMod val="75000"/>
                  <a:lumOff val="25000"/>
                </a:schemeClr>
              </a:solidFill>
              <a:latin typeface="Meiryo UI" panose="020B0604030504040204" pitchFamily="50" charset="-128"/>
              <a:ea typeface="Meiryo UI" panose="020B0604030504040204" pitchFamily="50" charset="-128"/>
            </a:endParaRPr>
          </a:p>
        </p:txBody>
      </p:sp>
      <p:sp>
        <p:nvSpPr>
          <p:cNvPr id="52" name="四角形: 角を丸くする 51">
            <a:extLst>
              <a:ext uri="{FF2B5EF4-FFF2-40B4-BE49-F238E27FC236}">
                <a16:creationId xmlns:a16="http://schemas.microsoft.com/office/drawing/2014/main" id="{74643C23-475E-2AE3-364E-D651429C1E13}"/>
              </a:ext>
            </a:extLst>
          </p:cNvPr>
          <p:cNvSpPr/>
          <p:nvPr/>
        </p:nvSpPr>
        <p:spPr>
          <a:xfrm>
            <a:off x="4152900" y="3644869"/>
            <a:ext cx="1206500" cy="474630"/>
          </a:xfrm>
          <a:prstGeom prst="roundRect">
            <a:avLst/>
          </a:prstGeom>
          <a:no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lumMod val="75000"/>
                    <a:lumOff val="25000"/>
                  </a:schemeClr>
                </a:solidFill>
                <a:latin typeface="Meiryo UI" panose="020B0604030504040204" pitchFamily="50" charset="-128"/>
                <a:ea typeface="Meiryo UI" panose="020B0604030504040204" pitchFamily="50" charset="-128"/>
              </a:rPr>
              <a:t>投資判断の</a:t>
            </a:r>
            <a:endParaRPr lang="en-US" altLang="ja-JP" sz="1200" dirty="0">
              <a:solidFill>
                <a:schemeClr val="tx1">
                  <a:lumMod val="75000"/>
                  <a:lumOff val="25000"/>
                </a:schemeClr>
              </a:solidFill>
              <a:latin typeface="Meiryo UI" panose="020B0604030504040204" pitchFamily="50" charset="-128"/>
              <a:ea typeface="Meiryo UI" panose="020B0604030504040204" pitchFamily="50" charset="-128"/>
            </a:endParaRPr>
          </a:p>
          <a:p>
            <a:pPr algn="ct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決定</a:t>
            </a:r>
          </a:p>
        </p:txBody>
      </p:sp>
      <p:cxnSp>
        <p:nvCxnSpPr>
          <p:cNvPr id="53" name="コネクタ: カギ線 52">
            <a:extLst>
              <a:ext uri="{FF2B5EF4-FFF2-40B4-BE49-F238E27FC236}">
                <a16:creationId xmlns:a16="http://schemas.microsoft.com/office/drawing/2014/main" id="{32ABD0C1-C474-1F58-142D-341115C1772F}"/>
              </a:ext>
            </a:extLst>
          </p:cNvPr>
          <p:cNvCxnSpPr>
            <a:cxnSpLocks/>
            <a:stCxn id="6" idx="3"/>
            <a:endCxn id="52" idx="1"/>
          </p:cNvCxnSpPr>
          <p:nvPr/>
        </p:nvCxnSpPr>
        <p:spPr>
          <a:xfrm>
            <a:off x="3543300" y="3040583"/>
            <a:ext cx="609600" cy="841601"/>
          </a:xfrm>
          <a:prstGeom prst="bentConnector3">
            <a:avLst>
              <a:gd name="adj1" fmla="val 50000"/>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sp>
        <p:nvSpPr>
          <p:cNvPr id="56" name="四角形: 角を丸くする 55">
            <a:extLst>
              <a:ext uri="{FF2B5EF4-FFF2-40B4-BE49-F238E27FC236}">
                <a16:creationId xmlns:a16="http://schemas.microsoft.com/office/drawing/2014/main" id="{220C7529-715E-C838-5999-1E101EC4CC2F}"/>
              </a:ext>
            </a:extLst>
          </p:cNvPr>
          <p:cNvSpPr/>
          <p:nvPr/>
        </p:nvSpPr>
        <p:spPr>
          <a:xfrm>
            <a:off x="5670810" y="1940553"/>
            <a:ext cx="4635498" cy="588819"/>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kumimoji="1" lang="en-US" altLang="ja-JP" sz="1200" dirty="0">
                <a:solidFill>
                  <a:schemeClr val="tx1">
                    <a:lumMod val="75000"/>
                    <a:lumOff val="25000"/>
                  </a:schemeClr>
                </a:solidFill>
                <a:latin typeface="Meiryo UI" panose="020B0604030504040204" pitchFamily="50" charset="-128"/>
                <a:ea typeface="Meiryo UI" panose="020B0604030504040204" pitchFamily="50" charset="-128"/>
              </a:rPr>
              <a:t>3</a:t>
            </a: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軸で市場地位の確認ができるか？</a:t>
            </a:r>
            <a:endParaRPr kumimoji="1" lang="en-US" altLang="ja-JP" sz="1200" dirty="0">
              <a:solidFill>
                <a:schemeClr val="tx1">
                  <a:lumMod val="75000"/>
                  <a:lumOff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lang="ja-JP" altLang="en-US" sz="1200" dirty="0">
                <a:solidFill>
                  <a:schemeClr val="tx1">
                    <a:lumMod val="75000"/>
                    <a:lumOff val="25000"/>
                  </a:schemeClr>
                </a:solidFill>
                <a:latin typeface="Meiryo UI" panose="020B0604030504040204" pitchFamily="50" charset="-128"/>
                <a:ea typeface="Meiryo UI" panose="020B0604030504040204" pitchFamily="50" charset="-128"/>
              </a:rPr>
              <a:t>技術力の優位性や、販売チャネルの多様性なども判断材料となり得るのでは？</a:t>
            </a:r>
            <a:endPar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endParaRPr>
          </a:p>
        </p:txBody>
      </p:sp>
      <p:sp>
        <p:nvSpPr>
          <p:cNvPr id="57" name="テキスト ボックス 56">
            <a:extLst>
              <a:ext uri="{FF2B5EF4-FFF2-40B4-BE49-F238E27FC236}">
                <a16:creationId xmlns:a16="http://schemas.microsoft.com/office/drawing/2014/main" id="{2BB7CCD5-5717-9E5C-4A63-4FB0C22A2524}"/>
              </a:ext>
            </a:extLst>
          </p:cNvPr>
          <p:cNvSpPr txBox="1"/>
          <p:nvPr/>
        </p:nvSpPr>
        <p:spPr>
          <a:xfrm>
            <a:off x="209420" y="3174677"/>
            <a:ext cx="876559" cy="253916"/>
          </a:xfrm>
          <a:prstGeom prst="rect">
            <a:avLst/>
          </a:prstGeom>
          <a:noFill/>
        </p:spPr>
        <p:txBody>
          <a:bodyPr wrap="square" rtlCol="0">
            <a:spAutoFit/>
          </a:bodyPr>
          <a:lstStyle/>
          <a:p>
            <a:pPr algn="ctr"/>
            <a:r>
              <a:rPr kumimoji="1" lang="ja-JP" altLang="en-US" sz="1050" dirty="0">
                <a:latin typeface="Meiryo UI" panose="020B0604030504040204" pitchFamily="50" charset="-128"/>
                <a:ea typeface="Meiryo UI" panose="020B0604030504040204" pitchFamily="50" charset="-128"/>
              </a:rPr>
              <a:t>目的</a:t>
            </a:r>
            <a:r>
              <a:rPr kumimoji="1" lang="en-US" altLang="ja-JP" sz="1050" dirty="0">
                <a:latin typeface="Meiryo UI" panose="020B0604030504040204" pitchFamily="50" charset="-128"/>
                <a:ea typeface="Meiryo UI" panose="020B0604030504040204" pitchFamily="50" charset="-128"/>
              </a:rPr>
              <a:t>/</a:t>
            </a:r>
            <a:r>
              <a:rPr kumimoji="1" lang="ja-JP" altLang="en-US" sz="1050" dirty="0">
                <a:latin typeface="Meiryo UI" panose="020B0604030504040204" pitchFamily="50" charset="-128"/>
                <a:ea typeface="Meiryo UI" panose="020B0604030504040204" pitchFamily="50" charset="-128"/>
              </a:rPr>
              <a:t>手段</a:t>
            </a:r>
          </a:p>
        </p:txBody>
      </p:sp>
      <p:sp>
        <p:nvSpPr>
          <p:cNvPr id="60" name="テキスト ボックス 59">
            <a:extLst>
              <a:ext uri="{FF2B5EF4-FFF2-40B4-BE49-F238E27FC236}">
                <a16:creationId xmlns:a16="http://schemas.microsoft.com/office/drawing/2014/main" id="{D04E47AA-9DD5-89B0-B500-EEF06CFED12A}"/>
              </a:ext>
            </a:extLst>
          </p:cNvPr>
          <p:cNvSpPr txBox="1"/>
          <p:nvPr/>
        </p:nvSpPr>
        <p:spPr>
          <a:xfrm>
            <a:off x="7550279" y="1601963"/>
            <a:ext cx="876559" cy="338554"/>
          </a:xfrm>
          <a:prstGeom prst="rect">
            <a:avLst/>
          </a:prstGeom>
          <a:noFill/>
        </p:spPr>
        <p:txBody>
          <a:bodyPr wrap="square" rtlCol="0">
            <a:spAutoFit/>
          </a:bodyPr>
          <a:lstStyle/>
          <a:p>
            <a:pPr algn="ctr"/>
            <a:r>
              <a:rPr kumimoji="1" lang="ja-JP" altLang="en-US" sz="1600" dirty="0">
                <a:latin typeface="Meiryo UI" panose="020B0604030504040204" pitchFamily="50" charset="-128"/>
                <a:ea typeface="Meiryo UI" panose="020B0604030504040204" pitchFamily="50" charset="-128"/>
              </a:rPr>
              <a:t>疑問点</a:t>
            </a:r>
          </a:p>
        </p:txBody>
      </p:sp>
      <p:sp>
        <p:nvSpPr>
          <p:cNvPr id="62" name="四角形: 角を丸くする 61">
            <a:extLst>
              <a:ext uri="{FF2B5EF4-FFF2-40B4-BE49-F238E27FC236}">
                <a16:creationId xmlns:a16="http://schemas.microsoft.com/office/drawing/2014/main" id="{A0ABEACE-C6FA-2A9C-1B5E-EB3E2C2C4D92}"/>
              </a:ext>
            </a:extLst>
          </p:cNvPr>
          <p:cNvSpPr/>
          <p:nvPr/>
        </p:nvSpPr>
        <p:spPr>
          <a:xfrm>
            <a:off x="5670810" y="6004560"/>
            <a:ext cx="4635498" cy="588819"/>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事業の収益性を判断するために可視化する変数として売上げだけでなく、利益率（コストの大きさ）が必要ではないか？</a:t>
            </a:r>
          </a:p>
        </p:txBody>
      </p:sp>
      <p:sp>
        <p:nvSpPr>
          <p:cNvPr id="63" name="四角形: 角を丸くする 62">
            <a:extLst>
              <a:ext uri="{FF2B5EF4-FFF2-40B4-BE49-F238E27FC236}">
                <a16:creationId xmlns:a16="http://schemas.microsoft.com/office/drawing/2014/main" id="{F1C6D040-975A-EE35-98C9-80A8A9D8011D}"/>
              </a:ext>
            </a:extLst>
          </p:cNvPr>
          <p:cNvSpPr/>
          <p:nvPr/>
        </p:nvSpPr>
        <p:spPr>
          <a:xfrm>
            <a:off x="5670810" y="5187804"/>
            <a:ext cx="4635498" cy="588819"/>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ja-JP" altLang="en-US" sz="1200" dirty="0">
                <a:solidFill>
                  <a:schemeClr val="tx1">
                    <a:lumMod val="75000"/>
                    <a:lumOff val="25000"/>
                  </a:schemeClr>
                </a:solidFill>
                <a:latin typeface="Meiryo UI" panose="020B0604030504040204" pitchFamily="50" charset="-128"/>
                <a:ea typeface="Meiryo UI" panose="020B0604030504040204" pitchFamily="50" charset="-128"/>
              </a:rPr>
              <a:t>小規模事業者</a:t>
            </a: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が持つ事業は全て相対市場シェアが低いため、</a:t>
            </a:r>
            <a:r>
              <a:rPr kumimoji="1" lang="en-US" altLang="ja-JP" sz="1200" dirty="0">
                <a:solidFill>
                  <a:schemeClr val="tx1">
                    <a:lumMod val="75000"/>
                    <a:lumOff val="25000"/>
                  </a:schemeClr>
                </a:solidFill>
                <a:latin typeface="Meiryo UI" panose="020B0604030504040204" pitchFamily="50" charset="-128"/>
                <a:ea typeface="Meiryo UI" panose="020B0604030504040204" pitchFamily="50" charset="-128"/>
              </a:rPr>
              <a:t>BCG</a:t>
            </a: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モデル上に違いが出ないのではないか。</a:t>
            </a:r>
          </a:p>
        </p:txBody>
      </p:sp>
      <p:sp>
        <p:nvSpPr>
          <p:cNvPr id="64" name="四角形: 角を丸くする 63">
            <a:extLst>
              <a:ext uri="{FF2B5EF4-FFF2-40B4-BE49-F238E27FC236}">
                <a16:creationId xmlns:a16="http://schemas.microsoft.com/office/drawing/2014/main" id="{A4D5CEC0-A542-64FA-6C5B-C52774DE41C8}"/>
              </a:ext>
            </a:extLst>
          </p:cNvPr>
          <p:cNvSpPr/>
          <p:nvPr/>
        </p:nvSpPr>
        <p:spPr>
          <a:xfrm>
            <a:off x="5670810" y="4371047"/>
            <a:ext cx="4635498" cy="588819"/>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kumimoji="1" lang="ja-JP" altLang="en-US" sz="1200" dirty="0">
                <a:solidFill>
                  <a:schemeClr val="tx1">
                    <a:lumMod val="75000"/>
                    <a:lumOff val="25000"/>
                  </a:schemeClr>
                </a:solidFill>
                <a:latin typeface="Meiryo UI" panose="020B0604030504040204" pitchFamily="50" charset="-128"/>
                <a:ea typeface="Meiryo UI" panose="020B0604030504040204" pitchFamily="50" charset="-128"/>
              </a:rPr>
              <a:t>公共事業や規制が強い市場は市場成長率が低く、負け犬に分類されてしまう可能性がある。しかし、他のブランド価値や社会貢献による信頼性、他事業との親和性等の市場の魅力を考慮できるか？</a:t>
            </a:r>
          </a:p>
        </p:txBody>
      </p:sp>
    </p:spTree>
    <p:extLst>
      <p:ext uri="{BB962C8B-B14F-4D97-AF65-F5344CB8AC3E}">
        <p14:creationId xmlns:p14="http://schemas.microsoft.com/office/powerpoint/2010/main" val="22176487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E6FFD-DF4B-BAEE-28A5-FFA7F179C04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AB23877-4B6A-FBB2-2398-6B2DA0ACBC4E}"/>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D69EE150-CBAA-EB3C-9076-790CEC12B337}"/>
              </a:ext>
            </a:extLst>
          </p:cNvPr>
          <p:cNvSpPr>
            <a:spLocks noGrp="1"/>
          </p:cNvSpPr>
          <p:nvPr>
            <p:ph sz="quarter" idx="13"/>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5B9B5495-DAE2-A502-689C-F8C837D9FCB3}"/>
              </a:ext>
            </a:extLst>
          </p:cNvPr>
          <p:cNvSpPr>
            <a:spLocks noGrp="1"/>
          </p:cNvSpPr>
          <p:nvPr>
            <p:ph sz="quarter" idx="14"/>
          </p:nvPr>
        </p:nvSpPr>
        <p:spPr>
          <a:xfrm>
            <a:off x="317241" y="1455576"/>
            <a:ext cx="11591536" cy="5135724"/>
          </a:xfrm>
        </p:spPr>
        <p:txBody>
          <a:bodyPr>
            <a:normAutofit/>
          </a:bodyPr>
          <a:lstStyle/>
          <a:p>
            <a:pPr marL="0" indent="0">
              <a:buNone/>
            </a:pPr>
            <a:r>
              <a:rPr kumimoji="1" lang="en-US" altLang="ja-JP" dirty="0"/>
              <a:t>Q</a:t>
            </a:r>
            <a:r>
              <a:rPr kumimoji="1" lang="ja-JP" altLang="en-US" dirty="0"/>
              <a:t>：価格センシティビティの高い商品やサービスにはどのようなものがあるか？</a:t>
            </a:r>
            <a:endParaRPr kumimoji="1" lang="en-US" altLang="ja-JP" dirty="0"/>
          </a:p>
          <a:p>
            <a:r>
              <a:rPr lang="ja-JP" altLang="en-US" dirty="0"/>
              <a:t>日用消耗品、ガソリン、ファストフードなどの低価格外食。</a:t>
            </a:r>
            <a:endParaRPr lang="en-US" altLang="ja-JP" dirty="0"/>
          </a:p>
          <a:p>
            <a:endParaRPr lang="en-US" altLang="ja-JP" dirty="0"/>
          </a:p>
          <a:p>
            <a:pPr marL="0" indent="0">
              <a:buNone/>
            </a:pPr>
            <a:r>
              <a:rPr kumimoji="1" lang="en-US" altLang="ja-JP" dirty="0"/>
              <a:t>Q</a:t>
            </a:r>
            <a:r>
              <a:rPr kumimoji="1" lang="ja-JP" altLang="en-US" dirty="0"/>
              <a:t>：どのような共通特性があるか？</a:t>
            </a:r>
            <a:endParaRPr kumimoji="1" lang="en-US" altLang="ja-JP" dirty="0"/>
          </a:p>
          <a:p>
            <a:r>
              <a:rPr lang="ja-JP" altLang="en-US" dirty="0"/>
              <a:t>市場の中に参加している事業者の数が多く、コモディティ化している商品。すなわち、代替可能性が高い。</a:t>
            </a:r>
            <a:endParaRPr lang="en-US" altLang="ja-JP" dirty="0"/>
          </a:p>
          <a:p>
            <a:r>
              <a:rPr lang="ja-JP" altLang="en-US" dirty="0"/>
              <a:t>購入頻度が高く、適正価格が消費者の頭に入っている。</a:t>
            </a:r>
            <a:endParaRPr lang="en-US" altLang="ja-JP" dirty="0"/>
          </a:p>
          <a:p>
            <a:endParaRPr kumimoji="1" lang="en-US" altLang="ja-JP" dirty="0"/>
          </a:p>
          <a:p>
            <a:pPr marL="0" indent="0">
              <a:buNone/>
            </a:pPr>
            <a:r>
              <a:rPr kumimoji="1" lang="en-US" altLang="ja-JP" dirty="0"/>
              <a:t>Q</a:t>
            </a:r>
            <a:r>
              <a:rPr kumimoji="1" lang="ja-JP" altLang="en-US" dirty="0"/>
              <a:t>：価格センシティビティの低いものはどうか？</a:t>
            </a:r>
            <a:endParaRPr kumimoji="1" lang="en-US" altLang="ja-JP" dirty="0"/>
          </a:p>
          <a:p>
            <a:r>
              <a:rPr lang="ja-JP" altLang="en-US" dirty="0"/>
              <a:t>医薬品、治療、嗜好品、コンサルタントサービスやシステム導入等、緊急性の高い修繕サービス</a:t>
            </a:r>
            <a:endParaRPr lang="en-US" altLang="ja-JP" dirty="0"/>
          </a:p>
          <a:p>
            <a:endParaRPr lang="en-US" altLang="ja-JP" dirty="0"/>
          </a:p>
          <a:p>
            <a:pPr marL="0" indent="0">
              <a:buNone/>
            </a:pPr>
            <a:r>
              <a:rPr lang="en-US" altLang="ja-JP" dirty="0"/>
              <a:t>Q</a:t>
            </a:r>
            <a:r>
              <a:rPr lang="ja-JP" altLang="en-US" dirty="0"/>
              <a:t>：どのような共通特性があるか？</a:t>
            </a:r>
            <a:endParaRPr lang="en-US" altLang="ja-JP" dirty="0"/>
          </a:p>
          <a:p>
            <a:r>
              <a:rPr lang="ja-JP" altLang="en-US" dirty="0"/>
              <a:t>価格が極端に高い、商品の購入難易度が高い、市場に存在する商品の種類が少ない等の理由でスイッチングコストが高い。</a:t>
            </a:r>
            <a:endParaRPr lang="en-US" altLang="ja-JP" dirty="0"/>
          </a:p>
          <a:p>
            <a:r>
              <a:rPr lang="ja-JP" altLang="en-US" dirty="0"/>
              <a:t>サービスや商品の購入や扱いに失敗した際のリスクが高い。</a:t>
            </a:r>
            <a:endParaRPr lang="en-US" altLang="ja-JP" dirty="0"/>
          </a:p>
          <a:p>
            <a:r>
              <a:rPr lang="ja-JP" altLang="en-US" dirty="0"/>
              <a:t>ブランド価値などの無形価値が商品の機能的価値を上回っている。</a:t>
            </a:r>
            <a:endParaRPr lang="en-US" altLang="ja-JP" dirty="0"/>
          </a:p>
          <a:p>
            <a:pPr marL="0" indent="0">
              <a:buNone/>
            </a:pPr>
            <a:endParaRPr kumimoji="1" lang="ja-JP" altLang="en-US" dirty="0"/>
          </a:p>
        </p:txBody>
      </p:sp>
    </p:spTree>
    <p:extLst>
      <p:ext uri="{BB962C8B-B14F-4D97-AF65-F5344CB8AC3E}">
        <p14:creationId xmlns:p14="http://schemas.microsoft.com/office/powerpoint/2010/main" val="30455619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D59B3-A31E-6AC7-9D32-823635757B9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004664C-09FB-AC96-F2F4-EDB0085EC7BD}"/>
              </a:ext>
            </a:extLst>
          </p:cNvPr>
          <p:cNvSpPr>
            <a:spLocks noGrp="1"/>
          </p:cNvSpPr>
          <p:nvPr>
            <p:ph type="title"/>
          </p:nvPr>
        </p:nvSpPr>
        <p:spPr/>
        <p:txBody>
          <a:bodyPr/>
          <a:lstStyle/>
          <a:p>
            <a:r>
              <a:rPr kumimoji="1" lang="ja-JP" altLang="en-US" dirty="0"/>
              <a:t>結論：</a:t>
            </a:r>
            <a:r>
              <a:rPr lang="ja-JP" altLang="en-US" dirty="0"/>
              <a:t> </a:t>
            </a:r>
            <a:r>
              <a:rPr lang="en-US" altLang="ja-JP" dirty="0"/>
              <a:t>A</a:t>
            </a:r>
            <a:r>
              <a:rPr lang="ja-JP" altLang="en-US" dirty="0"/>
              <a:t>社の戦略優位は累積生産台数の維持にあり、打ち手は今後のシナリオ次第で異なる</a:t>
            </a:r>
            <a:endParaRPr kumimoji="1" lang="ja-JP" altLang="en-US" dirty="0"/>
          </a:p>
        </p:txBody>
      </p:sp>
      <p:sp>
        <p:nvSpPr>
          <p:cNvPr id="3" name="コンテンツ プレースホルダー 2">
            <a:extLst>
              <a:ext uri="{FF2B5EF4-FFF2-40B4-BE49-F238E27FC236}">
                <a16:creationId xmlns:a16="http://schemas.microsoft.com/office/drawing/2014/main" id="{B46E5C1F-09CE-0253-C88D-E14A11CA25A5}"/>
              </a:ext>
            </a:extLst>
          </p:cNvPr>
          <p:cNvSpPr>
            <a:spLocks noGrp="1"/>
          </p:cNvSpPr>
          <p:nvPr>
            <p:ph sz="quarter" idx="13"/>
          </p:nvPr>
        </p:nvSpPr>
        <p:spPr/>
        <p:txBody>
          <a:bodyPr>
            <a:normAutofit fontScale="92500"/>
          </a:bodyPr>
          <a:lstStyle/>
          <a:p>
            <a:r>
              <a:rPr lang="ja-JP" altLang="en-US" dirty="0"/>
              <a:t>価格競争の行方は</a:t>
            </a:r>
            <a:r>
              <a:rPr lang="ja-JP" altLang="en-US" b="1" dirty="0"/>
              <a:t>価格感応シェア弾性率</a:t>
            </a:r>
            <a:r>
              <a:rPr lang="ja-JP" altLang="en-US" dirty="0"/>
              <a:t>と</a:t>
            </a:r>
            <a:r>
              <a:rPr lang="en-US" altLang="ja-JP" b="1" dirty="0"/>
              <a:t>B</a:t>
            </a:r>
            <a:r>
              <a:rPr lang="ja-JP" altLang="en-US" b="1" dirty="0"/>
              <a:t>社の値下げ幅</a:t>
            </a:r>
            <a:r>
              <a:rPr lang="ja-JP" altLang="en-US" dirty="0"/>
              <a:t>の組み合わせによって決まる。 </a:t>
            </a:r>
            <a:endParaRPr lang="en-US" altLang="ja-JP" dirty="0"/>
          </a:p>
          <a:p>
            <a:r>
              <a:rPr lang="en-US" altLang="ja-JP" dirty="0"/>
              <a:t>A</a:t>
            </a:r>
            <a:r>
              <a:rPr lang="ja-JP" altLang="en-US" dirty="0"/>
              <a:t>社は以上の</a:t>
            </a:r>
            <a:r>
              <a:rPr lang="en-US" altLang="ja-JP" dirty="0"/>
              <a:t>2</a:t>
            </a:r>
            <a:r>
              <a:rPr lang="ja-JP" altLang="en-US" dirty="0"/>
              <a:t>変数によって決定される予測シナリオを起点に、値下げ追随の要否と中長期の差別化戦略を判断すべきである。</a:t>
            </a:r>
            <a:endParaRPr kumimoji="1" lang="ja-JP" altLang="en-US" dirty="0"/>
          </a:p>
        </p:txBody>
      </p:sp>
      <p:sp>
        <p:nvSpPr>
          <p:cNvPr id="4" name="コンテンツ プレースホルダー 3">
            <a:extLst>
              <a:ext uri="{FF2B5EF4-FFF2-40B4-BE49-F238E27FC236}">
                <a16:creationId xmlns:a16="http://schemas.microsoft.com/office/drawing/2014/main" id="{2CFEF1E2-0211-F476-AED8-9D8F7B53BB56}"/>
              </a:ext>
            </a:extLst>
          </p:cNvPr>
          <p:cNvSpPr>
            <a:spLocks noGrp="1"/>
          </p:cNvSpPr>
          <p:nvPr>
            <p:ph sz="quarter" idx="14"/>
          </p:nvPr>
        </p:nvSpPr>
        <p:spPr>
          <a:xfrm>
            <a:off x="317241" y="1455576"/>
            <a:ext cx="11591536" cy="2466720"/>
          </a:xfrm>
        </p:spPr>
        <p:txBody>
          <a:bodyPr>
            <a:normAutofit/>
          </a:bodyPr>
          <a:lstStyle/>
          <a:p>
            <a:pPr marL="0" indent="0">
              <a:buNone/>
            </a:pPr>
            <a:r>
              <a:rPr kumimoji="1" lang="ja-JP" altLang="en-US" b="1" dirty="0"/>
              <a:t>今後の価格戦略シナリオを決定するうえでの前提</a:t>
            </a:r>
            <a:endParaRPr lang="en-US" altLang="ja-JP" sz="1200" b="1" dirty="0"/>
          </a:p>
          <a:p>
            <a:pPr fontAlgn="ctr">
              <a:spcBef>
                <a:spcPts val="600"/>
              </a:spcBef>
            </a:pPr>
            <a:r>
              <a:rPr lang="ja-JP" altLang="ja-JP" sz="1200" dirty="0"/>
              <a:t>シェア決定要因</a:t>
            </a:r>
            <a:r>
              <a:rPr lang="en-US" altLang="ja-JP" sz="1200" dirty="0"/>
              <a:t>	</a:t>
            </a:r>
            <a:r>
              <a:rPr lang="ja-JP" altLang="en-US" sz="1200" dirty="0"/>
              <a:t>：</a:t>
            </a:r>
            <a:r>
              <a:rPr lang="ja-JP" altLang="ja-JP" sz="1200" dirty="0"/>
              <a:t>品質差はほぼ皆無であり、市場シェアは価格差によってほぼ決定される</a:t>
            </a:r>
          </a:p>
          <a:p>
            <a:pPr fontAlgn="ctr">
              <a:spcBef>
                <a:spcPts val="600"/>
              </a:spcBef>
            </a:pPr>
            <a:r>
              <a:rPr lang="ja-JP" altLang="ja-JP" sz="1200" dirty="0"/>
              <a:t>値下げ余力</a:t>
            </a:r>
            <a:r>
              <a:rPr lang="en-US" altLang="ja-JP" sz="1200" dirty="0"/>
              <a:t>	</a:t>
            </a:r>
            <a:r>
              <a:rPr lang="ja-JP" altLang="en-US" sz="1200" dirty="0"/>
              <a:t>：</a:t>
            </a:r>
            <a:r>
              <a:rPr lang="en-US" altLang="ja-JP" sz="1200" dirty="0"/>
              <a:t>A</a:t>
            </a:r>
            <a:r>
              <a:rPr lang="ja-JP" altLang="ja-JP" sz="1200" dirty="0"/>
              <a:t>社：最大</a:t>
            </a:r>
            <a:r>
              <a:rPr lang="en-US" altLang="ja-JP" sz="1200" dirty="0"/>
              <a:t>3,400</a:t>
            </a:r>
            <a:r>
              <a:rPr lang="ja-JP" altLang="ja-JP" sz="1200" dirty="0"/>
              <a:t>円 ／ </a:t>
            </a:r>
            <a:r>
              <a:rPr lang="en-US" altLang="ja-JP" sz="1200" dirty="0"/>
              <a:t>B</a:t>
            </a:r>
            <a:r>
              <a:rPr lang="ja-JP" altLang="ja-JP" sz="1200" dirty="0"/>
              <a:t>社：最大</a:t>
            </a:r>
            <a:r>
              <a:rPr lang="en-US" altLang="ja-JP" sz="1200" dirty="0"/>
              <a:t>800</a:t>
            </a:r>
            <a:r>
              <a:rPr lang="ja-JP" altLang="ja-JP" sz="1200" dirty="0"/>
              <a:t>円</a:t>
            </a:r>
          </a:p>
          <a:p>
            <a:pPr fontAlgn="ctr">
              <a:spcBef>
                <a:spcPts val="600"/>
              </a:spcBef>
            </a:pPr>
            <a:r>
              <a:rPr lang="ja-JP" altLang="ja-JP" sz="1200" dirty="0"/>
              <a:t>コスト構造</a:t>
            </a:r>
            <a:r>
              <a:rPr lang="en-US" altLang="ja-JP" sz="1200" dirty="0"/>
              <a:t>		</a:t>
            </a:r>
            <a:r>
              <a:rPr lang="ja-JP" altLang="en-US" sz="1200" dirty="0"/>
              <a:t>：</a:t>
            </a:r>
            <a:r>
              <a:rPr lang="ja-JP" altLang="ja-JP" sz="1200" dirty="0"/>
              <a:t>総生産コストは累積生産台数による経験効果に大きく依存</a:t>
            </a:r>
          </a:p>
          <a:p>
            <a:pPr fontAlgn="ctr">
              <a:spcBef>
                <a:spcPts val="600"/>
              </a:spcBef>
            </a:pPr>
            <a:r>
              <a:rPr lang="ja-JP" altLang="ja-JP" sz="1200" dirty="0"/>
              <a:t>両社の至上命題</a:t>
            </a:r>
            <a:r>
              <a:rPr lang="en-US" altLang="ja-JP" sz="1200" dirty="0"/>
              <a:t>	</a:t>
            </a:r>
            <a:r>
              <a:rPr lang="ja-JP" altLang="en-US" sz="1200" dirty="0"/>
              <a:t>：</a:t>
            </a:r>
            <a:r>
              <a:rPr lang="en-US" altLang="ja-JP" sz="1200" dirty="0"/>
              <a:t>A</a:t>
            </a:r>
            <a:r>
              <a:rPr lang="ja-JP" altLang="ja-JP" sz="1200" dirty="0"/>
              <a:t>社＝累積生産台数の優位性維持（</a:t>
            </a:r>
            <a:r>
              <a:rPr lang="en-US" altLang="ja-JP" sz="1200" dirty="0"/>
              <a:t>=</a:t>
            </a:r>
            <a:r>
              <a:rPr lang="ja-JP" altLang="ja-JP" sz="1200" dirty="0"/>
              <a:t>シェア維持）／ </a:t>
            </a:r>
            <a:r>
              <a:rPr lang="en-US" altLang="ja-JP" sz="1200" dirty="0"/>
              <a:t>B</a:t>
            </a:r>
            <a:r>
              <a:rPr lang="ja-JP" altLang="ja-JP" sz="1200" dirty="0"/>
              <a:t>社＝累積生産台数の逆転（</a:t>
            </a:r>
            <a:r>
              <a:rPr lang="en-US" altLang="ja-JP" sz="1200" dirty="0"/>
              <a:t>=</a:t>
            </a:r>
            <a:r>
              <a:rPr lang="ja-JP" altLang="ja-JP" sz="1200" dirty="0"/>
              <a:t>シェア奪取）</a:t>
            </a:r>
          </a:p>
          <a:p>
            <a:pPr fontAlgn="ctr">
              <a:spcBef>
                <a:spcPts val="600"/>
              </a:spcBef>
            </a:pPr>
            <a:r>
              <a:rPr lang="ja-JP" altLang="ja-JP" sz="1200" dirty="0"/>
              <a:t>競争の本質</a:t>
            </a:r>
            <a:r>
              <a:rPr lang="en-US" altLang="ja-JP" sz="1200" dirty="0"/>
              <a:t>	</a:t>
            </a:r>
            <a:r>
              <a:rPr lang="ja-JP" altLang="en-US" sz="1200" dirty="0"/>
              <a:t>：</a:t>
            </a:r>
            <a:r>
              <a:rPr lang="ja-JP" altLang="ja-JP" sz="1200" dirty="0"/>
              <a:t>勝敗を決する変数は「市場シェア」であり、それは価格差</a:t>
            </a:r>
            <a:r>
              <a:rPr lang="en-US" altLang="ja-JP" sz="1200" dirty="0"/>
              <a:t>×</a:t>
            </a:r>
            <a:r>
              <a:rPr lang="ja-JP" altLang="ja-JP" sz="1200" dirty="0"/>
              <a:t>価格感応シェア弾性率によって規定される</a:t>
            </a:r>
          </a:p>
          <a:p>
            <a:pPr marL="0" indent="0">
              <a:buNone/>
            </a:pPr>
            <a:r>
              <a:rPr lang="en-US" altLang="ja-JP" sz="1100" dirty="0"/>
              <a:t>※ </a:t>
            </a:r>
            <a:r>
              <a:rPr lang="ja-JP" altLang="en-US" sz="1100" dirty="0"/>
              <a:t>価格感応シェア弾性率とは、</a:t>
            </a:r>
            <a:r>
              <a:rPr lang="en-US" altLang="ja-JP" sz="1100" dirty="0"/>
              <a:t>B</a:t>
            </a:r>
            <a:r>
              <a:rPr lang="ja-JP" altLang="en-US" sz="1100" dirty="0"/>
              <a:t>社の値下げによる価格差に対し、現状シェア（</a:t>
            </a:r>
            <a:r>
              <a:rPr lang="en-US" altLang="ja-JP" sz="1100" dirty="0"/>
              <a:t>A</a:t>
            </a:r>
            <a:r>
              <a:rPr lang="ja-JP" altLang="en-US" sz="1100" dirty="0"/>
              <a:t>社</a:t>
            </a:r>
            <a:r>
              <a:rPr lang="en-US" altLang="ja-JP" sz="1100" dirty="0"/>
              <a:t>40%</a:t>
            </a:r>
            <a:r>
              <a:rPr lang="ja-JP" altLang="en-US" sz="1100" dirty="0"/>
              <a:t>・</a:t>
            </a:r>
            <a:r>
              <a:rPr lang="en-US" altLang="ja-JP" sz="1100" dirty="0"/>
              <a:t>B</a:t>
            </a:r>
            <a:r>
              <a:rPr lang="ja-JP" altLang="en-US" sz="1100" dirty="0"/>
              <a:t>社</a:t>
            </a:r>
            <a:r>
              <a:rPr lang="en-US" altLang="ja-JP" sz="1100" dirty="0"/>
              <a:t>30%</a:t>
            </a:r>
            <a:r>
              <a:rPr lang="ja-JP" altLang="en-US" sz="1100" dirty="0"/>
              <a:t>）からどの程度シェアが移動するかを示す指標。値が高いほど、小さな価格差で大きなシェア移動が生じる。</a:t>
            </a:r>
            <a:endParaRPr lang="en-US" altLang="ja-JP" sz="1100" dirty="0"/>
          </a:p>
          <a:p>
            <a:pPr marL="0" indent="0">
              <a:buNone/>
            </a:pPr>
            <a:r>
              <a:rPr lang="ja-JP" altLang="en-US" b="1" dirty="0"/>
              <a:t>シナリオ別推奨アクション</a:t>
            </a:r>
            <a:endParaRPr lang="en-US" altLang="ja-JP" b="1" dirty="0"/>
          </a:p>
          <a:p>
            <a:r>
              <a:rPr lang="en-US" altLang="ja-JP" sz="1200" dirty="0"/>
              <a:t>B</a:t>
            </a:r>
            <a:r>
              <a:rPr lang="ja-JP" altLang="en-US" sz="1200" dirty="0"/>
              <a:t>社の値下げ幅と市場の価格感応シェア弾性率により、</a:t>
            </a:r>
            <a:r>
              <a:rPr lang="en-US" altLang="ja-JP" sz="1200" dirty="0"/>
              <a:t>A</a:t>
            </a:r>
            <a:r>
              <a:rPr lang="ja-JP" altLang="en-US" sz="1200" dirty="0"/>
              <a:t>社が値下げに追随する必要があるかが決定する。</a:t>
            </a:r>
            <a:endParaRPr lang="en-US" altLang="ja-JP" sz="1200" dirty="0"/>
          </a:p>
        </p:txBody>
      </p:sp>
      <p:grpSp>
        <p:nvGrpSpPr>
          <p:cNvPr id="30" name="グループ化 29">
            <a:extLst>
              <a:ext uri="{FF2B5EF4-FFF2-40B4-BE49-F238E27FC236}">
                <a16:creationId xmlns:a16="http://schemas.microsoft.com/office/drawing/2014/main" id="{4C0F33AB-AB29-5593-8EC6-E92275D527A2}"/>
              </a:ext>
            </a:extLst>
          </p:cNvPr>
          <p:cNvGrpSpPr/>
          <p:nvPr/>
        </p:nvGrpSpPr>
        <p:grpSpPr>
          <a:xfrm>
            <a:off x="2191847" y="3863536"/>
            <a:ext cx="7808306" cy="2934796"/>
            <a:chOff x="2755420" y="3729789"/>
            <a:chExt cx="7808306" cy="2934796"/>
          </a:xfrm>
        </p:grpSpPr>
        <p:sp>
          <p:nvSpPr>
            <p:cNvPr id="20" name="四角形: 角を丸くする 19">
              <a:extLst>
                <a:ext uri="{FF2B5EF4-FFF2-40B4-BE49-F238E27FC236}">
                  <a16:creationId xmlns:a16="http://schemas.microsoft.com/office/drawing/2014/main" id="{4E667025-D23D-CBBE-2977-7CC9EA3CC19F}"/>
                </a:ext>
              </a:extLst>
            </p:cNvPr>
            <p:cNvSpPr/>
            <p:nvPr/>
          </p:nvSpPr>
          <p:spPr>
            <a:xfrm>
              <a:off x="3426548" y="3934324"/>
              <a:ext cx="3368838" cy="1058777"/>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kumimoji="1" lang="ja-JP" altLang="en-US" sz="1400" dirty="0">
                  <a:solidFill>
                    <a:schemeClr val="tx1">
                      <a:lumMod val="75000"/>
                      <a:lumOff val="25000"/>
                    </a:schemeClr>
                  </a:solidFill>
                </a:rPr>
                <a:t>即時対応は不要だが、長期的な逆転リスクは残存。</a:t>
              </a:r>
              <a:endParaRPr kumimoji="1" lang="en-US" altLang="ja-JP" sz="1400" dirty="0">
                <a:solidFill>
                  <a:schemeClr val="tx1">
                    <a:lumMod val="75000"/>
                    <a:lumOff val="25000"/>
                  </a:schemeClr>
                </a:solidFill>
              </a:endParaRPr>
            </a:p>
            <a:p>
              <a:pPr marL="285750" indent="-285750">
                <a:buFont typeface="Arial" panose="020B0604020202020204" pitchFamily="34" charset="0"/>
                <a:buChar char="•"/>
              </a:pPr>
              <a:r>
                <a:rPr kumimoji="1" lang="ja-JP" altLang="en-US" sz="1400" dirty="0">
                  <a:solidFill>
                    <a:schemeClr val="tx1">
                      <a:lumMod val="75000"/>
                      <a:lumOff val="25000"/>
                    </a:schemeClr>
                  </a:solidFill>
                </a:rPr>
                <a:t>付加価値強化・ブランド投資等により価格感応度の引き下げが必要。</a:t>
              </a:r>
            </a:p>
          </p:txBody>
        </p:sp>
        <p:sp>
          <p:nvSpPr>
            <p:cNvPr id="21" name="四角形: 角を丸くする 20">
              <a:extLst>
                <a:ext uri="{FF2B5EF4-FFF2-40B4-BE49-F238E27FC236}">
                  <a16:creationId xmlns:a16="http://schemas.microsoft.com/office/drawing/2014/main" id="{076ADE52-78FA-FA59-21A7-67934F464548}"/>
                </a:ext>
              </a:extLst>
            </p:cNvPr>
            <p:cNvSpPr/>
            <p:nvPr/>
          </p:nvSpPr>
          <p:spPr>
            <a:xfrm>
              <a:off x="6939766" y="3934324"/>
              <a:ext cx="3368838" cy="1058777"/>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lumMod val="75000"/>
                      <a:lumOff val="25000"/>
                    </a:prstClr>
                  </a:solidFill>
                  <a:effectLst/>
                  <a:uLnTx/>
                  <a:uFillTx/>
                  <a:latin typeface="游ゴシック" panose="02110004020202020204"/>
                  <a:ea typeface="游ゴシック" panose="020B0400000000000000" pitchFamily="50" charset="-128"/>
                  <a:cs typeface="+mn-cs"/>
                </a:rPr>
                <a:t>数年以内に累積生産台数で逆転されるリスク大。</a:t>
              </a:r>
              <a:endParaRPr kumimoji="1" lang="en-US" altLang="ja-JP" sz="1400" b="0" i="0" u="none" strike="noStrike" kern="1200" cap="none" spc="0" normalizeH="0" baseline="0" noProof="0" dirty="0">
                <a:ln>
                  <a:noFill/>
                </a:ln>
                <a:solidFill>
                  <a:prstClr val="black">
                    <a:lumMod val="75000"/>
                    <a:lumOff val="25000"/>
                  </a:prstClr>
                </a:solidFill>
                <a:effectLst/>
                <a:uLnTx/>
                <a:uFillTx/>
                <a:latin typeface="游ゴシック" panose="02110004020202020204"/>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lumMod val="75000"/>
                      <a:lumOff val="25000"/>
                    </a:prstClr>
                  </a:solidFill>
                  <a:effectLst/>
                  <a:uLnTx/>
                  <a:uFillTx/>
                  <a:latin typeface="游ゴシック" panose="02110004020202020204"/>
                  <a:ea typeface="游ゴシック" panose="020B0400000000000000" pitchFamily="50" charset="-128"/>
                  <a:cs typeface="+mn-cs"/>
                </a:rPr>
                <a:t>赤字にならない範囲で値下げに追随し、シェア死守を優先する。</a:t>
              </a:r>
            </a:p>
          </p:txBody>
        </p:sp>
        <p:sp>
          <p:nvSpPr>
            <p:cNvPr id="23" name="四角形: 角を丸くする 22">
              <a:extLst>
                <a:ext uri="{FF2B5EF4-FFF2-40B4-BE49-F238E27FC236}">
                  <a16:creationId xmlns:a16="http://schemas.microsoft.com/office/drawing/2014/main" id="{FF3C7C0A-ED86-FE5E-095D-2F4203EB58A5}"/>
                </a:ext>
              </a:extLst>
            </p:cNvPr>
            <p:cNvSpPr/>
            <p:nvPr/>
          </p:nvSpPr>
          <p:spPr>
            <a:xfrm>
              <a:off x="3426548" y="5126998"/>
              <a:ext cx="3368838" cy="1058777"/>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kumimoji="1" lang="ja-JP" altLang="en-US" sz="1400" dirty="0">
                  <a:solidFill>
                    <a:schemeClr val="tx1">
                      <a:lumMod val="75000"/>
                      <a:lumOff val="25000"/>
                    </a:schemeClr>
                  </a:solidFill>
                </a:rPr>
                <a:t>シェア逆転の可能性は低く、現行戦略を維持。</a:t>
              </a:r>
              <a:endParaRPr kumimoji="1" lang="en-US" altLang="ja-JP" sz="1400" dirty="0">
                <a:solidFill>
                  <a:schemeClr val="tx1">
                    <a:lumMod val="75000"/>
                    <a:lumOff val="25000"/>
                  </a:schemeClr>
                </a:solidFill>
              </a:endParaRPr>
            </a:p>
            <a:p>
              <a:pPr marL="285750" indent="-285750">
                <a:buFont typeface="Arial" panose="020B0604020202020204" pitchFamily="34" charset="0"/>
                <a:buChar char="•"/>
              </a:pPr>
              <a:r>
                <a:rPr kumimoji="1" lang="ja-JP" altLang="en-US" sz="1400" dirty="0">
                  <a:solidFill>
                    <a:schemeClr val="tx1">
                      <a:lumMod val="75000"/>
                      <a:lumOff val="25000"/>
                    </a:schemeClr>
                  </a:solidFill>
                </a:rPr>
                <a:t>値下げ追随は不要。</a:t>
              </a:r>
            </a:p>
          </p:txBody>
        </p:sp>
        <p:sp>
          <p:nvSpPr>
            <p:cNvPr id="24" name="四角形: 角を丸くする 23">
              <a:extLst>
                <a:ext uri="{FF2B5EF4-FFF2-40B4-BE49-F238E27FC236}">
                  <a16:creationId xmlns:a16="http://schemas.microsoft.com/office/drawing/2014/main" id="{38202B95-EFAE-C265-7FD8-A5CB01819F79}"/>
                </a:ext>
              </a:extLst>
            </p:cNvPr>
            <p:cNvSpPr/>
            <p:nvPr/>
          </p:nvSpPr>
          <p:spPr>
            <a:xfrm>
              <a:off x="6939766" y="5126998"/>
              <a:ext cx="3368838" cy="1058777"/>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altLang="ja-JP" sz="1400" dirty="0">
                  <a:solidFill>
                    <a:schemeClr val="tx1">
                      <a:lumMod val="75000"/>
                      <a:lumOff val="25000"/>
                    </a:schemeClr>
                  </a:solidFill>
                </a:rPr>
                <a:t>B</a:t>
              </a:r>
              <a:r>
                <a:rPr lang="ja-JP" altLang="en-US" sz="1400" dirty="0">
                  <a:solidFill>
                    <a:schemeClr val="tx1">
                      <a:lumMod val="75000"/>
                      <a:lumOff val="25000"/>
                    </a:schemeClr>
                  </a:solidFill>
                </a:rPr>
                <a:t>社の累積生産台数逆転には長期を要し、かつ</a:t>
              </a:r>
              <a:r>
                <a:rPr lang="en-US" altLang="ja-JP" sz="1400" dirty="0">
                  <a:solidFill>
                    <a:schemeClr val="tx1">
                      <a:lumMod val="75000"/>
                      <a:lumOff val="25000"/>
                    </a:schemeClr>
                  </a:solidFill>
                </a:rPr>
                <a:t>B</a:t>
              </a:r>
              <a:r>
                <a:rPr lang="ja-JP" altLang="en-US" sz="1400" dirty="0">
                  <a:solidFill>
                    <a:schemeClr val="tx1">
                      <a:lumMod val="75000"/>
                      <a:lumOff val="25000"/>
                    </a:schemeClr>
                  </a:solidFill>
                </a:rPr>
                <a:t>社は赤字状態が続くため市場退場の可能性が高い。</a:t>
              </a:r>
              <a:endParaRPr lang="en-US" altLang="ja-JP" sz="1400" dirty="0">
                <a:solidFill>
                  <a:schemeClr val="tx1">
                    <a:lumMod val="75000"/>
                    <a:lumOff val="25000"/>
                  </a:schemeClr>
                </a:solidFill>
              </a:endParaRPr>
            </a:p>
            <a:p>
              <a:pPr marL="285750" indent="-285750">
                <a:buFont typeface="Arial" panose="020B0604020202020204" pitchFamily="34" charset="0"/>
                <a:buChar char="•"/>
              </a:pPr>
              <a:r>
                <a:rPr lang="ja-JP" altLang="en-US" sz="1400" dirty="0">
                  <a:solidFill>
                    <a:schemeClr val="tx1">
                      <a:lumMod val="75000"/>
                      <a:lumOff val="25000"/>
                    </a:schemeClr>
                  </a:solidFill>
                </a:rPr>
                <a:t>値下げ追随は不要。</a:t>
              </a:r>
              <a:endParaRPr kumimoji="1" lang="ja-JP" altLang="en-US" sz="1400" dirty="0">
                <a:solidFill>
                  <a:schemeClr val="tx1">
                    <a:lumMod val="75000"/>
                    <a:lumOff val="25000"/>
                  </a:schemeClr>
                </a:solidFill>
              </a:endParaRPr>
            </a:p>
          </p:txBody>
        </p:sp>
        <p:grpSp>
          <p:nvGrpSpPr>
            <p:cNvPr id="29" name="グループ化 28">
              <a:extLst>
                <a:ext uri="{FF2B5EF4-FFF2-40B4-BE49-F238E27FC236}">
                  <a16:creationId xmlns:a16="http://schemas.microsoft.com/office/drawing/2014/main" id="{687D38D4-2248-8203-A49C-95F02F7FC48B}"/>
                </a:ext>
              </a:extLst>
            </p:cNvPr>
            <p:cNvGrpSpPr/>
            <p:nvPr/>
          </p:nvGrpSpPr>
          <p:grpSpPr>
            <a:xfrm>
              <a:off x="2755420" y="3729789"/>
              <a:ext cx="7808306" cy="2934796"/>
              <a:chOff x="2755420" y="3729789"/>
              <a:chExt cx="7808306" cy="2934796"/>
            </a:xfrm>
          </p:grpSpPr>
          <p:grpSp>
            <p:nvGrpSpPr>
              <p:cNvPr id="18" name="グループ化 17">
                <a:extLst>
                  <a:ext uri="{FF2B5EF4-FFF2-40B4-BE49-F238E27FC236}">
                    <a16:creationId xmlns:a16="http://schemas.microsoft.com/office/drawing/2014/main" id="{BC3D05D6-57DF-5770-5F1B-963E997F97B5}"/>
                  </a:ext>
                </a:extLst>
              </p:cNvPr>
              <p:cNvGrpSpPr/>
              <p:nvPr/>
            </p:nvGrpSpPr>
            <p:grpSpPr>
              <a:xfrm>
                <a:off x="3284621" y="3729789"/>
                <a:ext cx="7279105" cy="2588335"/>
                <a:chOff x="3549316" y="3597440"/>
                <a:chExt cx="7279105" cy="2588335"/>
              </a:xfrm>
            </p:grpSpPr>
            <p:cxnSp>
              <p:nvCxnSpPr>
                <p:cNvPr id="7" name="直線矢印コネクタ 6">
                  <a:extLst>
                    <a:ext uri="{FF2B5EF4-FFF2-40B4-BE49-F238E27FC236}">
                      <a16:creationId xmlns:a16="http://schemas.microsoft.com/office/drawing/2014/main" id="{DC98EB56-A961-BD7A-2095-456911C6BF6D}"/>
                    </a:ext>
                  </a:extLst>
                </p:cNvPr>
                <p:cNvCxnSpPr>
                  <a:cxnSpLocks/>
                </p:cNvCxnSpPr>
                <p:nvPr/>
              </p:nvCxnSpPr>
              <p:spPr>
                <a:xfrm>
                  <a:off x="3549316" y="6185775"/>
                  <a:ext cx="72791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直線矢印コネクタ 11">
                  <a:extLst>
                    <a:ext uri="{FF2B5EF4-FFF2-40B4-BE49-F238E27FC236}">
                      <a16:creationId xmlns:a16="http://schemas.microsoft.com/office/drawing/2014/main" id="{D810B888-DB4C-24A0-B95C-02F955087606}"/>
                    </a:ext>
                  </a:extLst>
                </p:cNvPr>
                <p:cNvCxnSpPr>
                  <a:cxnSpLocks/>
                </p:cNvCxnSpPr>
                <p:nvPr/>
              </p:nvCxnSpPr>
              <p:spPr>
                <a:xfrm flipV="1">
                  <a:off x="3549316" y="3597440"/>
                  <a:ext cx="0" cy="25883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26" name="テキスト ボックス 25">
                <a:extLst>
                  <a:ext uri="{FF2B5EF4-FFF2-40B4-BE49-F238E27FC236}">
                    <a16:creationId xmlns:a16="http://schemas.microsoft.com/office/drawing/2014/main" id="{3BEDD306-83A7-2DCB-E139-E53375C924C8}"/>
                  </a:ext>
                </a:extLst>
              </p:cNvPr>
              <p:cNvSpPr txBox="1"/>
              <p:nvPr/>
            </p:nvSpPr>
            <p:spPr>
              <a:xfrm>
                <a:off x="4963026" y="6356808"/>
                <a:ext cx="392229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Meiryo UI" panose="020B0604030504040204" pitchFamily="50" charset="-128"/>
                    <a:ea typeface="Meiryo UI" panose="020B0604030504040204" pitchFamily="50" charset="-128"/>
                  </a:rPr>
                  <a:t>B</a:t>
                </a:r>
                <a:r>
                  <a:rPr kumimoji="1" lang="ja-JP" altLang="en-US" sz="1400" dirty="0">
                    <a:solidFill>
                      <a:schemeClr val="tx1">
                        <a:lumMod val="75000"/>
                        <a:lumOff val="25000"/>
                      </a:schemeClr>
                    </a:solidFill>
                    <a:latin typeface="Meiryo UI" panose="020B0604030504040204" pitchFamily="50" charset="-128"/>
                    <a:ea typeface="Meiryo UI" panose="020B0604030504040204" pitchFamily="50" charset="-128"/>
                  </a:rPr>
                  <a:t>社の値下げ幅</a:t>
                </a:r>
              </a:p>
            </p:txBody>
          </p:sp>
          <p:sp>
            <p:nvSpPr>
              <p:cNvPr id="27" name="テキスト ボックス 26">
                <a:extLst>
                  <a:ext uri="{FF2B5EF4-FFF2-40B4-BE49-F238E27FC236}">
                    <a16:creationId xmlns:a16="http://schemas.microsoft.com/office/drawing/2014/main" id="{675414E1-5D1D-F40E-8665-514FC1443208}"/>
                  </a:ext>
                </a:extLst>
              </p:cNvPr>
              <p:cNvSpPr txBox="1"/>
              <p:nvPr/>
            </p:nvSpPr>
            <p:spPr>
              <a:xfrm>
                <a:off x="2755420" y="4073217"/>
                <a:ext cx="400110" cy="1901477"/>
              </a:xfrm>
              <a:prstGeom prst="rect">
                <a:avLst/>
              </a:prstGeom>
              <a:noFill/>
            </p:spPr>
            <p:txBody>
              <a:bodyPr vert="eaVert" wrap="square" rtlCol="0">
                <a:spAutoFit/>
              </a:bodyPr>
              <a:lstStyle/>
              <a:p>
                <a:pPr algn="ctr"/>
                <a:r>
                  <a:rPr kumimoji="1" lang="ja-JP" altLang="en-US" sz="1400" dirty="0">
                    <a:latin typeface="Meiryo UI" panose="020B0604030504040204" pitchFamily="50" charset="-128"/>
                    <a:ea typeface="Meiryo UI" panose="020B0604030504040204" pitchFamily="50" charset="-128"/>
                  </a:rPr>
                  <a:t>価格感応シェア弾性率</a:t>
                </a:r>
              </a:p>
            </p:txBody>
          </p:sp>
        </p:grpSp>
      </p:grpSp>
    </p:spTree>
    <p:extLst>
      <p:ext uri="{BB962C8B-B14F-4D97-AF65-F5344CB8AC3E}">
        <p14:creationId xmlns:p14="http://schemas.microsoft.com/office/powerpoint/2010/main" val="1067224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AB4C58-060D-B027-7FA7-92963BCB407F}"/>
              </a:ext>
            </a:extLst>
          </p:cNvPr>
          <p:cNvSpPr>
            <a:spLocks noGrp="1"/>
          </p:cNvSpPr>
          <p:nvPr>
            <p:ph type="title"/>
          </p:nvPr>
        </p:nvSpPr>
        <p:spPr/>
        <p:txBody>
          <a:bodyPr/>
          <a:lstStyle/>
          <a:p>
            <a:r>
              <a:rPr lang="ja-JP" altLang="en-US" dirty="0"/>
              <a:t>現状：累積生産台数の優位性により、現状</a:t>
            </a:r>
            <a:r>
              <a:rPr lang="en-US" altLang="ja-JP" dirty="0"/>
              <a:t>A</a:t>
            </a:r>
            <a:r>
              <a:rPr lang="ja-JP" altLang="en-US" dirty="0"/>
              <a:t>社は</a:t>
            </a:r>
            <a:r>
              <a:rPr lang="en-US" altLang="ja-JP" dirty="0"/>
              <a:t>B</a:t>
            </a:r>
            <a:r>
              <a:rPr lang="ja-JP" altLang="en-US" dirty="0"/>
              <a:t>社より生産コストが低く、粗利率で上回る</a:t>
            </a:r>
          </a:p>
        </p:txBody>
      </p:sp>
      <p:sp>
        <p:nvSpPr>
          <p:cNvPr id="3" name="コンテンツ プレースホルダー 2">
            <a:extLst>
              <a:ext uri="{FF2B5EF4-FFF2-40B4-BE49-F238E27FC236}">
                <a16:creationId xmlns:a16="http://schemas.microsoft.com/office/drawing/2014/main" id="{CFB3EAF7-CACC-9525-7860-E44C736D5D6A}"/>
              </a:ext>
            </a:extLst>
          </p:cNvPr>
          <p:cNvSpPr>
            <a:spLocks noGrp="1"/>
          </p:cNvSpPr>
          <p:nvPr>
            <p:ph sz="quarter" idx="13"/>
          </p:nvPr>
        </p:nvSpPr>
        <p:spPr/>
        <p:txBody>
          <a:bodyPr/>
          <a:lstStyle/>
          <a:p>
            <a:r>
              <a:rPr lang="en-US" altLang="ja-JP" dirty="0"/>
              <a:t>A</a:t>
            </a:r>
            <a:r>
              <a:rPr lang="ja-JP" altLang="en-US" dirty="0"/>
              <a:t>社は累積生産台数で</a:t>
            </a:r>
            <a:r>
              <a:rPr lang="en-US" altLang="ja-JP" dirty="0"/>
              <a:t>B</a:t>
            </a:r>
            <a:r>
              <a:rPr lang="ja-JP" altLang="en-US" dirty="0"/>
              <a:t>社を上回ることで経験効果が働き、現状の粗利は</a:t>
            </a:r>
            <a:r>
              <a:rPr lang="en-US" altLang="ja-JP" dirty="0"/>
              <a:t>A</a:t>
            </a:r>
            <a:r>
              <a:rPr lang="ja-JP" altLang="en-US" dirty="0"/>
              <a:t>社が優位。</a:t>
            </a:r>
            <a:endParaRPr lang="en-US" altLang="ja-JP" dirty="0"/>
          </a:p>
          <a:p>
            <a:r>
              <a:rPr lang="ja-JP" altLang="en-US" dirty="0"/>
              <a:t>ただし、価格競争により</a:t>
            </a:r>
            <a:r>
              <a:rPr lang="en-US" altLang="ja-JP" dirty="0"/>
              <a:t>B</a:t>
            </a:r>
            <a:r>
              <a:rPr lang="ja-JP" altLang="en-US" dirty="0"/>
              <a:t>社に市場シェアを逆転された場合、累積生産台数の逆転は時間の問題となる。</a:t>
            </a:r>
            <a:endParaRPr kumimoji="1" lang="ja-JP" altLang="en-US" dirty="0"/>
          </a:p>
        </p:txBody>
      </p:sp>
      <p:sp>
        <p:nvSpPr>
          <p:cNvPr id="4" name="コンテンツ プレースホルダー 3">
            <a:extLst>
              <a:ext uri="{FF2B5EF4-FFF2-40B4-BE49-F238E27FC236}">
                <a16:creationId xmlns:a16="http://schemas.microsoft.com/office/drawing/2014/main" id="{68C93DD0-C7B4-725E-9FF6-1562FE978E2A}"/>
              </a:ext>
            </a:extLst>
          </p:cNvPr>
          <p:cNvSpPr>
            <a:spLocks noGrp="1"/>
          </p:cNvSpPr>
          <p:nvPr>
            <p:ph sz="quarter" idx="14"/>
          </p:nvPr>
        </p:nvSpPr>
        <p:spPr>
          <a:xfrm>
            <a:off x="317241" y="1455576"/>
            <a:ext cx="11591536" cy="1046992"/>
          </a:xfrm>
        </p:spPr>
        <p:txBody>
          <a:bodyPr/>
          <a:lstStyle/>
          <a:p>
            <a:pPr marL="0" indent="0">
              <a:buNone/>
            </a:pPr>
            <a:r>
              <a:rPr lang="en-US" altLang="ja-JP" b="1" dirty="0"/>
              <a:t>A</a:t>
            </a:r>
            <a:r>
              <a:rPr lang="ja-JP" altLang="en-US" b="1" dirty="0"/>
              <a:t>社・</a:t>
            </a:r>
            <a:r>
              <a:rPr lang="en-US" altLang="ja-JP" b="1" dirty="0"/>
              <a:t>B</a:t>
            </a:r>
            <a:r>
              <a:rPr lang="ja-JP" altLang="en-US" b="1" dirty="0"/>
              <a:t>社のコスト構造比較</a:t>
            </a:r>
            <a:endParaRPr lang="en-US" altLang="ja-JP" b="1" dirty="0"/>
          </a:p>
          <a:p>
            <a:r>
              <a:rPr lang="ja-JP" altLang="en-US" dirty="0"/>
              <a:t>販売・流通コストは両社同水準であるが、累積生産台数の差により、</a:t>
            </a:r>
            <a:r>
              <a:rPr lang="en-US" altLang="ja-JP" dirty="0"/>
              <a:t>A</a:t>
            </a:r>
            <a:r>
              <a:rPr lang="ja-JP" altLang="en-US" dirty="0"/>
              <a:t>社の総生産コストは</a:t>
            </a:r>
            <a:r>
              <a:rPr lang="en-US" altLang="ja-JP" dirty="0"/>
              <a:t>B</a:t>
            </a:r>
            <a:r>
              <a:rPr lang="ja-JP" altLang="en-US" dirty="0"/>
              <a:t>社を下回る。</a:t>
            </a:r>
            <a:endParaRPr lang="en-US" altLang="ja-JP" dirty="0"/>
          </a:p>
          <a:p>
            <a:r>
              <a:rPr lang="ja-JP" altLang="en-US" dirty="0"/>
              <a:t>現在の販売価格</a:t>
            </a:r>
            <a:r>
              <a:rPr lang="en-US" altLang="ja-JP" dirty="0"/>
              <a:t>16,000</a:t>
            </a:r>
            <a:r>
              <a:rPr lang="ja-JP" altLang="en-US" dirty="0"/>
              <a:t>円において、総生産・販売・流通コストを控除した粗利は</a:t>
            </a:r>
            <a:r>
              <a:rPr lang="en-US" altLang="ja-JP" dirty="0"/>
              <a:t>A</a:t>
            </a:r>
            <a:r>
              <a:rPr lang="ja-JP" altLang="en-US" dirty="0"/>
              <a:t>社が</a:t>
            </a:r>
            <a:r>
              <a:rPr lang="en-US" altLang="ja-JP" dirty="0"/>
              <a:t>B</a:t>
            </a:r>
            <a:r>
              <a:rPr lang="ja-JP" altLang="en-US" dirty="0"/>
              <a:t>社を約</a:t>
            </a:r>
            <a:r>
              <a:rPr lang="en-US" altLang="ja-JP" dirty="0"/>
              <a:t>2,600</a:t>
            </a:r>
            <a:r>
              <a:rPr lang="ja-JP" altLang="en-US" dirty="0"/>
              <a:t>円上回っている。。</a:t>
            </a:r>
            <a:endParaRPr lang="en-US" altLang="ja-JP" dirty="0"/>
          </a:p>
          <a:p>
            <a:endParaRPr kumimoji="1" lang="ja-JP" altLang="en-US" dirty="0"/>
          </a:p>
        </p:txBody>
      </p:sp>
      <p:graphicFrame>
        <p:nvGraphicFramePr>
          <p:cNvPr id="13" name="表 12">
            <a:extLst>
              <a:ext uri="{FF2B5EF4-FFF2-40B4-BE49-F238E27FC236}">
                <a16:creationId xmlns:a16="http://schemas.microsoft.com/office/drawing/2014/main" id="{D4861319-EDDF-64D8-7B69-F8419EF53906}"/>
              </a:ext>
            </a:extLst>
          </p:cNvPr>
          <p:cNvGraphicFramePr>
            <a:graphicFrameLocks noGrp="1"/>
          </p:cNvGraphicFramePr>
          <p:nvPr>
            <p:extLst>
              <p:ext uri="{D42A27DB-BD31-4B8C-83A1-F6EECF244321}">
                <p14:modId xmlns:p14="http://schemas.microsoft.com/office/powerpoint/2010/main" val="3703604334"/>
              </p:ext>
            </p:extLst>
          </p:nvPr>
        </p:nvGraphicFramePr>
        <p:xfrm>
          <a:off x="3894084" y="2502568"/>
          <a:ext cx="3805846" cy="1263318"/>
        </p:xfrm>
        <a:graphic>
          <a:graphicData uri="http://schemas.openxmlformats.org/drawingml/2006/table">
            <a:tbl>
              <a:tblPr/>
              <a:tblGrid>
                <a:gridCol w="224492">
                  <a:extLst>
                    <a:ext uri="{9D8B030D-6E8A-4147-A177-3AD203B41FA5}">
                      <a16:colId xmlns:a16="http://schemas.microsoft.com/office/drawing/2014/main" val="3882022920"/>
                    </a:ext>
                  </a:extLst>
                </a:gridCol>
                <a:gridCol w="1473230">
                  <a:extLst>
                    <a:ext uri="{9D8B030D-6E8A-4147-A177-3AD203B41FA5}">
                      <a16:colId xmlns:a16="http://schemas.microsoft.com/office/drawing/2014/main" val="608426595"/>
                    </a:ext>
                  </a:extLst>
                </a:gridCol>
                <a:gridCol w="368308">
                  <a:extLst>
                    <a:ext uri="{9D8B030D-6E8A-4147-A177-3AD203B41FA5}">
                      <a16:colId xmlns:a16="http://schemas.microsoft.com/office/drawing/2014/main" val="4201967498"/>
                    </a:ext>
                  </a:extLst>
                </a:gridCol>
                <a:gridCol w="757662">
                  <a:extLst>
                    <a:ext uri="{9D8B030D-6E8A-4147-A177-3AD203B41FA5}">
                      <a16:colId xmlns:a16="http://schemas.microsoft.com/office/drawing/2014/main" val="4025277564"/>
                    </a:ext>
                  </a:extLst>
                </a:gridCol>
                <a:gridCol w="757662">
                  <a:extLst>
                    <a:ext uri="{9D8B030D-6E8A-4147-A177-3AD203B41FA5}">
                      <a16:colId xmlns:a16="http://schemas.microsoft.com/office/drawing/2014/main" val="1099021939"/>
                    </a:ext>
                  </a:extLst>
                </a:gridCol>
                <a:gridCol w="224492">
                  <a:extLst>
                    <a:ext uri="{9D8B030D-6E8A-4147-A177-3AD203B41FA5}">
                      <a16:colId xmlns:a16="http://schemas.microsoft.com/office/drawing/2014/main" val="1065680522"/>
                    </a:ext>
                  </a:extLst>
                </a:gridCol>
              </a:tblGrid>
              <a:tr h="210553">
                <a:tc>
                  <a:txBody>
                    <a:bodyPr/>
                    <a:lstStyle/>
                    <a:p>
                      <a:pPr algn="l" fontAlgn="ctr">
                        <a:buNone/>
                      </a:pPr>
                      <a:r>
                        <a:rPr lang="ja-JP" altLang="en-US" sz="11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altLang="en-US" sz="1100" b="0" i="0" u="none" strike="noStrike" dirty="0">
                          <a:solidFill>
                            <a:srgbClr val="404040"/>
                          </a:solidFill>
                          <a:effectLst/>
                          <a:latin typeface="游ゴシック" panose="020B0400000000000000" pitchFamily="50" charset="-128"/>
                          <a:ea typeface="游ゴシック" panose="020B0400000000000000" pitchFamily="50" charset="-128"/>
                        </a:rPr>
                        <a:t>コスト内訳</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altLang="en-US" sz="1100" b="0" i="0" u="none" strike="noStrike">
                          <a:solidFill>
                            <a:srgbClr val="404040"/>
                          </a:solidFill>
                          <a:effectLst/>
                          <a:latin typeface="游ゴシック" panose="020B0400000000000000" pitchFamily="50" charset="-128"/>
                          <a:ea typeface="游ゴシック" panose="020B0400000000000000" pitchFamily="50" charset="-128"/>
                        </a:rPr>
                        <a:t>　</a:t>
                      </a:r>
                    </a:p>
                  </a:txBody>
                  <a:tcPr marL="9525" marR="9525" marT="9525"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en-US" sz="1100" b="0" i="0" u="none" strike="noStrike">
                          <a:solidFill>
                            <a:srgbClr val="404040"/>
                          </a:solidFill>
                          <a:effectLst/>
                          <a:latin typeface="游ゴシック" panose="020B0400000000000000" pitchFamily="50" charset="-128"/>
                          <a:ea typeface="游ゴシック" panose="020B0400000000000000" pitchFamily="50" charset="-128"/>
                        </a:rPr>
                        <a:t>A</a:t>
                      </a:r>
                      <a:r>
                        <a:rPr lang="ja-JP" altLang="en-US" sz="1100" b="0" i="0" u="none" strike="noStrike">
                          <a:solidFill>
                            <a:srgbClr val="404040"/>
                          </a:solidFill>
                          <a:effectLst/>
                          <a:latin typeface="游ゴシック" panose="020B0400000000000000" pitchFamily="50" charset="-128"/>
                          <a:ea typeface="游ゴシック" panose="020B0400000000000000" pitchFamily="50" charset="-128"/>
                        </a:rPr>
                        <a:t>社</a:t>
                      </a: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en-US" sz="1100" b="0" i="0" u="none" strike="noStrike">
                          <a:solidFill>
                            <a:srgbClr val="404040"/>
                          </a:solidFill>
                          <a:effectLst/>
                          <a:latin typeface="游ゴシック" panose="020B0400000000000000" pitchFamily="50" charset="-128"/>
                          <a:ea typeface="游ゴシック" panose="020B0400000000000000" pitchFamily="50" charset="-128"/>
                        </a:rPr>
                        <a:t>B</a:t>
                      </a:r>
                      <a:r>
                        <a:rPr lang="ja-JP" altLang="en-US" sz="1100" b="0" i="0" u="none" strike="noStrike">
                          <a:solidFill>
                            <a:srgbClr val="404040"/>
                          </a:solidFill>
                          <a:effectLst/>
                          <a:latin typeface="游ゴシック" panose="020B0400000000000000" pitchFamily="50" charset="-128"/>
                          <a:ea typeface="游ゴシック" panose="020B0400000000000000" pitchFamily="50" charset="-128"/>
                        </a:rPr>
                        <a:t>社</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altLang="en-US" sz="11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961581377"/>
                  </a:ext>
                </a:extLst>
              </a:tr>
              <a:tr h="210553">
                <a:tc>
                  <a:txBody>
                    <a:bodyPr/>
                    <a:lstStyle/>
                    <a:p>
                      <a:pPr algn="l" fontAlgn="ctr">
                        <a:buNone/>
                      </a:pPr>
                      <a:r>
                        <a:rPr lang="ja-JP" altLang="en-US" sz="11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l" fontAlgn="ctr">
                        <a:buNone/>
                      </a:pPr>
                      <a:r>
                        <a:rPr lang="ja-JP" altLang="en-US" sz="1100" b="0" i="0" u="none" strike="noStrike">
                          <a:solidFill>
                            <a:srgbClr val="404040"/>
                          </a:solidFill>
                          <a:effectLst/>
                          <a:latin typeface="游ゴシック" panose="020B0400000000000000" pitchFamily="50" charset="-128"/>
                          <a:ea typeface="游ゴシック" panose="020B0400000000000000" pitchFamily="50" charset="-128"/>
                        </a:rPr>
                        <a:t>現在の標準小売価格</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r" fontAlgn="ctr">
                        <a:buNone/>
                      </a:pPr>
                      <a:r>
                        <a:rPr lang="ja-JP" altLang="en-US" sz="1100" b="0" i="0" u="none" strike="noStrike">
                          <a:solidFill>
                            <a:srgbClr val="404040"/>
                          </a:solidFill>
                          <a:effectLst/>
                          <a:latin typeface="游ゴシック" panose="020B0400000000000000" pitchFamily="50" charset="-128"/>
                          <a:ea typeface="游ゴシック" panose="020B0400000000000000" pitchFamily="50" charset="-128"/>
                        </a:rPr>
                        <a:t>円</a:t>
                      </a:r>
                    </a:p>
                  </a:txBody>
                  <a:tcPr marL="9525" marR="9525" marT="9525"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r" fontAlgn="ctr">
                        <a:buNone/>
                      </a:pPr>
                      <a:r>
                        <a:rPr lang="en-US" altLang="ja-JP" sz="1100" b="0" i="0" u="none" strike="noStrike">
                          <a:solidFill>
                            <a:srgbClr val="404040"/>
                          </a:solidFill>
                          <a:effectLst/>
                          <a:latin typeface="游ゴシック" panose="020B0400000000000000" pitchFamily="50" charset="-128"/>
                          <a:ea typeface="游ゴシック" panose="020B0400000000000000" pitchFamily="50" charset="-128"/>
                        </a:rPr>
                        <a:t>16,000</a:t>
                      </a: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r" fontAlgn="ctr">
                        <a:buNone/>
                      </a:pPr>
                      <a:r>
                        <a:rPr lang="en-US" altLang="ja-JP" sz="1100" b="0" i="0" u="none" strike="noStrike">
                          <a:solidFill>
                            <a:srgbClr val="404040"/>
                          </a:solidFill>
                          <a:effectLst/>
                          <a:latin typeface="游ゴシック" panose="020B0400000000000000" pitchFamily="50" charset="-128"/>
                          <a:ea typeface="游ゴシック" panose="020B0400000000000000" pitchFamily="50" charset="-128"/>
                        </a:rPr>
                        <a:t>16,000</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l" fontAlgn="ctr">
                        <a:buNone/>
                      </a:pPr>
                      <a:r>
                        <a:rPr lang="ja-JP" altLang="en-US" sz="11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9525" marR="9525" marT="9525"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extLst>
                  <a:ext uri="{0D108BD9-81ED-4DB2-BD59-A6C34878D82A}">
                    <a16:rowId xmlns:a16="http://schemas.microsoft.com/office/drawing/2014/main" val="4290925581"/>
                  </a:ext>
                </a:extLst>
              </a:tr>
              <a:tr h="210553">
                <a:tc>
                  <a:txBody>
                    <a:bodyPr/>
                    <a:lstStyle/>
                    <a:p>
                      <a:pPr algn="l" fontAlgn="ctr">
                        <a:buNone/>
                      </a:pPr>
                      <a:r>
                        <a:rPr lang="ja-JP" altLang="en-US" sz="11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l" fontAlgn="ctr">
                        <a:buNone/>
                      </a:pPr>
                      <a:r>
                        <a:rPr lang="ja-JP" altLang="en-US" sz="1100" b="0" i="0" u="none" strike="noStrike">
                          <a:solidFill>
                            <a:srgbClr val="404040"/>
                          </a:solidFill>
                          <a:effectLst/>
                          <a:latin typeface="游ゴシック" panose="020B0400000000000000" pitchFamily="50" charset="-128"/>
                          <a:ea typeface="游ゴシック" panose="020B0400000000000000" pitchFamily="50" charset="-128"/>
                        </a:rPr>
                        <a:t>累積生産台数</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r" fontAlgn="ctr">
                        <a:buNone/>
                      </a:pPr>
                      <a:r>
                        <a:rPr lang="ja-JP" altLang="en-US" sz="1100" b="0" i="0" u="none" strike="noStrike">
                          <a:solidFill>
                            <a:srgbClr val="404040"/>
                          </a:solidFill>
                          <a:effectLst/>
                          <a:latin typeface="游ゴシック" panose="020B0400000000000000" pitchFamily="50" charset="-128"/>
                          <a:ea typeface="游ゴシック" panose="020B0400000000000000" pitchFamily="50" charset="-128"/>
                        </a:rPr>
                        <a:t>台</a:t>
                      </a:r>
                    </a:p>
                  </a:txBody>
                  <a:tcPr marL="9525" marR="9525" marT="9525"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r" fontAlgn="ctr">
                        <a:buNone/>
                      </a:pPr>
                      <a:r>
                        <a:rPr lang="en-US" altLang="ja-JP" sz="1100" b="0" i="0" u="none" strike="noStrike">
                          <a:solidFill>
                            <a:srgbClr val="404040"/>
                          </a:solidFill>
                          <a:effectLst/>
                          <a:latin typeface="游ゴシック" panose="020B0400000000000000" pitchFamily="50" charset="-128"/>
                          <a:ea typeface="游ゴシック" panose="020B0400000000000000" pitchFamily="50" charset="-128"/>
                        </a:rPr>
                        <a:t>160,000</a:t>
                      </a: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r" fontAlgn="ctr">
                        <a:buNone/>
                      </a:pPr>
                      <a:r>
                        <a:rPr lang="en-US" altLang="ja-JP" sz="1100" b="0" i="0" u="none" strike="noStrike">
                          <a:solidFill>
                            <a:srgbClr val="404040"/>
                          </a:solidFill>
                          <a:effectLst/>
                          <a:latin typeface="游ゴシック" panose="020B0400000000000000" pitchFamily="50" charset="-128"/>
                          <a:ea typeface="游ゴシック" panose="020B0400000000000000" pitchFamily="50" charset="-128"/>
                        </a:rPr>
                        <a:t>100,000</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l" fontAlgn="ctr">
                        <a:buNone/>
                      </a:pPr>
                      <a:r>
                        <a:rPr lang="ja-JP" altLang="en-US" sz="11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extLst>
                  <a:ext uri="{0D108BD9-81ED-4DB2-BD59-A6C34878D82A}">
                    <a16:rowId xmlns:a16="http://schemas.microsoft.com/office/drawing/2014/main" val="3924556648"/>
                  </a:ext>
                </a:extLst>
              </a:tr>
              <a:tr h="210553">
                <a:tc>
                  <a:txBody>
                    <a:bodyPr/>
                    <a:lstStyle/>
                    <a:p>
                      <a:pPr algn="l" fontAlgn="ctr">
                        <a:buNone/>
                      </a:pPr>
                      <a:r>
                        <a:rPr lang="ja-JP" altLang="en-US" sz="11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l" fontAlgn="ctr">
                        <a:buNone/>
                      </a:pPr>
                      <a:r>
                        <a:rPr lang="ja-JP" altLang="en-US" sz="1100" b="0" i="0" u="none" strike="noStrike">
                          <a:solidFill>
                            <a:srgbClr val="404040"/>
                          </a:solidFill>
                          <a:effectLst/>
                          <a:latin typeface="游ゴシック" panose="020B0400000000000000" pitchFamily="50" charset="-128"/>
                          <a:ea typeface="游ゴシック" panose="020B0400000000000000" pitchFamily="50" charset="-128"/>
                        </a:rPr>
                        <a:t>総生産コスト</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r" fontAlgn="ctr">
                        <a:buNone/>
                      </a:pPr>
                      <a:r>
                        <a:rPr lang="ja-JP" altLang="en-US" sz="1100" b="0" i="0" u="none" strike="noStrike">
                          <a:solidFill>
                            <a:srgbClr val="404040"/>
                          </a:solidFill>
                          <a:effectLst/>
                          <a:latin typeface="游ゴシック" panose="020B0400000000000000" pitchFamily="50" charset="-128"/>
                          <a:ea typeface="游ゴシック" panose="020B0400000000000000" pitchFamily="50" charset="-128"/>
                        </a:rPr>
                        <a:t>円</a:t>
                      </a:r>
                    </a:p>
                  </a:txBody>
                  <a:tcPr marL="9525" marR="9525" marT="9525"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r" fontAlgn="ctr">
                        <a:buNone/>
                      </a:pPr>
                      <a:r>
                        <a:rPr lang="en-US" altLang="ja-JP" sz="1100" b="0" i="0" u="none" strike="noStrike">
                          <a:solidFill>
                            <a:srgbClr val="404040"/>
                          </a:solidFill>
                          <a:effectLst/>
                          <a:latin typeface="游ゴシック" panose="020B0400000000000000" pitchFamily="50" charset="-128"/>
                          <a:ea typeface="游ゴシック" panose="020B0400000000000000" pitchFamily="50" charset="-128"/>
                        </a:rPr>
                        <a:t>9,604</a:t>
                      </a: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r" fontAlgn="ctr">
                        <a:buNone/>
                      </a:pPr>
                      <a:r>
                        <a:rPr lang="en-US" altLang="ja-JP" sz="1100" b="0" i="0" u="none" strike="noStrike">
                          <a:solidFill>
                            <a:srgbClr val="404040"/>
                          </a:solidFill>
                          <a:effectLst/>
                          <a:latin typeface="游ゴシック" panose="020B0400000000000000" pitchFamily="50" charset="-128"/>
                          <a:ea typeface="游ゴシック" panose="020B0400000000000000" pitchFamily="50" charset="-128"/>
                        </a:rPr>
                        <a:t>12,232</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l" fontAlgn="ctr">
                        <a:buNone/>
                      </a:pPr>
                      <a:r>
                        <a:rPr lang="ja-JP" altLang="en-US" sz="11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extLst>
                  <a:ext uri="{0D108BD9-81ED-4DB2-BD59-A6C34878D82A}">
                    <a16:rowId xmlns:a16="http://schemas.microsoft.com/office/drawing/2014/main" val="1682373559"/>
                  </a:ext>
                </a:extLst>
              </a:tr>
              <a:tr h="210553">
                <a:tc>
                  <a:txBody>
                    <a:bodyPr/>
                    <a:lstStyle/>
                    <a:p>
                      <a:pPr algn="l" fontAlgn="ctr">
                        <a:buNone/>
                      </a:pPr>
                      <a:r>
                        <a:rPr lang="ja-JP" altLang="en-US" sz="11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l" fontAlgn="ctr">
                        <a:buNone/>
                      </a:pPr>
                      <a:r>
                        <a:rPr lang="ja-JP" altLang="en-US" sz="1100" b="0" i="0" u="none" strike="noStrike">
                          <a:solidFill>
                            <a:srgbClr val="404040"/>
                          </a:solidFill>
                          <a:effectLst/>
                          <a:latin typeface="游ゴシック" panose="020B0400000000000000" pitchFamily="50" charset="-128"/>
                          <a:ea typeface="游ゴシック" panose="020B0400000000000000" pitchFamily="50" charset="-128"/>
                        </a:rPr>
                        <a:t>販売・流通コスト</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r" fontAlgn="ctr">
                        <a:buNone/>
                      </a:pPr>
                      <a:r>
                        <a:rPr lang="ja-JP" altLang="en-US" sz="1100" b="0" i="0" u="none" strike="noStrike">
                          <a:solidFill>
                            <a:srgbClr val="404040"/>
                          </a:solidFill>
                          <a:effectLst/>
                          <a:latin typeface="游ゴシック" panose="020B0400000000000000" pitchFamily="50" charset="-128"/>
                          <a:ea typeface="游ゴシック" panose="020B0400000000000000" pitchFamily="50" charset="-128"/>
                        </a:rPr>
                        <a:t>円</a:t>
                      </a:r>
                    </a:p>
                  </a:txBody>
                  <a:tcPr marL="9525" marR="9525" marT="9525"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r" fontAlgn="ctr">
                        <a:buNone/>
                      </a:pPr>
                      <a:r>
                        <a:rPr lang="en-US" altLang="ja-JP" sz="1100" b="0" i="0" u="none" strike="noStrike">
                          <a:solidFill>
                            <a:srgbClr val="404040"/>
                          </a:solidFill>
                          <a:effectLst/>
                          <a:latin typeface="游ゴシック" panose="020B0400000000000000" pitchFamily="50" charset="-128"/>
                          <a:ea typeface="游ゴシック" panose="020B0400000000000000" pitchFamily="50" charset="-128"/>
                        </a:rPr>
                        <a:t>3,000</a:t>
                      </a: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r" fontAlgn="ctr">
                        <a:buNone/>
                      </a:pPr>
                      <a:r>
                        <a:rPr lang="en-US" altLang="ja-JP" sz="1100" b="0" i="0" u="none" strike="noStrike">
                          <a:solidFill>
                            <a:srgbClr val="404040"/>
                          </a:solidFill>
                          <a:effectLst/>
                          <a:latin typeface="游ゴシック" panose="020B0400000000000000" pitchFamily="50" charset="-128"/>
                          <a:ea typeface="游ゴシック" panose="020B0400000000000000" pitchFamily="50" charset="-128"/>
                        </a:rPr>
                        <a:t>3,000</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tc>
                  <a:txBody>
                    <a:bodyPr/>
                    <a:lstStyle/>
                    <a:p>
                      <a:pPr algn="l" fontAlgn="ctr">
                        <a:buNone/>
                      </a:pPr>
                      <a:r>
                        <a:rPr lang="ja-JP" altLang="en-US" sz="11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rgbClr val="FFFFFF"/>
                    </a:solidFill>
                  </a:tcPr>
                </a:tc>
                <a:extLst>
                  <a:ext uri="{0D108BD9-81ED-4DB2-BD59-A6C34878D82A}">
                    <a16:rowId xmlns:a16="http://schemas.microsoft.com/office/drawing/2014/main" val="1897747202"/>
                  </a:ext>
                </a:extLst>
              </a:tr>
              <a:tr h="210553">
                <a:tc>
                  <a:txBody>
                    <a:bodyPr/>
                    <a:lstStyle/>
                    <a:p>
                      <a:pPr algn="l" fontAlgn="ctr">
                        <a:buNone/>
                      </a:pPr>
                      <a:r>
                        <a:rPr lang="ja-JP" altLang="en-US" sz="11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altLang="en-US" sz="1100" b="0" i="0" u="none" strike="noStrike">
                          <a:solidFill>
                            <a:srgbClr val="404040"/>
                          </a:solidFill>
                          <a:effectLst/>
                          <a:latin typeface="游ゴシック" panose="020B0400000000000000" pitchFamily="50" charset="-128"/>
                          <a:ea typeface="游ゴシック" panose="020B0400000000000000" pitchFamily="50" charset="-128"/>
                        </a:rPr>
                        <a:t>粗利益</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altLang="en-US" sz="1100" b="0" i="0" u="none" strike="noStrike">
                          <a:solidFill>
                            <a:srgbClr val="404040"/>
                          </a:solidFill>
                          <a:effectLst/>
                          <a:latin typeface="游ゴシック" panose="020B0400000000000000" pitchFamily="50" charset="-128"/>
                          <a:ea typeface="游ゴシック" panose="020B0400000000000000" pitchFamily="50" charset="-128"/>
                        </a:rPr>
                        <a:t>円</a:t>
                      </a:r>
                    </a:p>
                  </a:txBody>
                  <a:tcPr marL="9525" marR="9525" marT="9525"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en-US" altLang="ja-JP" sz="1100" b="1" i="0" u="none" strike="noStrike">
                          <a:solidFill>
                            <a:srgbClr val="404040"/>
                          </a:solidFill>
                          <a:effectLst/>
                          <a:latin typeface="游ゴシック" panose="020B0400000000000000" pitchFamily="50" charset="-128"/>
                          <a:ea typeface="游ゴシック" panose="020B0400000000000000" pitchFamily="50" charset="-128"/>
                        </a:rPr>
                        <a:t>3,396</a:t>
                      </a:r>
                    </a:p>
                  </a:txBody>
                  <a:tcPr marL="9525" marR="9525" marT="9525"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dot"/>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en-US" altLang="ja-JP" sz="1100" b="1" i="0" u="none" strike="noStrike">
                          <a:solidFill>
                            <a:srgbClr val="404040"/>
                          </a:solidFill>
                          <a:effectLst/>
                          <a:latin typeface="游ゴシック" panose="020B0400000000000000" pitchFamily="50" charset="-128"/>
                          <a:ea typeface="游ゴシック" panose="020B0400000000000000" pitchFamily="50" charset="-128"/>
                        </a:rPr>
                        <a:t>768</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altLang="en-US" sz="11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9525" marR="9525" marT="9525" marB="0" anchor="ctr">
                    <a:lnL>
                      <a:noFill/>
                    </a:lnL>
                    <a:lnR>
                      <a:noFill/>
                    </a:lnR>
                    <a:lnT w="6350" cap="flat" cmpd="sng" algn="ctr">
                      <a:solidFill>
                        <a:srgbClr val="000000"/>
                      </a:solidFill>
                      <a:prstDash val="dot"/>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536212588"/>
                  </a:ext>
                </a:extLst>
              </a:tr>
            </a:tbl>
          </a:graphicData>
        </a:graphic>
      </p:graphicFrame>
      <p:sp>
        <p:nvSpPr>
          <p:cNvPr id="14" name="コンテンツ プレースホルダー 3">
            <a:extLst>
              <a:ext uri="{FF2B5EF4-FFF2-40B4-BE49-F238E27FC236}">
                <a16:creationId xmlns:a16="http://schemas.microsoft.com/office/drawing/2014/main" id="{DC1487B2-BCB5-9191-8704-067007D40810}"/>
              </a:ext>
            </a:extLst>
          </p:cNvPr>
          <p:cNvSpPr txBox="1">
            <a:spLocks/>
          </p:cNvSpPr>
          <p:nvPr/>
        </p:nvSpPr>
        <p:spPr>
          <a:xfrm>
            <a:off x="317241" y="3900138"/>
            <a:ext cx="11702306" cy="104699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1600" kern="1200">
                <a:solidFill>
                  <a:schemeClr val="bg2">
                    <a:lumMod val="25000"/>
                  </a:schemeClr>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1400" kern="1200">
                <a:solidFill>
                  <a:schemeClr val="bg2">
                    <a:lumMod val="25000"/>
                  </a:schemeClr>
                </a:solidFill>
                <a:latin typeface="Meiryo UI" panose="020B0604030504040204" pitchFamily="50" charset="-128"/>
                <a:ea typeface="Meiryo UI"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eiryo UI" panose="020B0604030504040204" pitchFamily="50" charset="-128"/>
                <a:ea typeface="Meiryo UI"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en-US" altLang="ja-JP" b="1" dirty="0"/>
              <a:t>A</a:t>
            </a:r>
            <a:r>
              <a:rPr lang="ja-JP" altLang="en-US" b="1" dirty="0"/>
              <a:t>社・</a:t>
            </a:r>
            <a:r>
              <a:rPr lang="en-US" altLang="ja-JP" b="1" dirty="0"/>
              <a:t>B</a:t>
            </a:r>
            <a:r>
              <a:rPr lang="ja-JP" altLang="en-US" b="1" dirty="0"/>
              <a:t>社の累積生産台数差の推移</a:t>
            </a:r>
            <a:endParaRPr lang="en-US" altLang="ja-JP" b="1" dirty="0"/>
          </a:p>
          <a:p>
            <a:r>
              <a:rPr lang="ja-JP" altLang="en-US" dirty="0"/>
              <a:t>現時点では</a:t>
            </a:r>
            <a:r>
              <a:rPr lang="en-US" altLang="ja-JP" dirty="0"/>
              <a:t>A</a:t>
            </a:r>
            <a:r>
              <a:rPr lang="ja-JP" altLang="en-US" dirty="0"/>
              <a:t>社の累積生産台数は</a:t>
            </a:r>
            <a:r>
              <a:rPr lang="en-US" altLang="ja-JP" dirty="0"/>
              <a:t>B</a:t>
            </a:r>
            <a:r>
              <a:rPr lang="ja-JP" altLang="en-US" dirty="0"/>
              <a:t>社を約</a:t>
            </a:r>
            <a:r>
              <a:rPr lang="en-US" altLang="ja-JP" dirty="0"/>
              <a:t>6</a:t>
            </a:r>
            <a:r>
              <a:rPr lang="ja-JP" altLang="en-US" dirty="0"/>
              <a:t>万台上回っているが、市場成長率が年</a:t>
            </a:r>
            <a:r>
              <a:rPr lang="en-US" altLang="ja-JP" dirty="0"/>
              <a:t>15%</a:t>
            </a:r>
            <a:r>
              <a:rPr lang="ja-JP" altLang="en-US" dirty="0"/>
              <a:t>と高い局面において、価格差を起因とした市場シェアの逆転が生じた場合、累積生産台数の差は急速に縮小し、中長期的に</a:t>
            </a:r>
            <a:r>
              <a:rPr lang="en-US" altLang="ja-JP" dirty="0"/>
              <a:t>A</a:t>
            </a:r>
            <a:r>
              <a:rPr lang="ja-JP" altLang="en-US" dirty="0"/>
              <a:t>社が</a:t>
            </a:r>
            <a:r>
              <a:rPr lang="en-US" altLang="ja-JP" dirty="0"/>
              <a:t>B</a:t>
            </a:r>
            <a:r>
              <a:rPr lang="ja-JP" altLang="en-US" dirty="0"/>
              <a:t>社を下回るリスクがある。</a:t>
            </a:r>
          </a:p>
        </p:txBody>
      </p:sp>
      <p:graphicFrame>
        <p:nvGraphicFramePr>
          <p:cNvPr id="15" name="グラフ 14">
            <a:extLst>
              <a:ext uri="{FF2B5EF4-FFF2-40B4-BE49-F238E27FC236}">
                <a16:creationId xmlns:a16="http://schemas.microsoft.com/office/drawing/2014/main" id="{D05045AA-9885-824D-DDE4-7236E32CA3A4}"/>
              </a:ext>
            </a:extLst>
          </p:cNvPr>
          <p:cNvGraphicFramePr>
            <a:graphicFrameLocks/>
          </p:cNvGraphicFramePr>
          <p:nvPr>
            <p:extLst>
              <p:ext uri="{D42A27DB-BD31-4B8C-83A1-F6EECF244321}">
                <p14:modId xmlns:p14="http://schemas.microsoft.com/office/powerpoint/2010/main" val="1519603638"/>
              </p:ext>
            </p:extLst>
          </p:nvPr>
        </p:nvGraphicFramePr>
        <p:xfrm>
          <a:off x="2164580" y="4608095"/>
          <a:ext cx="7856620" cy="2304532"/>
        </p:xfrm>
        <a:graphic>
          <a:graphicData uri="http://schemas.openxmlformats.org/drawingml/2006/chart">
            <c:chart xmlns:c="http://schemas.openxmlformats.org/drawingml/2006/chart" xmlns:r="http://schemas.openxmlformats.org/officeDocument/2006/relationships" r:id="rId2"/>
          </a:graphicData>
        </a:graphic>
      </p:graphicFrame>
      <p:sp>
        <p:nvSpPr>
          <p:cNvPr id="16" name="テキスト ボックス 15">
            <a:extLst>
              <a:ext uri="{FF2B5EF4-FFF2-40B4-BE49-F238E27FC236}">
                <a16:creationId xmlns:a16="http://schemas.microsoft.com/office/drawing/2014/main" id="{06460A8E-DF2B-0FFE-3F00-C8380B2A3563}"/>
              </a:ext>
            </a:extLst>
          </p:cNvPr>
          <p:cNvSpPr txBox="1"/>
          <p:nvPr/>
        </p:nvSpPr>
        <p:spPr>
          <a:xfrm>
            <a:off x="1818331" y="4824663"/>
            <a:ext cx="346249" cy="1901477"/>
          </a:xfrm>
          <a:prstGeom prst="rect">
            <a:avLst/>
          </a:prstGeom>
          <a:noFill/>
        </p:spPr>
        <p:txBody>
          <a:bodyPr vert="eaVert" wrap="square" rtlCol="0">
            <a:spAutoFit/>
          </a:bodyPr>
          <a:lstStyle/>
          <a:p>
            <a:pPr algn="ctr"/>
            <a:r>
              <a:rPr kumimoji="1" lang="ja-JP" altLang="en-US" sz="1050" dirty="0">
                <a:solidFill>
                  <a:schemeClr val="tx1">
                    <a:lumMod val="75000"/>
                    <a:lumOff val="25000"/>
                  </a:schemeClr>
                </a:solidFill>
                <a:latin typeface="Meiryo UI" panose="020B0604030504040204" pitchFamily="50" charset="-128"/>
                <a:ea typeface="Meiryo UI" panose="020B0604030504040204" pitchFamily="50" charset="-128"/>
              </a:rPr>
              <a:t>累積生産台数差</a:t>
            </a:r>
          </a:p>
        </p:txBody>
      </p:sp>
    </p:spTree>
    <p:extLst>
      <p:ext uri="{BB962C8B-B14F-4D97-AF65-F5344CB8AC3E}">
        <p14:creationId xmlns:p14="http://schemas.microsoft.com/office/powerpoint/2010/main" val="32630477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95188-F2C7-AA36-A231-DFFEC91967B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DD5AB3A-F702-31F0-7150-FCEB7A6ED1D4}"/>
              </a:ext>
            </a:extLst>
          </p:cNvPr>
          <p:cNvSpPr>
            <a:spLocks noGrp="1"/>
          </p:cNvSpPr>
          <p:nvPr>
            <p:ph type="title"/>
          </p:nvPr>
        </p:nvSpPr>
        <p:spPr/>
        <p:txBody>
          <a:bodyPr/>
          <a:lstStyle/>
          <a:p>
            <a:r>
              <a:rPr lang="ja-JP" altLang="en-US" dirty="0"/>
              <a:t>各シナリオの詳細：今後の</a:t>
            </a:r>
            <a:r>
              <a:rPr lang="en-US" altLang="ja-JP" dirty="0"/>
              <a:t>B</a:t>
            </a:r>
            <a:r>
              <a:rPr lang="ja-JP" altLang="en-US" dirty="0"/>
              <a:t>社の値下げ幅が小さい場合（値下げ幅：</a:t>
            </a:r>
            <a:r>
              <a:rPr lang="en-US" altLang="ja-JP" dirty="0"/>
              <a:t>700</a:t>
            </a:r>
            <a:r>
              <a:rPr lang="ja-JP" altLang="en-US" dirty="0"/>
              <a:t>円想定）</a:t>
            </a:r>
          </a:p>
        </p:txBody>
      </p:sp>
      <p:sp>
        <p:nvSpPr>
          <p:cNvPr id="3" name="コンテンツ プレースホルダー 2">
            <a:extLst>
              <a:ext uri="{FF2B5EF4-FFF2-40B4-BE49-F238E27FC236}">
                <a16:creationId xmlns:a16="http://schemas.microsoft.com/office/drawing/2014/main" id="{56B3FD48-291E-7B01-5B13-36F2ABF2860D}"/>
              </a:ext>
            </a:extLst>
          </p:cNvPr>
          <p:cNvSpPr>
            <a:spLocks noGrp="1"/>
          </p:cNvSpPr>
          <p:nvPr>
            <p:ph sz="quarter" idx="13"/>
          </p:nvPr>
        </p:nvSpPr>
        <p:spPr/>
        <p:txBody>
          <a:bodyPr>
            <a:normAutofit/>
          </a:bodyPr>
          <a:lstStyle/>
          <a:p>
            <a:r>
              <a:rPr lang="en-US" altLang="ja-JP" dirty="0"/>
              <a:t>B</a:t>
            </a:r>
            <a:r>
              <a:rPr lang="ja-JP" altLang="en-US" dirty="0"/>
              <a:t>社の値下げ余力は最大約</a:t>
            </a:r>
            <a:r>
              <a:rPr lang="en-US" altLang="ja-JP" dirty="0"/>
              <a:t>800</a:t>
            </a:r>
            <a:r>
              <a:rPr lang="ja-JP" altLang="en-US" dirty="0"/>
              <a:t>円であり、ここでは赤字転落ギリギリの</a:t>
            </a:r>
            <a:r>
              <a:rPr lang="en-US" altLang="ja-JP" dirty="0"/>
              <a:t>700</a:t>
            </a:r>
            <a:r>
              <a:rPr lang="ja-JP" altLang="en-US" dirty="0"/>
              <a:t>円値下げを想定する。 </a:t>
            </a:r>
            <a:endParaRPr lang="en-US" altLang="ja-JP" dirty="0"/>
          </a:p>
          <a:p>
            <a:r>
              <a:rPr lang="ja-JP" altLang="en-US" dirty="0"/>
              <a:t>この場合、価格感応シェア弾性率が</a:t>
            </a:r>
            <a:r>
              <a:rPr lang="en-US" altLang="ja-JP" dirty="0"/>
              <a:t>0.008</a:t>
            </a:r>
            <a:r>
              <a:rPr lang="ja-JP" altLang="en-US" dirty="0"/>
              <a:t>（</a:t>
            </a:r>
            <a:r>
              <a:rPr lang="en-US" altLang="ja-JP" dirty="0"/>
              <a:t>%/</a:t>
            </a:r>
            <a:r>
              <a:rPr lang="ja-JP" altLang="en-US" dirty="0"/>
              <a:t>円）を超えるか否かで、市場シェアの逆転有無が分岐する。</a:t>
            </a:r>
            <a:endParaRPr kumimoji="1" lang="ja-JP" altLang="en-US" dirty="0"/>
          </a:p>
        </p:txBody>
      </p:sp>
      <p:sp>
        <p:nvSpPr>
          <p:cNvPr id="4" name="コンテンツ プレースホルダー 3">
            <a:extLst>
              <a:ext uri="{FF2B5EF4-FFF2-40B4-BE49-F238E27FC236}">
                <a16:creationId xmlns:a16="http://schemas.microsoft.com/office/drawing/2014/main" id="{64A12F01-33B3-0D7A-4C5F-FCA0AF3DE72D}"/>
              </a:ext>
            </a:extLst>
          </p:cNvPr>
          <p:cNvSpPr>
            <a:spLocks noGrp="1"/>
          </p:cNvSpPr>
          <p:nvPr>
            <p:ph sz="quarter" idx="14"/>
          </p:nvPr>
        </p:nvSpPr>
        <p:spPr>
          <a:xfrm>
            <a:off x="317241" y="1455576"/>
            <a:ext cx="11591536" cy="2202024"/>
          </a:xfrm>
        </p:spPr>
        <p:txBody>
          <a:bodyPr/>
          <a:lstStyle/>
          <a:p>
            <a:endParaRPr kumimoji="1" lang="en-US" altLang="ja-JP" dirty="0"/>
          </a:p>
          <a:p>
            <a:endParaRPr kumimoji="1" lang="ja-JP" altLang="en-US" dirty="0"/>
          </a:p>
        </p:txBody>
      </p:sp>
      <p:sp>
        <p:nvSpPr>
          <p:cNvPr id="6" name="コンテンツ プレースホルダー 3">
            <a:extLst>
              <a:ext uri="{FF2B5EF4-FFF2-40B4-BE49-F238E27FC236}">
                <a16:creationId xmlns:a16="http://schemas.microsoft.com/office/drawing/2014/main" id="{B04C2790-A67E-635D-4EFF-23AC7B6E1F26}"/>
              </a:ext>
            </a:extLst>
          </p:cNvPr>
          <p:cNvSpPr txBox="1">
            <a:spLocks/>
          </p:cNvSpPr>
          <p:nvPr/>
        </p:nvSpPr>
        <p:spPr>
          <a:xfrm>
            <a:off x="317241" y="1455576"/>
            <a:ext cx="11591536" cy="473019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1600" kern="1200">
                <a:solidFill>
                  <a:schemeClr val="bg2">
                    <a:lumMod val="25000"/>
                  </a:schemeClr>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1400" kern="1200">
                <a:solidFill>
                  <a:schemeClr val="bg2">
                    <a:lumMod val="25000"/>
                  </a:schemeClr>
                </a:solidFill>
                <a:latin typeface="Meiryo UI" panose="020B0604030504040204" pitchFamily="50" charset="-128"/>
                <a:ea typeface="Meiryo UI"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eiryo UI" panose="020B0604030504040204" pitchFamily="50" charset="-128"/>
                <a:ea typeface="Meiryo UI"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b="1" dirty="0"/>
              <a:t>価格感応シェア弾性率が高い場合（</a:t>
            </a:r>
            <a:r>
              <a:rPr lang="en-US" altLang="ja-JP" b="1" dirty="0"/>
              <a:t>0.01</a:t>
            </a:r>
            <a:r>
              <a:rPr lang="ja-JP" altLang="en-US" b="1" dirty="0"/>
              <a:t>以上）</a:t>
            </a:r>
            <a:endParaRPr lang="en-US" altLang="ja-JP" b="1" dirty="0"/>
          </a:p>
          <a:p>
            <a:r>
              <a:rPr lang="ja-JP" altLang="en-US" dirty="0"/>
              <a:t>価格感応シェア弾性率が</a:t>
            </a:r>
            <a:r>
              <a:rPr lang="en-US" altLang="ja-JP" dirty="0"/>
              <a:t>0.008</a:t>
            </a:r>
            <a:r>
              <a:rPr lang="ja-JP" altLang="en-US" dirty="0"/>
              <a:t>（</a:t>
            </a:r>
            <a:r>
              <a:rPr lang="en-US" altLang="ja-JP" dirty="0"/>
              <a:t>100</a:t>
            </a:r>
            <a:r>
              <a:rPr lang="ja-JP" altLang="en-US" dirty="0"/>
              <a:t>円の価格差につき</a:t>
            </a:r>
            <a:r>
              <a:rPr lang="en-US" altLang="ja-JP" dirty="0"/>
              <a:t>A</a:t>
            </a:r>
            <a:r>
              <a:rPr lang="ja-JP" altLang="en-US" dirty="0"/>
              <a:t>社シェアが</a:t>
            </a:r>
            <a:r>
              <a:rPr lang="en-US" altLang="ja-JP" dirty="0"/>
              <a:t>0.8%</a:t>
            </a:r>
            <a:r>
              <a:rPr lang="ja-JP" altLang="en-US" dirty="0"/>
              <a:t>流出）を超えると</a:t>
            </a:r>
            <a:r>
              <a:rPr lang="en-US" altLang="ja-JP" dirty="0"/>
              <a:t>A</a:t>
            </a:r>
            <a:r>
              <a:rPr lang="ja-JP" altLang="en-US" dirty="0"/>
              <a:t>社と</a:t>
            </a:r>
            <a:r>
              <a:rPr lang="en-US" altLang="ja-JP" dirty="0"/>
              <a:t>B</a:t>
            </a:r>
            <a:r>
              <a:rPr lang="ja-JP" altLang="en-US" dirty="0"/>
              <a:t>社の市場シェアが逆転する。</a:t>
            </a:r>
            <a:endParaRPr lang="en-US" altLang="ja-JP" dirty="0"/>
          </a:p>
          <a:p>
            <a:r>
              <a:rPr lang="en-US" altLang="ja-JP" dirty="0"/>
              <a:t>5~15</a:t>
            </a:r>
            <a:r>
              <a:rPr lang="ja-JP" altLang="en-US" dirty="0"/>
              <a:t>年以内に</a:t>
            </a:r>
            <a:r>
              <a:rPr lang="en-US" altLang="ja-JP" dirty="0"/>
              <a:t>B</a:t>
            </a:r>
            <a:r>
              <a:rPr lang="ja-JP" altLang="en-US" dirty="0"/>
              <a:t>社が累積生産台数で</a:t>
            </a:r>
            <a:r>
              <a:rPr lang="en-US" altLang="ja-JP" dirty="0"/>
              <a:t>A</a:t>
            </a:r>
            <a:r>
              <a:rPr lang="ja-JP" altLang="en-US" dirty="0"/>
              <a:t>社を上回り、</a:t>
            </a:r>
            <a:r>
              <a:rPr lang="en-US" altLang="ja-JP" dirty="0"/>
              <a:t>B</a:t>
            </a:r>
            <a:r>
              <a:rPr lang="ja-JP" altLang="en-US" dirty="0"/>
              <a:t>社の総生産コストが</a:t>
            </a:r>
            <a:r>
              <a:rPr lang="en-US" altLang="ja-JP" dirty="0"/>
              <a:t>A</a:t>
            </a:r>
            <a:r>
              <a:rPr lang="ja-JP" altLang="en-US" dirty="0"/>
              <a:t>社を下回る水準に達する。これにより</a:t>
            </a:r>
            <a:r>
              <a:rPr lang="en-US" altLang="ja-JP" dirty="0"/>
              <a:t>B</a:t>
            </a:r>
            <a:r>
              <a:rPr lang="ja-JP" altLang="en-US" dirty="0"/>
              <a:t>社のコストリーダーシップ戦略がさらに加速するリスクがある。</a:t>
            </a:r>
            <a:endParaRPr lang="en-US" altLang="ja-JP" dirty="0"/>
          </a:p>
          <a:p>
            <a:r>
              <a:rPr lang="ja-JP" altLang="en-US" dirty="0"/>
              <a:t>直ちに値下げで追随する必要はないものの、累積生産台数が逆転される前に、ブランド力の強化や付加価値を高めた新製品の投入などを通じて価格感応シェア弾性率を低下させる戦略的対応が急務となる。</a:t>
            </a:r>
            <a:endParaRPr lang="en-US" altLang="ja-JP" dirty="0"/>
          </a:p>
          <a:p>
            <a:pPr marL="0" indent="0">
              <a:buNone/>
            </a:pPr>
            <a:r>
              <a:rPr lang="ja-JP" altLang="en-US" b="1" dirty="0"/>
              <a:t>価格感応シェア弾性率が低い場合</a:t>
            </a:r>
            <a:r>
              <a:rPr lang="en-US" altLang="ja-JP" b="1" dirty="0"/>
              <a:t>(0.01</a:t>
            </a:r>
            <a:r>
              <a:rPr lang="ja-JP" altLang="en-US" b="1" dirty="0"/>
              <a:t>未満）</a:t>
            </a:r>
            <a:endParaRPr lang="en-US" altLang="ja-JP" b="1" dirty="0"/>
          </a:p>
          <a:p>
            <a:r>
              <a:rPr lang="ja-JP" altLang="en-US" dirty="0"/>
              <a:t>市場シェアの逆転が生じないか、仮に逆転が生じるとしても累積生産台数で</a:t>
            </a:r>
            <a:r>
              <a:rPr lang="en-US" altLang="ja-JP" dirty="0"/>
              <a:t>B</a:t>
            </a:r>
            <a:r>
              <a:rPr lang="ja-JP" altLang="en-US" dirty="0"/>
              <a:t>社に抜かれるまでに</a:t>
            </a:r>
            <a:r>
              <a:rPr lang="en-US" altLang="ja-JP" dirty="0"/>
              <a:t>20</a:t>
            </a:r>
            <a:r>
              <a:rPr lang="ja-JP" altLang="en-US" dirty="0"/>
              <a:t>年以上を要する試算となる。</a:t>
            </a:r>
            <a:endParaRPr lang="en-US" altLang="ja-JP" dirty="0"/>
          </a:p>
          <a:p>
            <a:r>
              <a:rPr lang="en-US" altLang="ja-JP" dirty="0"/>
              <a:t>A</a:t>
            </a:r>
            <a:r>
              <a:rPr lang="ja-JP" altLang="en-US" dirty="0"/>
              <a:t>社のコスト構造上の優位性は長期にわたって維持される見通しであり、値下げへの追随は不要と判断できる。</a:t>
            </a:r>
          </a:p>
        </p:txBody>
      </p:sp>
      <p:graphicFrame>
        <p:nvGraphicFramePr>
          <p:cNvPr id="5" name="グラフ 4">
            <a:extLst>
              <a:ext uri="{FF2B5EF4-FFF2-40B4-BE49-F238E27FC236}">
                <a16:creationId xmlns:a16="http://schemas.microsoft.com/office/drawing/2014/main" id="{7A214C5E-C66A-253E-0895-CC064FD11F38}"/>
              </a:ext>
            </a:extLst>
          </p:cNvPr>
          <p:cNvGraphicFramePr>
            <a:graphicFrameLocks/>
          </p:cNvGraphicFramePr>
          <p:nvPr>
            <p:extLst>
              <p:ext uri="{D42A27DB-BD31-4B8C-83A1-F6EECF244321}">
                <p14:modId xmlns:p14="http://schemas.microsoft.com/office/powerpoint/2010/main" val="136608030"/>
              </p:ext>
            </p:extLst>
          </p:nvPr>
        </p:nvGraphicFramePr>
        <p:xfrm>
          <a:off x="2413853" y="4440950"/>
          <a:ext cx="7364293" cy="2071220"/>
        </p:xfrm>
        <a:graphic>
          <a:graphicData uri="http://schemas.openxmlformats.org/drawingml/2006/chart">
            <c:chart xmlns:c="http://schemas.openxmlformats.org/drawingml/2006/chart" xmlns:r="http://schemas.openxmlformats.org/officeDocument/2006/relationships" r:id="rId2"/>
          </a:graphicData>
        </a:graphic>
      </p:graphicFrame>
      <p:sp>
        <p:nvSpPr>
          <p:cNvPr id="7" name="テキスト ボックス 6">
            <a:extLst>
              <a:ext uri="{FF2B5EF4-FFF2-40B4-BE49-F238E27FC236}">
                <a16:creationId xmlns:a16="http://schemas.microsoft.com/office/drawing/2014/main" id="{282E6385-8FC9-F2B8-18D3-2397FBB49C78}"/>
              </a:ext>
            </a:extLst>
          </p:cNvPr>
          <p:cNvSpPr txBox="1"/>
          <p:nvPr/>
        </p:nvSpPr>
        <p:spPr>
          <a:xfrm>
            <a:off x="2067604" y="4440950"/>
            <a:ext cx="346249" cy="2071219"/>
          </a:xfrm>
          <a:prstGeom prst="rect">
            <a:avLst/>
          </a:prstGeom>
          <a:noFill/>
        </p:spPr>
        <p:txBody>
          <a:bodyPr vert="eaVert" wrap="square" rtlCol="0">
            <a:spAutoFit/>
          </a:bodyPr>
          <a:lstStyle/>
          <a:p>
            <a:pPr algn="ctr"/>
            <a:r>
              <a:rPr kumimoji="1" lang="ja-JP" altLang="en-US" sz="1050" dirty="0">
                <a:solidFill>
                  <a:schemeClr val="tx1">
                    <a:lumMod val="75000"/>
                    <a:lumOff val="25000"/>
                  </a:schemeClr>
                </a:solidFill>
                <a:latin typeface="Meiryo UI" panose="020B0604030504040204" pitchFamily="50" charset="-128"/>
                <a:ea typeface="Meiryo UI" panose="020B0604030504040204" pitchFamily="50" charset="-128"/>
              </a:rPr>
              <a:t>累積生産台数逆転に必要な年数</a:t>
            </a:r>
          </a:p>
        </p:txBody>
      </p:sp>
      <p:sp>
        <p:nvSpPr>
          <p:cNvPr id="10" name="テキスト ボックス 9">
            <a:extLst>
              <a:ext uri="{FF2B5EF4-FFF2-40B4-BE49-F238E27FC236}">
                <a16:creationId xmlns:a16="http://schemas.microsoft.com/office/drawing/2014/main" id="{F9DA2C16-A6A5-8BC9-5F21-87C66E0B869E}"/>
              </a:ext>
            </a:extLst>
          </p:cNvPr>
          <p:cNvSpPr txBox="1"/>
          <p:nvPr/>
        </p:nvSpPr>
        <p:spPr>
          <a:xfrm>
            <a:off x="4131743" y="6512170"/>
            <a:ext cx="3922294" cy="261610"/>
          </a:xfrm>
          <a:prstGeom prst="rect">
            <a:avLst/>
          </a:prstGeom>
          <a:noFill/>
        </p:spPr>
        <p:txBody>
          <a:bodyPr wrap="square" rtlCol="0">
            <a:spAutoFit/>
          </a:bodyPr>
          <a:lstStyle/>
          <a:p>
            <a:pPr algn="ctr">
              <a:defRPr sz="1000" b="0" i="0" u="none" strike="noStrike" kern="1200" baseline="0">
                <a:solidFill>
                  <a:prstClr val="black">
                    <a:lumMod val="65000"/>
                    <a:lumOff val="35000"/>
                  </a:prstClr>
                </a:solidFill>
                <a:latin typeface="+mn-lt"/>
                <a:ea typeface="+mn-ea"/>
                <a:cs typeface="+mn-cs"/>
              </a:defRPr>
            </a:pPr>
            <a:r>
              <a:rPr lang="ja-JP" altLang="en-US" sz="1100" dirty="0">
                <a:latin typeface="Meiryo UI" panose="020B0604030504040204" pitchFamily="50" charset="-128"/>
                <a:ea typeface="Meiryo UI" panose="020B0604030504040204" pitchFamily="50" charset="-128"/>
              </a:rPr>
              <a:t>価格感応シェア弾性率</a:t>
            </a:r>
          </a:p>
        </p:txBody>
      </p:sp>
    </p:spTree>
    <p:extLst>
      <p:ext uri="{BB962C8B-B14F-4D97-AF65-F5344CB8AC3E}">
        <p14:creationId xmlns:p14="http://schemas.microsoft.com/office/powerpoint/2010/main" val="33441989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3D31B-7A88-84DB-837C-C7736D7EE960}"/>
            </a:ext>
          </a:extLst>
        </p:cNvPr>
        <p:cNvGrpSpPr/>
        <p:nvPr/>
      </p:nvGrpSpPr>
      <p:grpSpPr>
        <a:xfrm>
          <a:off x="0" y="0"/>
          <a:ext cx="0" cy="0"/>
          <a:chOff x="0" y="0"/>
          <a:chExt cx="0" cy="0"/>
        </a:xfrm>
      </p:grpSpPr>
      <p:graphicFrame>
        <p:nvGraphicFramePr>
          <p:cNvPr id="8" name="グラフ 7">
            <a:extLst>
              <a:ext uri="{FF2B5EF4-FFF2-40B4-BE49-F238E27FC236}">
                <a16:creationId xmlns:a16="http://schemas.microsoft.com/office/drawing/2014/main" id="{6EBA4F8D-BA66-3412-FFA6-665DA4456A62}"/>
              </a:ext>
            </a:extLst>
          </p:cNvPr>
          <p:cNvGraphicFramePr>
            <a:graphicFrameLocks/>
          </p:cNvGraphicFramePr>
          <p:nvPr>
            <p:extLst>
              <p:ext uri="{D42A27DB-BD31-4B8C-83A1-F6EECF244321}">
                <p14:modId xmlns:p14="http://schemas.microsoft.com/office/powerpoint/2010/main" val="405478182"/>
              </p:ext>
            </p:extLst>
          </p:nvPr>
        </p:nvGraphicFramePr>
        <p:xfrm>
          <a:off x="2413853" y="4440950"/>
          <a:ext cx="7427978" cy="2130808"/>
        </p:xfrm>
        <a:graphic>
          <a:graphicData uri="http://schemas.openxmlformats.org/drawingml/2006/chart">
            <c:chart xmlns:c="http://schemas.openxmlformats.org/drawingml/2006/chart" xmlns:r="http://schemas.openxmlformats.org/officeDocument/2006/relationships" r:id="rId3"/>
          </a:graphicData>
        </a:graphic>
      </p:graphicFrame>
      <p:sp>
        <p:nvSpPr>
          <p:cNvPr id="2" name="タイトル 1">
            <a:extLst>
              <a:ext uri="{FF2B5EF4-FFF2-40B4-BE49-F238E27FC236}">
                <a16:creationId xmlns:a16="http://schemas.microsoft.com/office/drawing/2014/main" id="{E153FFD7-79E5-715F-6260-8969D3088E23}"/>
              </a:ext>
            </a:extLst>
          </p:cNvPr>
          <p:cNvSpPr>
            <a:spLocks noGrp="1"/>
          </p:cNvSpPr>
          <p:nvPr>
            <p:ph type="title"/>
          </p:nvPr>
        </p:nvSpPr>
        <p:spPr/>
        <p:txBody>
          <a:bodyPr/>
          <a:lstStyle/>
          <a:p>
            <a:r>
              <a:rPr lang="ja-JP" altLang="en-US" dirty="0"/>
              <a:t>各シナリオの詳細：今後の</a:t>
            </a:r>
            <a:r>
              <a:rPr lang="en-US" altLang="ja-JP" dirty="0"/>
              <a:t>B</a:t>
            </a:r>
            <a:r>
              <a:rPr lang="ja-JP" altLang="en-US" dirty="0"/>
              <a:t>社の値下げ幅が大きい場合（値下げ幅：</a:t>
            </a:r>
            <a:r>
              <a:rPr lang="en-US" altLang="ja-JP" dirty="0"/>
              <a:t>2000</a:t>
            </a:r>
            <a:r>
              <a:rPr lang="ja-JP" altLang="en-US" dirty="0"/>
              <a:t>円想定）</a:t>
            </a:r>
            <a:endParaRPr kumimoji="1" lang="ja-JP" altLang="en-US" dirty="0"/>
          </a:p>
        </p:txBody>
      </p:sp>
      <p:sp>
        <p:nvSpPr>
          <p:cNvPr id="3" name="コンテンツ プレースホルダー 2">
            <a:extLst>
              <a:ext uri="{FF2B5EF4-FFF2-40B4-BE49-F238E27FC236}">
                <a16:creationId xmlns:a16="http://schemas.microsoft.com/office/drawing/2014/main" id="{C6FD0D4D-AD40-30B4-5083-5FE71FED4251}"/>
              </a:ext>
            </a:extLst>
          </p:cNvPr>
          <p:cNvSpPr>
            <a:spLocks noGrp="1"/>
          </p:cNvSpPr>
          <p:nvPr>
            <p:ph sz="quarter" idx="13"/>
          </p:nvPr>
        </p:nvSpPr>
        <p:spPr/>
        <p:txBody>
          <a:bodyPr/>
          <a:lstStyle/>
          <a:p>
            <a:r>
              <a:rPr lang="en-US" altLang="ja-JP" dirty="0"/>
              <a:t>B</a:t>
            </a:r>
            <a:r>
              <a:rPr lang="ja-JP" altLang="en-US" dirty="0"/>
              <a:t>社が企業規模の大きさを活かして、赤字覚悟の</a:t>
            </a:r>
            <a:r>
              <a:rPr lang="en-US" altLang="ja-JP" dirty="0"/>
              <a:t>2000</a:t>
            </a:r>
            <a:r>
              <a:rPr lang="ja-JP" altLang="en-US" dirty="0"/>
              <a:t>円の値下げを想定する。</a:t>
            </a:r>
            <a:endParaRPr lang="en-US" altLang="ja-JP" dirty="0"/>
          </a:p>
          <a:p>
            <a:r>
              <a:rPr lang="ja-JP" altLang="en-US" dirty="0"/>
              <a:t>この場合、価格感応シェア弾性率が</a:t>
            </a:r>
            <a:r>
              <a:rPr lang="en-US" altLang="ja-JP" dirty="0"/>
              <a:t>0.003</a:t>
            </a:r>
            <a:r>
              <a:rPr lang="ja-JP" altLang="en-US" dirty="0"/>
              <a:t>（</a:t>
            </a:r>
            <a:r>
              <a:rPr lang="en-US" altLang="ja-JP" dirty="0"/>
              <a:t>%/</a:t>
            </a:r>
            <a:r>
              <a:rPr lang="ja-JP" altLang="en-US" dirty="0"/>
              <a:t>円）を超えるか否かで、市場シェアの逆転有無が分岐する。</a:t>
            </a:r>
          </a:p>
          <a:p>
            <a:endParaRPr lang="ja-JP" altLang="en-US" dirty="0"/>
          </a:p>
        </p:txBody>
      </p:sp>
      <p:sp>
        <p:nvSpPr>
          <p:cNvPr id="4" name="コンテンツ プレースホルダー 3">
            <a:extLst>
              <a:ext uri="{FF2B5EF4-FFF2-40B4-BE49-F238E27FC236}">
                <a16:creationId xmlns:a16="http://schemas.microsoft.com/office/drawing/2014/main" id="{3D56339C-7931-CFA0-D207-76753E2675CA}"/>
              </a:ext>
            </a:extLst>
          </p:cNvPr>
          <p:cNvSpPr>
            <a:spLocks noGrp="1"/>
          </p:cNvSpPr>
          <p:nvPr>
            <p:ph sz="quarter" idx="14"/>
          </p:nvPr>
        </p:nvSpPr>
        <p:spPr/>
        <p:txBody>
          <a:bodyPr/>
          <a:lstStyle/>
          <a:p>
            <a:pPr marL="0" indent="0">
              <a:buNone/>
            </a:pPr>
            <a:r>
              <a:rPr lang="ja-JP" altLang="en-US" b="1" dirty="0"/>
              <a:t>価格感応シェア弾性率が高い場合（</a:t>
            </a:r>
            <a:r>
              <a:rPr lang="en-US" altLang="ja-JP" b="1" dirty="0"/>
              <a:t>0.01</a:t>
            </a:r>
            <a:r>
              <a:rPr lang="ja-JP" altLang="en-US" b="1" dirty="0"/>
              <a:t>以上）</a:t>
            </a:r>
            <a:endParaRPr lang="en-US" altLang="ja-JP" b="1" dirty="0"/>
          </a:p>
          <a:p>
            <a:r>
              <a:rPr lang="ja-JP" altLang="en-US" dirty="0"/>
              <a:t>価格感応シェア弾性率が</a:t>
            </a:r>
            <a:r>
              <a:rPr lang="en-US" altLang="ja-JP" dirty="0"/>
              <a:t>0.003</a:t>
            </a:r>
            <a:r>
              <a:rPr lang="ja-JP" altLang="en-US" dirty="0"/>
              <a:t>（</a:t>
            </a:r>
            <a:r>
              <a:rPr lang="en-US" altLang="ja-JP" dirty="0"/>
              <a:t>100</a:t>
            </a:r>
            <a:r>
              <a:rPr lang="ja-JP" altLang="en-US" dirty="0"/>
              <a:t>円の価格差につき</a:t>
            </a:r>
            <a:r>
              <a:rPr lang="en-US" altLang="ja-JP" dirty="0"/>
              <a:t>A</a:t>
            </a:r>
            <a:r>
              <a:rPr lang="ja-JP" altLang="en-US" dirty="0"/>
              <a:t>社シェアが</a:t>
            </a:r>
            <a:r>
              <a:rPr lang="en-US" altLang="ja-JP" dirty="0"/>
              <a:t>0.3%</a:t>
            </a:r>
            <a:r>
              <a:rPr lang="ja-JP" altLang="en-US" dirty="0"/>
              <a:t>流出）を超えると</a:t>
            </a:r>
            <a:r>
              <a:rPr lang="en-US" altLang="ja-JP" dirty="0"/>
              <a:t>A</a:t>
            </a:r>
            <a:r>
              <a:rPr lang="ja-JP" altLang="en-US" dirty="0"/>
              <a:t>社と</a:t>
            </a:r>
            <a:r>
              <a:rPr lang="en-US" altLang="ja-JP" dirty="0"/>
              <a:t>B</a:t>
            </a:r>
            <a:r>
              <a:rPr lang="ja-JP" altLang="en-US" dirty="0"/>
              <a:t>社の市場シェアが逆転する。</a:t>
            </a:r>
            <a:endParaRPr lang="en-US" altLang="ja-JP" dirty="0"/>
          </a:p>
          <a:p>
            <a:r>
              <a:rPr lang="en-US" altLang="ja-JP" dirty="0"/>
              <a:t>3~5</a:t>
            </a:r>
            <a:r>
              <a:rPr lang="ja-JP" altLang="en-US" dirty="0"/>
              <a:t>年以内に</a:t>
            </a:r>
            <a:r>
              <a:rPr lang="en-US" altLang="ja-JP" dirty="0"/>
              <a:t>B</a:t>
            </a:r>
            <a:r>
              <a:rPr lang="ja-JP" altLang="en-US" dirty="0"/>
              <a:t>社が累積生産台数で</a:t>
            </a:r>
            <a:r>
              <a:rPr lang="en-US" altLang="ja-JP" dirty="0"/>
              <a:t>A</a:t>
            </a:r>
            <a:r>
              <a:rPr lang="ja-JP" altLang="en-US" dirty="0"/>
              <a:t>社を上回り、</a:t>
            </a:r>
            <a:r>
              <a:rPr lang="en-US" altLang="ja-JP" dirty="0"/>
              <a:t>B</a:t>
            </a:r>
            <a:r>
              <a:rPr lang="ja-JP" altLang="en-US" dirty="0"/>
              <a:t>社の総生産コストが</a:t>
            </a:r>
            <a:r>
              <a:rPr lang="en-US" altLang="ja-JP" dirty="0"/>
              <a:t>A</a:t>
            </a:r>
            <a:r>
              <a:rPr lang="ja-JP" altLang="en-US" dirty="0"/>
              <a:t>社を下回る水準に達する。これにより</a:t>
            </a:r>
            <a:r>
              <a:rPr lang="en-US" altLang="ja-JP" dirty="0"/>
              <a:t>B</a:t>
            </a:r>
            <a:r>
              <a:rPr lang="ja-JP" altLang="en-US" dirty="0"/>
              <a:t>社のコストリーダーシップ戦略がさらに加速するリスクがある。</a:t>
            </a:r>
            <a:endParaRPr lang="en-US" altLang="ja-JP" dirty="0"/>
          </a:p>
          <a:p>
            <a:r>
              <a:rPr lang="ja-JP" altLang="en-US" dirty="0"/>
              <a:t>値下げに追随しなければ短期間でコスト優位性を喪失する一方、</a:t>
            </a:r>
            <a:r>
              <a:rPr lang="en-US" altLang="ja-JP" dirty="0"/>
              <a:t>A</a:t>
            </a:r>
            <a:r>
              <a:rPr lang="ja-JP" altLang="en-US" dirty="0"/>
              <a:t>社も同水準の値下げで対抗することで</a:t>
            </a:r>
            <a:r>
              <a:rPr lang="en-US" altLang="ja-JP" dirty="0"/>
              <a:t>B</a:t>
            </a:r>
            <a:r>
              <a:rPr lang="ja-JP" altLang="en-US" dirty="0"/>
              <a:t>社の赤字状態を長期化させることができる。</a:t>
            </a:r>
            <a:r>
              <a:rPr lang="en-US" altLang="ja-JP" dirty="0"/>
              <a:t>B</a:t>
            </a:r>
            <a:r>
              <a:rPr lang="ja-JP" altLang="en-US" dirty="0"/>
              <a:t>社が価格を引き戻すまでの間、</a:t>
            </a:r>
            <a:r>
              <a:rPr lang="en-US" altLang="ja-JP" dirty="0"/>
              <a:t>A</a:t>
            </a:r>
            <a:r>
              <a:rPr lang="ja-JP" altLang="en-US" dirty="0"/>
              <a:t>社は赤字転落しない範囲で値下げに追随し、シェアの防衛を優先すべきである。</a:t>
            </a:r>
            <a:endParaRPr lang="en-US" altLang="ja-JP" dirty="0"/>
          </a:p>
          <a:p>
            <a:pPr marL="0" indent="0">
              <a:buNone/>
            </a:pPr>
            <a:r>
              <a:rPr lang="ja-JP" altLang="en-US" b="1" dirty="0"/>
              <a:t>価格感応シェア弾性率が低い場合（</a:t>
            </a:r>
            <a:r>
              <a:rPr lang="en-US" altLang="ja-JP" b="1" dirty="0"/>
              <a:t>0.01</a:t>
            </a:r>
            <a:r>
              <a:rPr lang="ja-JP" altLang="en-US" b="1" dirty="0"/>
              <a:t>未満）</a:t>
            </a:r>
            <a:endParaRPr lang="en-US" altLang="ja-JP" b="1" dirty="0"/>
          </a:p>
          <a:p>
            <a:r>
              <a:rPr lang="ja-JP" altLang="en-US" dirty="0"/>
              <a:t>市場シェアの逆転が生じないか、仮に逆転が生じるとしても累積生産台数で</a:t>
            </a:r>
            <a:r>
              <a:rPr lang="en-US" altLang="ja-JP" dirty="0"/>
              <a:t>B</a:t>
            </a:r>
            <a:r>
              <a:rPr lang="ja-JP" altLang="en-US" dirty="0"/>
              <a:t>社に抜かれるまでに</a:t>
            </a:r>
            <a:r>
              <a:rPr lang="en-US" altLang="ja-JP" dirty="0"/>
              <a:t>7</a:t>
            </a:r>
            <a:r>
              <a:rPr lang="ja-JP" altLang="en-US" dirty="0"/>
              <a:t>年以上を要する試算となる。</a:t>
            </a:r>
            <a:endParaRPr lang="en-US" altLang="ja-JP" dirty="0"/>
          </a:p>
          <a:p>
            <a:r>
              <a:rPr lang="ja-JP" altLang="en-US" dirty="0"/>
              <a:t>その間、</a:t>
            </a:r>
            <a:r>
              <a:rPr lang="en-US" altLang="ja-JP" dirty="0"/>
              <a:t>B</a:t>
            </a:r>
            <a:r>
              <a:rPr lang="ja-JP" altLang="en-US" dirty="0"/>
              <a:t>社は赤字状態を強いられるため、</a:t>
            </a:r>
            <a:r>
              <a:rPr lang="en-US" altLang="ja-JP" dirty="0"/>
              <a:t>B</a:t>
            </a:r>
            <a:r>
              <a:rPr lang="ja-JP" altLang="en-US" dirty="0"/>
              <a:t>社の財務体力が尽きる可能性が高い。当面は値下げへの追随を見送るべきである。</a:t>
            </a:r>
            <a:endParaRPr kumimoji="1" lang="ja-JP" altLang="en-US" dirty="0"/>
          </a:p>
        </p:txBody>
      </p:sp>
      <p:sp>
        <p:nvSpPr>
          <p:cNvPr id="6" name="テキスト ボックス 5">
            <a:extLst>
              <a:ext uri="{FF2B5EF4-FFF2-40B4-BE49-F238E27FC236}">
                <a16:creationId xmlns:a16="http://schemas.microsoft.com/office/drawing/2014/main" id="{BDF946B0-36F8-EE7F-17F3-575C8B6CE2A9}"/>
              </a:ext>
            </a:extLst>
          </p:cNvPr>
          <p:cNvSpPr txBox="1"/>
          <p:nvPr/>
        </p:nvSpPr>
        <p:spPr>
          <a:xfrm>
            <a:off x="2067604" y="4440950"/>
            <a:ext cx="346249" cy="2071219"/>
          </a:xfrm>
          <a:prstGeom prst="rect">
            <a:avLst/>
          </a:prstGeom>
          <a:noFill/>
        </p:spPr>
        <p:txBody>
          <a:bodyPr vert="eaVert" wrap="square" rtlCol="0">
            <a:spAutoFit/>
          </a:bodyPr>
          <a:lstStyle/>
          <a:p>
            <a:pPr algn="ctr"/>
            <a:r>
              <a:rPr kumimoji="1" lang="ja-JP" altLang="en-US" sz="1050" dirty="0">
                <a:solidFill>
                  <a:schemeClr val="tx1">
                    <a:lumMod val="75000"/>
                    <a:lumOff val="25000"/>
                  </a:schemeClr>
                </a:solidFill>
                <a:latin typeface="Meiryo UI" panose="020B0604030504040204" pitchFamily="50" charset="-128"/>
                <a:ea typeface="Meiryo UI" panose="020B0604030504040204" pitchFamily="50" charset="-128"/>
              </a:rPr>
              <a:t>累積生産台数逆転に必要な年数</a:t>
            </a:r>
          </a:p>
        </p:txBody>
      </p:sp>
      <p:sp>
        <p:nvSpPr>
          <p:cNvPr id="7" name="テキスト ボックス 6">
            <a:extLst>
              <a:ext uri="{FF2B5EF4-FFF2-40B4-BE49-F238E27FC236}">
                <a16:creationId xmlns:a16="http://schemas.microsoft.com/office/drawing/2014/main" id="{5BC6EC85-95AF-6303-58C8-FF7D7110FC2F}"/>
              </a:ext>
            </a:extLst>
          </p:cNvPr>
          <p:cNvSpPr txBox="1"/>
          <p:nvPr/>
        </p:nvSpPr>
        <p:spPr>
          <a:xfrm>
            <a:off x="4131743" y="6512170"/>
            <a:ext cx="3922294" cy="261610"/>
          </a:xfrm>
          <a:prstGeom prst="rect">
            <a:avLst/>
          </a:prstGeom>
          <a:noFill/>
        </p:spPr>
        <p:txBody>
          <a:bodyPr wrap="square" rtlCol="0">
            <a:spAutoFit/>
          </a:bodyPr>
          <a:lstStyle/>
          <a:p>
            <a:pPr algn="ctr">
              <a:defRPr sz="1000" b="0" i="0" u="none" strike="noStrike" kern="1200" baseline="0">
                <a:solidFill>
                  <a:prstClr val="black">
                    <a:lumMod val="65000"/>
                    <a:lumOff val="35000"/>
                  </a:prstClr>
                </a:solidFill>
                <a:latin typeface="+mn-lt"/>
                <a:ea typeface="+mn-ea"/>
                <a:cs typeface="+mn-cs"/>
              </a:defRPr>
            </a:pPr>
            <a:r>
              <a:rPr lang="ja-JP" altLang="en-US" sz="1100" dirty="0">
                <a:latin typeface="Meiryo UI" panose="020B0604030504040204" pitchFamily="50" charset="-128"/>
                <a:ea typeface="Meiryo UI" panose="020B0604030504040204" pitchFamily="50" charset="-128"/>
              </a:rPr>
              <a:t>価格感応シェア弾性率</a:t>
            </a:r>
          </a:p>
        </p:txBody>
      </p:sp>
    </p:spTree>
    <p:extLst>
      <p:ext uri="{BB962C8B-B14F-4D97-AF65-F5344CB8AC3E}">
        <p14:creationId xmlns:p14="http://schemas.microsoft.com/office/powerpoint/2010/main" val="35839259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97E9D8-9500-DA4A-5FCB-C43EECA20513}"/>
              </a:ext>
            </a:extLst>
          </p:cNvPr>
          <p:cNvSpPr>
            <a:spLocks noGrp="1"/>
          </p:cNvSpPr>
          <p:nvPr>
            <p:ph type="title"/>
          </p:nvPr>
        </p:nvSpPr>
        <p:spPr/>
        <p:txBody>
          <a:bodyPr/>
          <a:lstStyle/>
          <a:p>
            <a:r>
              <a:rPr kumimoji="1" lang="ja-JP" altLang="en-US" dirty="0"/>
              <a:t>メモ</a:t>
            </a:r>
          </a:p>
        </p:txBody>
      </p:sp>
      <p:sp>
        <p:nvSpPr>
          <p:cNvPr id="3" name="コンテンツ プレースホルダー 2">
            <a:extLst>
              <a:ext uri="{FF2B5EF4-FFF2-40B4-BE49-F238E27FC236}">
                <a16:creationId xmlns:a16="http://schemas.microsoft.com/office/drawing/2014/main" id="{D35B3651-CB14-7792-FD69-A96EFB7DB53A}"/>
              </a:ext>
            </a:extLst>
          </p:cNvPr>
          <p:cNvSpPr>
            <a:spLocks noGrp="1"/>
          </p:cNvSpPr>
          <p:nvPr>
            <p:ph sz="quarter" idx="13"/>
          </p:nvPr>
        </p:nvSpPr>
        <p:spPr/>
        <p:txBody>
          <a:bodyPr>
            <a:normAutofit fontScale="92500"/>
          </a:bodyPr>
          <a:lstStyle/>
          <a:p>
            <a:r>
              <a:rPr lang="ja-JP" altLang="en-US" dirty="0"/>
              <a:t>価格競争の行方は</a:t>
            </a:r>
            <a:r>
              <a:rPr lang="ja-JP" altLang="en-US" b="1" dirty="0"/>
              <a:t>価格感応シェア弾性率</a:t>
            </a:r>
            <a:r>
              <a:rPr lang="ja-JP" altLang="en-US" dirty="0"/>
              <a:t>と</a:t>
            </a:r>
            <a:r>
              <a:rPr lang="en-US" altLang="ja-JP" b="1" dirty="0"/>
              <a:t>B</a:t>
            </a:r>
            <a:r>
              <a:rPr lang="ja-JP" altLang="en-US" b="1" dirty="0"/>
              <a:t>社の値下げ幅</a:t>
            </a:r>
            <a:r>
              <a:rPr lang="ja-JP" altLang="en-US" dirty="0"/>
              <a:t>の組み合わせによって決まる。 </a:t>
            </a:r>
            <a:endParaRPr lang="en-US" altLang="ja-JP" dirty="0"/>
          </a:p>
          <a:p>
            <a:r>
              <a:rPr lang="en-US" altLang="ja-JP" dirty="0"/>
              <a:t>A</a:t>
            </a:r>
            <a:r>
              <a:rPr lang="ja-JP" altLang="en-US" dirty="0"/>
              <a:t>社は以上の</a:t>
            </a:r>
            <a:r>
              <a:rPr lang="en-US" altLang="ja-JP" dirty="0"/>
              <a:t>2</a:t>
            </a:r>
            <a:r>
              <a:rPr lang="ja-JP" altLang="en-US" dirty="0"/>
              <a:t>変数によって決定される予測シナリオを起点に、値下げ追随の要否と中長期の差別化戦略を判断すべきである。</a:t>
            </a:r>
            <a:endParaRPr kumimoji="1" lang="ja-JP" altLang="en-US" dirty="0"/>
          </a:p>
        </p:txBody>
      </p:sp>
      <p:sp>
        <p:nvSpPr>
          <p:cNvPr id="4" name="コンテンツ プレースホルダー 3">
            <a:extLst>
              <a:ext uri="{FF2B5EF4-FFF2-40B4-BE49-F238E27FC236}">
                <a16:creationId xmlns:a16="http://schemas.microsoft.com/office/drawing/2014/main" id="{F2EA4DA3-A217-2232-F317-868A6F08C4F8}"/>
              </a:ext>
            </a:extLst>
          </p:cNvPr>
          <p:cNvSpPr>
            <a:spLocks noGrp="1"/>
          </p:cNvSpPr>
          <p:nvPr>
            <p:ph sz="quarter" idx="14"/>
          </p:nvPr>
        </p:nvSpPr>
        <p:spPr>
          <a:xfrm>
            <a:off x="317241" y="1455576"/>
            <a:ext cx="11591536" cy="5270564"/>
          </a:xfrm>
        </p:spPr>
        <p:txBody>
          <a:bodyPr>
            <a:normAutofit fontScale="92500" lnSpcReduction="10000"/>
          </a:bodyPr>
          <a:lstStyle/>
          <a:p>
            <a:pPr marL="0" indent="0">
              <a:buNone/>
            </a:pPr>
            <a:r>
              <a:rPr kumimoji="1" lang="ja-JP" altLang="en-US" dirty="0"/>
              <a:t>前提</a:t>
            </a:r>
            <a:endParaRPr kumimoji="1" lang="en-US" altLang="ja-JP" dirty="0"/>
          </a:p>
          <a:p>
            <a:r>
              <a:rPr lang="en-US" altLang="ja-JP" dirty="0"/>
              <a:t>A</a:t>
            </a:r>
            <a:r>
              <a:rPr lang="ja-JP" altLang="en-US" dirty="0"/>
              <a:t>社と</a:t>
            </a:r>
            <a:r>
              <a:rPr lang="en-US" altLang="ja-JP" dirty="0"/>
              <a:t>B</a:t>
            </a:r>
            <a:r>
              <a:rPr lang="ja-JP" altLang="en-US" dirty="0"/>
              <a:t>社の品質差はほとんどないため、市場シェアを決定する要因の大部分は商品の価格差である。</a:t>
            </a:r>
            <a:endParaRPr lang="en-US" altLang="ja-JP" dirty="0"/>
          </a:p>
          <a:p>
            <a:r>
              <a:rPr lang="ja-JP" altLang="en-US" dirty="0"/>
              <a:t>赤字に転落しない可能値下げ幅は、</a:t>
            </a:r>
            <a:r>
              <a:rPr lang="en-US" altLang="ja-JP" dirty="0"/>
              <a:t>A</a:t>
            </a:r>
            <a:r>
              <a:rPr lang="ja-JP" altLang="en-US" dirty="0"/>
              <a:t>社：</a:t>
            </a:r>
            <a:r>
              <a:rPr lang="en-US" altLang="ja-JP" dirty="0"/>
              <a:t>3400</a:t>
            </a:r>
            <a:r>
              <a:rPr lang="ja-JP" altLang="en-US" dirty="0"/>
              <a:t>円、</a:t>
            </a:r>
            <a:r>
              <a:rPr lang="en-US" altLang="ja-JP" dirty="0"/>
              <a:t>B</a:t>
            </a:r>
            <a:r>
              <a:rPr lang="ja-JP" altLang="en-US" dirty="0"/>
              <a:t>社：</a:t>
            </a:r>
            <a:r>
              <a:rPr lang="en-US" altLang="ja-JP" dirty="0"/>
              <a:t>800</a:t>
            </a:r>
            <a:r>
              <a:rPr lang="ja-JP" altLang="en-US" dirty="0"/>
              <a:t>円である。</a:t>
            </a:r>
            <a:endParaRPr lang="en-US" altLang="ja-JP" dirty="0"/>
          </a:p>
          <a:p>
            <a:r>
              <a:rPr lang="ja-JP" altLang="en-US" dirty="0"/>
              <a:t>商品の価格差を決定するのは総生産コストであり、それは累積生産台数による経験効果による影響が大きい。</a:t>
            </a:r>
            <a:endParaRPr lang="en-US" altLang="ja-JP" dirty="0"/>
          </a:p>
          <a:p>
            <a:r>
              <a:rPr lang="ja-JP" altLang="en-US" dirty="0"/>
              <a:t>以上より、</a:t>
            </a:r>
            <a:r>
              <a:rPr lang="en-US" altLang="ja-JP" dirty="0"/>
              <a:t>A</a:t>
            </a:r>
            <a:r>
              <a:rPr lang="ja-JP" altLang="en-US" dirty="0"/>
              <a:t>社の至上命題は現在の累積生産台数の優位性を失わないことであり、そのためには成長していく市場におけるシェア率を維持する必要がある。</a:t>
            </a:r>
            <a:endParaRPr lang="en-US" altLang="ja-JP" dirty="0"/>
          </a:p>
          <a:p>
            <a:r>
              <a:rPr lang="en-US" altLang="ja-JP" dirty="0"/>
              <a:t>B</a:t>
            </a:r>
            <a:r>
              <a:rPr lang="ja-JP" altLang="en-US" dirty="0"/>
              <a:t>社の至上命題は累積生産台数を逆転し、より多くの経験効果を得ることでコストを引き下げること。そのためには市場シェアを</a:t>
            </a:r>
            <a:r>
              <a:rPr lang="en-US" altLang="ja-JP" dirty="0"/>
              <a:t>A</a:t>
            </a:r>
            <a:r>
              <a:rPr lang="ja-JP" altLang="en-US" dirty="0"/>
              <a:t>社から奪う必要がある。</a:t>
            </a:r>
            <a:endParaRPr lang="en-US" altLang="ja-JP" dirty="0"/>
          </a:p>
          <a:p>
            <a:r>
              <a:rPr lang="ja-JP" altLang="en-US" dirty="0"/>
              <a:t>以上より、</a:t>
            </a:r>
            <a:r>
              <a:rPr lang="en-US" altLang="ja-JP" dirty="0"/>
              <a:t>A</a:t>
            </a:r>
            <a:r>
              <a:rPr lang="ja-JP" altLang="en-US" dirty="0"/>
              <a:t>と</a:t>
            </a:r>
            <a:r>
              <a:rPr lang="en-US" altLang="ja-JP" dirty="0"/>
              <a:t>B</a:t>
            </a:r>
            <a:r>
              <a:rPr lang="ja-JP" altLang="en-US" dirty="0"/>
              <a:t>の優位性は累積生産台数に集約でき、それを決める変数は市場シェアであるが、市場シェアは商品の値下げ幅とそれに応じた市場シェア移動率によって決まる。</a:t>
            </a:r>
            <a:endParaRPr lang="en-US" altLang="ja-JP" dirty="0"/>
          </a:p>
          <a:p>
            <a:r>
              <a:rPr lang="ja-JP" altLang="en-US" dirty="0"/>
              <a:t>価格感応シェア弾性率とは、</a:t>
            </a:r>
            <a:r>
              <a:rPr lang="en-US" altLang="ja-JP" dirty="0"/>
              <a:t>B</a:t>
            </a:r>
            <a:r>
              <a:rPr lang="ja-JP" altLang="en-US" dirty="0"/>
              <a:t>社の値下げによって生まれた価格差によって、現状の</a:t>
            </a:r>
            <a:r>
              <a:rPr lang="en-US" altLang="ja-JP" dirty="0"/>
              <a:t>A</a:t>
            </a:r>
            <a:r>
              <a:rPr lang="ja-JP" altLang="en-US" dirty="0"/>
              <a:t>社シェアが</a:t>
            </a:r>
            <a:r>
              <a:rPr lang="en-US" altLang="ja-JP" dirty="0"/>
              <a:t>40%</a:t>
            </a:r>
            <a:r>
              <a:rPr lang="ja-JP" altLang="en-US" dirty="0"/>
              <a:t>、</a:t>
            </a:r>
            <a:r>
              <a:rPr lang="en-US" altLang="ja-JP" dirty="0"/>
              <a:t>B</a:t>
            </a:r>
            <a:r>
              <a:rPr lang="ja-JP" altLang="en-US" dirty="0"/>
              <a:t>社シェアが</a:t>
            </a:r>
            <a:r>
              <a:rPr lang="en-US" altLang="ja-JP" dirty="0"/>
              <a:t>30%</a:t>
            </a:r>
            <a:r>
              <a:rPr lang="ja-JP" altLang="en-US" dirty="0"/>
              <a:t>からどれくらいのシェアが移動するかを表した変数。高いと小さい価格差で多くのシェアが移動する。</a:t>
            </a:r>
            <a:endParaRPr lang="en-US" altLang="ja-JP" dirty="0"/>
          </a:p>
          <a:p>
            <a:pPr marL="0" indent="0">
              <a:buNone/>
            </a:pPr>
            <a:r>
              <a:rPr lang="ja-JP" altLang="en-US" dirty="0"/>
              <a:t>結論</a:t>
            </a:r>
            <a:endParaRPr lang="en-US" altLang="ja-JP" dirty="0"/>
          </a:p>
          <a:p>
            <a:r>
              <a:rPr lang="ja-JP" altLang="en-US" dirty="0"/>
              <a:t>シナリオ</a:t>
            </a:r>
            <a:r>
              <a:rPr lang="en-US" altLang="ja-JP" dirty="0"/>
              <a:t>A</a:t>
            </a:r>
            <a:r>
              <a:rPr lang="ja-JP" altLang="en-US" dirty="0"/>
              <a:t>：価格感応シェア弾性率が高い </a:t>
            </a:r>
            <a:r>
              <a:rPr lang="en-US" altLang="ja-JP" dirty="0"/>
              <a:t>&amp; B</a:t>
            </a:r>
            <a:r>
              <a:rPr lang="ja-JP" altLang="en-US" dirty="0"/>
              <a:t>社の値下げ幅が大きい：</a:t>
            </a:r>
            <a:r>
              <a:rPr lang="en-US" altLang="ja-JP" dirty="0"/>
              <a:t>B</a:t>
            </a:r>
            <a:r>
              <a:rPr lang="ja-JP" altLang="en-US" dirty="0"/>
              <a:t>に早い段階（数年以内）で累積生産台数で負けることで、コストメリットを享受されてしまう可能性があるため、</a:t>
            </a:r>
            <a:r>
              <a:rPr lang="en-US" altLang="ja-JP" dirty="0"/>
              <a:t>A</a:t>
            </a:r>
            <a:r>
              <a:rPr lang="ja-JP" altLang="en-US" dirty="0"/>
              <a:t>も赤字に転落しない程度に値下げに付き合う必要がある。</a:t>
            </a:r>
            <a:endParaRPr lang="en-US" altLang="ja-JP" dirty="0"/>
          </a:p>
          <a:p>
            <a:r>
              <a:rPr lang="ja-JP" altLang="en-US" dirty="0"/>
              <a:t>シナリオ</a:t>
            </a:r>
            <a:r>
              <a:rPr lang="en-US" altLang="ja-JP" dirty="0"/>
              <a:t>B</a:t>
            </a:r>
            <a:r>
              <a:rPr lang="ja-JP" altLang="en-US" dirty="0"/>
              <a:t>：価格感応シェア弾性率が高い </a:t>
            </a:r>
            <a:r>
              <a:rPr lang="en-US" altLang="ja-JP" dirty="0"/>
              <a:t>&amp; B</a:t>
            </a:r>
            <a:r>
              <a:rPr lang="ja-JP" altLang="en-US" dirty="0"/>
              <a:t>社の値下げ幅が小さい：すぐには値下げに付き合う必要はないが、いずれ累積生産台数で負けるため、商品の付加価値強化やブランド力向上により、価格感応シェア弾性率を引き下げる努力が必要。</a:t>
            </a:r>
            <a:r>
              <a:rPr lang="en-US" altLang="ja-JP" dirty="0"/>
              <a:t> </a:t>
            </a:r>
          </a:p>
          <a:p>
            <a:r>
              <a:rPr lang="ja-JP" altLang="en-US" dirty="0"/>
              <a:t>シナリオ</a:t>
            </a:r>
            <a:r>
              <a:rPr lang="en-US" altLang="ja-JP" dirty="0"/>
              <a:t>C</a:t>
            </a:r>
            <a:r>
              <a:rPr lang="ja-JP" altLang="en-US" dirty="0"/>
              <a:t>：価格感応シェア弾性率が低い </a:t>
            </a:r>
            <a:r>
              <a:rPr lang="en-US" altLang="ja-JP" dirty="0"/>
              <a:t>&amp; B</a:t>
            </a:r>
            <a:r>
              <a:rPr lang="ja-JP" altLang="en-US" dirty="0"/>
              <a:t>社の値下げ幅が大きい：</a:t>
            </a:r>
            <a:r>
              <a:rPr lang="en-US" altLang="ja-JP" dirty="0"/>
              <a:t>B</a:t>
            </a:r>
            <a:r>
              <a:rPr lang="ja-JP" altLang="en-US" dirty="0"/>
              <a:t>の累積生産台数が</a:t>
            </a:r>
            <a:r>
              <a:rPr lang="en-US" altLang="ja-JP" dirty="0"/>
              <a:t>A</a:t>
            </a:r>
            <a:r>
              <a:rPr lang="ja-JP" altLang="en-US" dirty="0"/>
              <a:t>を上回るまで時間がかかるかつ、</a:t>
            </a:r>
            <a:r>
              <a:rPr lang="en-US" altLang="ja-JP" dirty="0"/>
              <a:t>B</a:t>
            </a:r>
            <a:r>
              <a:rPr lang="ja-JP" altLang="en-US" dirty="0"/>
              <a:t>社は赤字状態でいずれ市場から退場するから、値下げに付き合う必要はない</a:t>
            </a:r>
            <a:endParaRPr lang="en-US" altLang="ja-JP" dirty="0"/>
          </a:p>
          <a:p>
            <a:r>
              <a:rPr lang="ja-JP" altLang="en-US" dirty="0"/>
              <a:t>シナリオ</a:t>
            </a:r>
            <a:r>
              <a:rPr lang="en-US" altLang="ja-JP" dirty="0"/>
              <a:t>D</a:t>
            </a:r>
            <a:r>
              <a:rPr lang="ja-JP" altLang="en-US" dirty="0"/>
              <a:t>：価格感応シェア弾性率が低い </a:t>
            </a:r>
            <a:r>
              <a:rPr lang="en-US" altLang="ja-JP" dirty="0"/>
              <a:t>&amp; B</a:t>
            </a:r>
            <a:r>
              <a:rPr lang="ja-JP" altLang="en-US" dirty="0"/>
              <a:t>社の値下げ幅が小さい：市場シェアが逆転しない可能性が高いため、値下げに付き合う必要はない</a:t>
            </a:r>
            <a:endParaRPr lang="en-US" altLang="ja-JP" dirty="0"/>
          </a:p>
          <a:p>
            <a:endParaRPr lang="en-US" altLang="ja-JP" dirty="0"/>
          </a:p>
          <a:p>
            <a:endParaRPr lang="en-US" altLang="ja-JP" dirty="0"/>
          </a:p>
          <a:p>
            <a:endParaRPr lang="en-US" altLang="ja-JP" dirty="0"/>
          </a:p>
          <a:p>
            <a:endParaRPr kumimoji="1" lang="en-US" altLang="ja-JP" dirty="0"/>
          </a:p>
          <a:p>
            <a:endParaRPr kumimoji="1" lang="ja-JP" altLang="en-US" dirty="0"/>
          </a:p>
        </p:txBody>
      </p:sp>
      <p:sp>
        <p:nvSpPr>
          <p:cNvPr id="11" name="タイトル 1">
            <a:extLst>
              <a:ext uri="{FF2B5EF4-FFF2-40B4-BE49-F238E27FC236}">
                <a16:creationId xmlns:a16="http://schemas.microsoft.com/office/drawing/2014/main" id="{7632EEDB-ABF2-E0A7-DF36-15C2FF27706D}"/>
              </a:ext>
            </a:extLst>
          </p:cNvPr>
          <p:cNvSpPr txBox="1">
            <a:spLocks/>
          </p:cNvSpPr>
          <p:nvPr/>
        </p:nvSpPr>
        <p:spPr>
          <a:xfrm>
            <a:off x="640702" y="7509491"/>
            <a:ext cx="11551298" cy="47463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2400" kern="1200">
                <a:solidFill>
                  <a:schemeClr val="accent1"/>
                </a:solidFill>
                <a:latin typeface="Meiryo UI" panose="020B0604030504040204" pitchFamily="50" charset="-128"/>
                <a:ea typeface="Meiryo UI" panose="020B0604030504040204" pitchFamily="50" charset="-128"/>
                <a:cs typeface="+mj-cs"/>
              </a:defRPr>
            </a:lvl1pPr>
          </a:lstStyle>
          <a:p>
            <a:endParaRPr lang="ja-JP" altLang="en-US" dirty="0"/>
          </a:p>
        </p:txBody>
      </p:sp>
      <p:sp>
        <p:nvSpPr>
          <p:cNvPr id="12" name="楕円 11">
            <a:extLst>
              <a:ext uri="{FF2B5EF4-FFF2-40B4-BE49-F238E27FC236}">
                <a16:creationId xmlns:a16="http://schemas.microsoft.com/office/drawing/2014/main" id="{7D1E1BE2-9849-E83C-7DFB-DC3E9592BA9A}"/>
              </a:ext>
            </a:extLst>
          </p:cNvPr>
          <p:cNvSpPr/>
          <p:nvPr/>
        </p:nvSpPr>
        <p:spPr>
          <a:xfrm>
            <a:off x="2554014" y="1702676"/>
            <a:ext cx="8135007" cy="369974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t>反論：</a:t>
            </a:r>
            <a:endParaRPr lang="en-US" altLang="ja-JP" dirty="0"/>
          </a:p>
          <a:p>
            <a:r>
              <a:rPr lang="ja-JP" altLang="en-US" dirty="0"/>
              <a:t>累積生産台数が大きくなるにつれ経験効果が弱まるが、経過年数が大きくなるといずれどちらのコストも下がりきってしまうのではないか</a:t>
            </a:r>
            <a:endParaRPr lang="en-US" altLang="ja-JP" dirty="0"/>
          </a:p>
          <a:p>
            <a:r>
              <a:rPr lang="ja-JP" altLang="en-US" dirty="0"/>
              <a:t>市場シェアは直線的に下がることなんてあり得るのか</a:t>
            </a:r>
          </a:p>
          <a:p>
            <a:pPr algn="ctr"/>
            <a:endParaRPr kumimoji="1" lang="ja-JP" altLang="en-US" dirty="0"/>
          </a:p>
        </p:txBody>
      </p:sp>
    </p:spTree>
    <p:extLst>
      <p:ext uri="{BB962C8B-B14F-4D97-AF65-F5344CB8AC3E}">
        <p14:creationId xmlns:p14="http://schemas.microsoft.com/office/powerpoint/2010/main" val="2464590457"/>
      </p:ext>
    </p:extLst>
  </p:cSld>
  <p:clrMapOvr>
    <a:masterClrMapping/>
  </p:clrMapOvr>
</p:sld>
</file>

<file path=ppt/theme/theme1.xml><?xml version="1.0" encoding="utf-8"?>
<a:theme xmlns:a="http://schemas.openxmlformats.org/drawingml/2006/main" name="デザインの設定">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15324</TotalTime>
  <Words>3339</Words>
  <Application>Microsoft Office PowerPoint</Application>
  <PresentationFormat>ワイド画面</PresentationFormat>
  <Paragraphs>246</Paragraphs>
  <Slides>13</Slides>
  <Notes>3</Notes>
  <HiddenSlides>1</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13</vt:i4>
      </vt:variant>
    </vt:vector>
  </HeadingPairs>
  <TitlesOfParts>
    <vt:vector size="18" baseType="lpstr">
      <vt:lpstr>Meiryo UI</vt:lpstr>
      <vt:lpstr>游ゴシック</vt:lpstr>
      <vt:lpstr>Arial</vt:lpstr>
      <vt:lpstr>Wingdings</vt:lpstr>
      <vt:lpstr>デザインの設定</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D事業から撤退し、B事業に経営資源を集中的に投資すべき。</vt:lpstr>
      <vt:lpstr>PowerPoint プレゼンテーション</vt:lpstr>
      <vt:lpstr>PowerPoint プレゼンテーション</vt:lpstr>
      <vt:lpstr>結論： A社の戦略優位は累積生産台数の維持にあり、打ち手は今後のシナリオ次第で異なる</vt:lpstr>
      <vt:lpstr>現状：累積生産台数の優位性により、現状A社はB社より生産コストが低く、粗利率で上回る</vt:lpstr>
      <vt:lpstr>各シナリオの詳細：今後のB社の値下げ幅が小さい場合（値下げ幅：700円想定）</vt:lpstr>
      <vt:lpstr>各シナリオの詳細：今後のB社の値下げ幅が大きい場合（値下げ幅：2000円想定）</vt:lpstr>
      <vt:lpstr>メモ</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ishowaseda</dc:creator>
  <cp:lastModifiedBy>ishowaseda</cp:lastModifiedBy>
  <cp:revision>138</cp:revision>
  <dcterms:created xsi:type="dcterms:W3CDTF">2026-04-07T13:27:17Z</dcterms:created>
  <dcterms:modified xsi:type="dcterms:W3CDTF">2026-04-19T06:21:14Z</dcterms:modified>
</cp:coreProperties>
</file>