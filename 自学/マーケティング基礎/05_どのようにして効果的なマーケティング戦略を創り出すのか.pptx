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56" r:id="rId2"/>
    <p:sldId id="257"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7" autoAdjust="0"/>
    <p:restoredTop sz="90572" autoAdjust="0"/>
  </p:normalViewPr>
  <p:slideViewPr>
    <p:cSldViewPr snapToGrid="0" showGuides="1">
      <p:cViewPr varScale="1">
        <p:scale>
          <a:sx n="102" d="100"/>
          <a:sy n="102" d="100"/>
        </p:scale>
        <p:origin x="138" y="15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25CD4-97A0-4A8B-8B68-79239C598E73}" type="datetimeFigureOut">
              <a:rPr kumimoji="1" lang="ja-JP" altLang="en-US" smtClean="0"/>
              <a:t>2026/4/19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FED925-DE13-4A90-A87A-3369165250F3}" type="slidenum">
              <a:rPr kumimoji="1" lang="ja-JP" altLang="en-US" smtClean="0"/>
              <a:t>‹#›</a:t>
            </a:fld>
            <a:endParaRPr kumimoji="1" lang="ja-JP" altLang="en-US"/>
          </a:p>
        </p:txBody>
      </p:sp>
    </p:spTree>
    <p:extLst>
      <p:ext uri="{BB962C8B-B14F-4D97-AF65-F5344CB8AC3E}">
        <p14:creationId xmlns:p14="http://schemas.microsoft.com/office/powerpoint/2010/main" val="37571062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E6D315-CFA7-F18F-5611-0E390411DD47}"/>
              </a:ext>
            </a:extLst>
          </p:cNvPr>
          <p:cNvSpPr>
            <a:spLocks noGrp="1"/>
          </p:cNvSpPr>
          <p:nvPr>
            <p:ph type="title" hasCustomPrompt="1"/>
          </p:nvPr>
        </p:nvSpPr>
        <p:spPr>
          <a:xfrm>
            <a:off x="317241" y="131860"/>
            <a:ext cx="11551298" cy="474630"/>
          </a:xfrm>
        </p:spPr>
        <p:txBody>
          <a:bodyPr/>
          <a:lstStyle>
            <a:lvl1pPr>
              <a:defRPr sz="2400">
                <a:solidFill>
                  <a:schemeClr val="accent1"/>
                </a:solidFill>
                <a:latin typeface="Meiryo UI" panose="020B0604030504040204" pitchFamily="50" charset="-128"/>
                <a:ea typeface="Meiryo UI" panose="020B0604030504040204" pitchFamily="50" charset="-128"/>
              </a:defRPr>
            </a:lvl1pPr>
          </a:lstStyle>
          <a:p>
            <a:r>
              <a:rPr kumimoji="1" lang="ja-JP" altLang="en-US" dirty="0"/>
              <a:t>スライドメッセージ</a:t>
            </a:r>
          </a:p>
        </p:txBody>
      </p:sp>
      <p:sp>
        <p:nvSpPr>
          <p:cNvPr id="3" name="日付プレースホルダー 2">
            <a:extLst>
              <a:ext uri="{FF2B5EF4-FFF2-40B4-BE49-F238E27FC236}">
                <a16:creationId xmlns:a16="http://schemas.microsoft.com/office/drawing/2014/main" id="{7FDA7B0C-E626-8C86-C3F9-6029BC54B71E}"/>
              </a:ext>
            </a:extLst>
          </p:cNvPr>
          <p:cNvSpPr>
            <a:spLocks noGrp="1"/>
          </p:cNvSpPr>
          <p:nvPr>
            <p:ph type="dt" sz="half" idx="10"/>
          </p:nvPr>
        </p:nvSpPr>
        <p:spPr>
          <a:xfrm>
            <a:off x="838200" y="6356351"/>
            <a:ext cx="2743200" cy="171858"/>
          </a:xfrm>
        </p:spPr>
        <p:txBody>
          <a:bodyPr/>
          <a:lstStyle>
            <a:lvl1pPr>
              <a:defRPr>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2026/4/19</a:t>
            </a:fld>
            <a:endParaRPr lang="ja-JP" altLang="en-US"/>
          </a:p>
        </p:txBody>
      </p:sp>
      <p:sp>
        <p:nvSpPr>
          <p:cNvPr id="4" name="フッター プレースホルダー 3">
            <a:extLst>
              <a:ext uri="{FF2B5EF4-FFF2-40B4-BE49-F238E27FC236}">
                <a16:creationId xmlns:a16="http://schemas.microsoft.com/office/drawing/2014/main" id="{6BFC6DE0-39C8-6F03-0152-8578F7BA9AC8}"/>
              </a:ext>
            </a:extLst>
          </p:cNvPr>
          <p:cNvSpPr>
            <a:spLocks noGrp="1"/>
          </p:cNvSpPr>
          <p:nvPr>
            <p:ph type="ftr" sz="quarter" idx="11"/>
          </p:nvPr>
        </p:nvSpPr>
        <p:spPr>
          <a:xfrm>
            <a:off x="4038600" y="6356351"/>
            <a:ext cx="4114800" cy="171858"/>
          </a:xfrm>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スライド番号プレースホルダー 4">
            <a:extLst>
              <a:ext uri="{FF2B5EF4-FFF2-40B4-BE49-F238E27FC236}">
                <a16:creationId xmlns:a16="http://schemas.microsoft.com/office/drawing/2014/main" id="{59BE49F0-AEDB-0D71-7A52-F96FE8285EF9}"/>
              </a:ext>
            </a:extLst>
          </p:cNvPr>
          <p:cNvSpPr>
            <a:spLocks noGrp="1"/>
          </p:cNvSpPr>
          <p:nvPr>
            <p:ph type="sldNum" sz="quarter" idx="12"/>
          </p:nvPr>
        </p:nvSpPr>
        <p:spPr>
          <a:xfrm>
            <a:off x="8610600" y="6356351"/>
            <a:ext cx="2743200" cy="171858"/>
          </a:xfrm>
        </p:spPr>
        <p:txBody>
          <a:bodyPr/>
          <a:lstStyle>
            <a:lvl1pPr>
              <a:defRPr>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
        <p:nvSpPr>
          <p:cNvPr id="6" name="コンテンツ プレースホルダー 6">
            <a:extLst>
              <a:ext uri="{FF2B5EF4-FFF2-40B4-BE49-F238E27FC236}">
                <a16:creationId xmlns:a16="http://schemas.microsoft.com/office/drawing/2014/main" id="{05896C3B-FD85-59A7-4E4A-0D29E197E4DE}"/>
              </a:ext>
            </a:extLst>
          </p:cNvPr>
          <p:cNvSpPr>
            <a:spLocks noGrp="1"/>
          </p:cNvSpPr>
          <p:nvPr>
            <p:ph sz="quarter" idx="13" hasCustomPrompt="1"/>
          </p:nvPr>
        </p:nvSpPr>
        <p:spPr>
          <a:xfrm>
            <a:off x="317241" y="672225"/>
            <a:ext cx="11591536" cy="783351"/>
          </a:xfrm>
        </p:spPr>
        <p:txBody>
          <a:bodyPr>
            <a:normAutofit/>
          </a:bodyPr>
          <a:lstStyle>
            <a:lvl1pPr>
              <a:defRPr sz="1800">
                <a:solidFill>
                  <a:schemeClr val="bg2">
                    <a:lumMod val="25000"/>
                  </a:schemeClr>
                </a:solidFill>
                <a:latin typeface="Meiryo UI" panose="020B0604030504040204" pitchFamily="50" charset="-128"/>
                <a:ea typeface="Meiryo UI" panose="020B0604030504040204" pitchFamily="50" charset="-128"/>
              </a:defRPr>
            </a:lvl1pPr>
          </a:lstStyle>
          <a:p>
            <a:pPr lvl="0"/>
            <a:r>
              <a:rPr kumimoji="1" lang="ja-JP" altLang="en-US" dirty="0"/>
              <a:t>概要①</a:t>
            </a:r>
            <a:endParaRPr kumimoji="1" lang="en-US" altLang="ja-JP" dirty="0"/>
          </a:p>
          <a:p>
            <a:pPr lvl="0"/>
            <a:r>
              <a:rPr kumimoji="1" lang="ja-JP" altLang="en-US" dirty="0"/>
              <a:t>概要②</a:t>
            </a:r>
          </a:p>
        </p:txBody>
      </p:sp>
      <p:sp>
        <p:nvSpPr>
          <p:cNvPr id="7" name="コンテンツ プレースホルダー 6">
            <a:extLst>
              <a:ext uri="{FF2B5EF4-FFF2-40B4-BE49-F238E27FC236}">
                <a16:creationId xmlns:a16="http://schemas.microsoft.com/office/drawing/2014/main" id="{1241F936-A09D-5A21-68FF-0035A12F523E}"/>
              </a:ext>
            </a:extLst>
          </p:cNvPr>
          <p:cNvSpPr>
            <a:spLocks noGrp="1"/>
          </p:cNvSpPr>
          <p:nvPr>
            <p:ph sz="quarter" idx="14" hasCustomPrompt="1"/>
          </p:nvPr>
        </p:nvSpPr>
        <p:spPr>
          <a:xfrm>
            <a:off x="317241" y="1455576"/>
            <a:ext cx="11591536" cy="4730198"/>
          </a:xfrm>
        </p:spPr>
        <p:txBody>
          <a:bodyPr>
            <a:normAutofit/>
          </a:bodyPr>
          <a:lstStyle>
            <a:lvl1pPr>
              <a:defRPr sz="1600">
                <a:solidFill>
                  <a:schemeClr val="bg2">
                    <a:lumMod val="25000"/>
                  </a:schemeClr>
                </a:solidFill>
                <a:latin typeface="Meiryo UI" panose="020B0604030504040204" pitchFamily="50" charset="-128"/>
                <a:ea typeface="Meiryo UI" panose="020B0604030504040204" pitchFamily="50" charset="-128"/>
              </a:defRPr>
            </a:lvl1pPr>
            <a:lvl2pPr>
              <a:buFont typeface="Wingdings" panose="05000000000000000000" pitchFamily="2" charset="2"/>
              <a:buChar char="Ø"/>
              <a:defRPr sz="1400">
                <a:solidFill>
                  <a:schemeClr val="bg2">
                    <a:lumMod val="25000"/>
                  </a:schemeClr>
                </a:solidFill>
                <a:latin typeface="Meiryo UI" panose="020B0604030504040204" pitchFamily="50" charset="-128"/>
                <a:ea typeface="Meiryo UI" panose="020B0604030504040204" pitchFamily="50" charset="-128"/>
              </a:defRPr>
            </a:lvl2pPr>
          </a:lstStyle>
          <a:p>
            <a:pPr lvl="0"/>
            <a:r>
              <a:rPr kumimoji="1" lang="ja-JP" altLang="en-US" dirty="0"/>
              <a:t>インデント①</a:t>
            </a:r>
            <a:endParaRPr kumimoji="1" lang="en-US" altLang="ja-JP" dirty="0"/>
          </a:p>
          <a:p>
            <a:pPr lvl="1"/>
            <a:r>
              <a:rPr kumimoji="1" lang="ja-JP" altLang="en-US" dirty="0"/>
              <a:t>インデント②</a:t>
            </a:r>
          </a:p>
        </p:txBody>
      </p:sp>
    </p:spTree>
    <p:extLst>
      <p:ext uri="{BB962C8B-B14F-4D97-AF65-F5344CB8AC3E}">
        <p14:creationId xmlns:p14="http://schemas.microsoft.com/office/powerpoint/2010/main" val="34847504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764A8A-05EF-FF45-EC95-3A9C5909D1E2}"/>
              </a:ext>
            </a:extLst>
          </p:cNvPr>
          <p:cNvSpPr>
            <a:spLocks noGrp="1"/>
          </p:cNvSpPr>
          <p:nvPr>
            <p:ph type="title"/>
          </p:nvPr>
        </p:nvSpPr>
        <p:spPr>
          <a:xfrm>
            <a:off x="317241" y="131860"/>
            <a:ext cx="11551298" cy="474630"/>
          </a:xfrm>
          <a:prstGeom prst="rect">
            <a:avLst/>
          </a:prstGeom>
        </p:spPr>
        <p:txBody>
          <a:bodyPr vert="horz" lIns="91440" tIns="45720" rIns="91440" bIns="45720" rtlCol="0" anchor="ctr">
            <a:noAutofit/>
          </a:bodyPr>
          <a:lstStyle/>
          <a:p>
            <a:r>
              <a:rPr kumimoji="1" lang="ja-JP" altLang="en-US" dirty="0"/>
              <a:t>スライドメッセージ</a:t>
            </a:r>
          </a:p>
        </p:txBody>
      </p:sp>
      <p:sp>
        <p:nvSpPr>
          <p:cNvPr id="3" name="テキスト プレースホルダー 2">
            <a:extLst>
              <a:ext uri="{FF2B5EF4-FFF2-40B4-BE49-F238E27FC236}">
                <a16:creationId xmlns:a16="http://schemas.microsoft.com/office/drawing/2014/main" id="{ED3FD47D-708A-7F8E-1E52-F5921F5509E5}"/>
              </a:ext>
            </a:extLst>
          </p:cNvPr>
          <p:cNvSpPr>
            <a:spLocks noGrp="1"/>
          </p:cNvSpPr>
          <p:nvPr>
            <p:ph type="body" idx="1"/>
          </p:nvPr>
        </p:nvSpPr>
        <p:spPr>
          <a:xfrm>
            <a:off x="838200" y="1825625"/>
            <a:ext cx="10515600" cy="2048101"/>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62AE49-EF35-CCB1-26EF-AC9D5131B276}"/>
              </a:ext>
            </a:extLst>
          </p:cNvPr>
          <p:cNvSpPr>
            <a:spLocks noGrp="1"/>
          </p:cNvSpPr>
          <p:nvPr>
            <p:ph type="dt" sz="half" idx="2"/>
          </p:nvPr>
        </p:nvSpPr>
        <p:spPr>
          <a:xfrm>
            <a:off x="838200" y="6356351"/>
            <a:ext cx="2743200" cy="171858"/>
          </a:xfrm>
          <a:prstGeom prst="rect">
            <a:avLst/>
          </a:prstGeom>
        </p:spPr>
        <p:txBody>
          <a:bodyPr vert="horz" lIns="91440" tIns="45720" rIns="91440" bIns="45720" rtlCol="0" anchor="ctr"/>
          <a:lstStyle>
            <a:lvl1pPr algn="l">
              <a:defRPr sz="1200">
                <a:solidFill>
                  <a:schemeClr val="tx1">
                    <a:tint val="82000"/>
                  </a:schemeClr>
                </a:solidFill>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2026/4/19</a:t>
            </a:fld>
            <a:endParaRPr lang="ja-JP" altLang="en-US"/>
          </a:p>
        </p:txBody>
      </p:sp>
      <p:sp>
        <p:nvSpPr>
          <p:cNvPr id="5" name="フッター プレースホルダー 4">
            <a:extLst>
              <a:ext uri="{FF2B5EF4-FFF2-40B4-BE49-F238E27FC236}">
                <a16:creationId xmlns:a16="http://schemas.microsoft.com/office/drawing/2014/main" id="{291A030F-6976-1B52-C3D0-4273BCA10343}"/>
              </a:ext>
            </a:extLst>
          </p:cNvPr>
          <p:cNvSpPr>
            <a:spLocks noGrp="1"/>
          </p:cNvSpPr>
          <p:nvPr>
            <p:ph type="ftr" sz="quarter" idx="3"/>
          </p:nvPr>
        </p:nvSpPr>
        <p:spPr>
          <a:xfrm>
            <a:off x="4038600" y="6356351"/>
            <a:ext cx="4114800" cy="171858"/>
          </a:xfrm>
          <a:prstGeom prst="rect">
            <a:avLst/>
          </a:prstGeom>
        </p:spPr>
        <p:txBody>
          <a:bodyPr vert="horz" lIns="91440" tIns="45720" rIns="91440" bIns="45720" rtlCol="0" anchor="ctr"/>
          <a:lstStyle>
            <a:lvl1pPr algn="ctr">
              <a:defRPr sz="1200">
                <a:solidFill>
                  <a:schemeClr val="tx1">
                    <a:tint val="82000"/>
                  </a:schemeClr>
                </a:solidFill>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40836DE0-44E5-50EA-C883-68714F6310E6}"/>
              </a:ext>
            </a:extLst>
          </p:cNvPr>
          <p:cNvSpPr>
            <a:spLocks noGrp="1"/>
          </p:cNvSpPr>
          <p:nvPr>
            <p:ph type="sldNum" sz="quarter" idx="4"/>
          </p:nvPr>
        </p:nvSpPr>
        <p:spPr>
          <a:xfrm>
            <a:off x="8610600" y="6356351"/>
            <a:ext cx="2743200" cy="171858"/>
          </a:xfrm>
          <a:prstGeom prst="rect">
            <a:avLst/>
          </a:prstGeom>
        </p:spPr>
        <p:txBody>
          <a:bodyPr vert="horz" lIns="91440" tIns="45720" rIns="91440" bIns="45720" rtlCol="0" anchor="ctr"/>
          <a:lstStyle>
            <a:lvl1pPr algn="r">
              <a:defRPr sz="1200">
                <a:solidFill>
                  <a:schemeClr val="tx1">
                    <a:tint val="82000"/>
                  </a:schemeClr>
                </a:solidFill>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Tree>
    <p:extLst>
      <p:ext uri="{BB962C8B-B14F-4D97-AF65-F5344CB8AC3E}">
        <p14:creationId xmlns:p14="http://schemas.microsoft.com/office/powerpoint/2010/main" val="36631526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3200" kern="1200">
          <a:solidFill>
            <a:schemeClr val="tx2">
              <a:lumMod val="75000"/>
              <a:lumOff val="25000"/>
            </a:schemeClr>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1F635D84-BDE9-B4B7-4D24-FF8E6F2A1DC8}"/>
              </a:ext>
            </a:extLst>
          </p:cNvPr>
          <p:cNvSpPr txBox="1"/>
          <p:nvPr/>
        </p:nvSpPr>
        <p:spPr>
          <a:xfrm>
            <a:off x="409903" y="110937"/>
            <a:ext cx="2617076" cy="369332"/>
          </a:xfrm>
          <a:prstGeom prst="rect">
            <a:avLst/>
          </a:prstGeom>
          <a:noFill/>
        </p:spPr>
        <p:txBody>
          <a:bodyPr wrap="square" rtlCol="0">
            <a:spAutoFit/>
          </a:bodyPr>
          <a:lstStyle/>
          <a:p>
            <a:r>
              <a:rPr kumimoji="1" lang="en-US" altLang="ja-JP" b="1" dirty="0">
                <a:latin typeface="Meiryo UI" panose="020B0604030504040204" pitchFamily="50" charset="-128"/>
                <a:ea typeface="Meiryo UI" panose="020B0604030504040204" pitchFamily="50" charset="-128"/>
              </a:rPr>
              <a:t>SWOT</a:t>
            </a:r>
            <a:r>
              <a:rPr kumimoji="1" lang="ja-JP" altLang="en-US" b="1" dirty="0">
                <a:latin typeface="Meiryo UI" panose="020B0604030504040204" pitchFamily="50" charset="-128"/>
                <a:ea typeface="Meiryo UI" panose="020B0604030504040204" pitchFamily="50" charset="-128"/>
              </a:rPr>
              <a:t>分析</a:t>
            </a:r>
          </a:p>
        </p:txBody>
      </p:sp>
      <p:sp>
        <p:nvSpPr>
          <p:cNvPr id="6" name="テキスト ボックス 5">
            <a:extLst>
              <a:ext uri="{FF2B5EF4-FFF2-40B4-BE49-F238E27FC236}">
                <a16:creationId xmlns:a16="http://schemas.microsoft.com/office/drawing/2014/main" id="{ED02D8E6-515B-6719-B276-99300C5153C1}"/>
              </a:ext>
            </a:extLst>
          </p:cNvPr>
          <p:cNvSpPr txBox="1"/>
          <p:nvPr/>
        </p:nvSpPr>
        <p:spPr>
          <a:xfrm>
            <a:off x="4603530" y="46167"/>
            <a:ext cx="5060731" cy="738664"/>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顧客：複数内定持ちの大学・大学院の卒業予定者</a:t>
            </a:r>
            <a:endParaRPr kumimoji="1" lang="en-US" altLang="ja-JP"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商品：</a:t>
            </a:r>
            <a:r>
              <a:rPr lang="en-US" altLang="ja-JP" sz="1400" dirty="0">
                <a:latin typeface="Meiryo UI" panose="020B0604030504040204" pitchFamily="50" charset="-128"/>
                <a:ea typeface="Meiryo UI" panose="020B0604030504040204" pitchFamily="50" charset="-128"/>
              </a:rPr>
              <a:t>NTT</a:t>
            </a:r>
            <a:r>
              <a:rPr lang="ja-JP" altLang="en-US" sz="1400" dirty="0">
                <a:latin typeface="Meiryo UI" panose="020B0604030504040204" pitchFamily="50" charset="-128"/>
                <a:ea typeface="Meiryo UI" panose="020B0604030504040204" pitchFamily="50" charset="-128"/>
              </a:rPr>
              <a:t>データ経営研究所に就職する機会</a:t>
            </a:r>
            <a:endParaRPr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競合：国内大手の戦略コンサルファーム</a:t>
            </a:r>
          </a:p>
        </p:txBody>
      </p:sp>
      <p:sp>
        <p:nvSpPr>
          <p:cNvPr id="8" name="四角形: 角を丸くする 7">
            <a:extLst>
              <a:ext uri="{FF2B5EF4-FFF2-40B4-BE49-F238E27FC236}">
                <a16:creationId xmlns:a16="http://schemas.microsoft.com/office/drawing/2014/main" id="{8C9E9B9F-F78B-9213-5E8C-52B595F86CAA}"/>
              </a:ext>
            </a:extLst>
          </p:cNvPr>
          <p:cNvSpPr/>
          <p:nvPr/>
        </p:nvSpPr>
        <p:spPr>
          <a:xfrm>
            <a:off x="283778" y="1387365"/>
            <a:ext cx="3247697" cy="170614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NTT</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データ傘下である</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公共系の案件に強い（社会政策系）</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転勤が少ない</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常駐案件が少ない</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若手の内から営業可能</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裁量労働制</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内資（</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Up or Out</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がない？）</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コンサル </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 </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シンクタンクを同時並行可能</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a16="http://schemas.microsoft.com/office/drawing/2014/main" id="{5AC0BB99-496B-C2A9-3854-256FA7053BB7}"/>
              </a:ext>
            </a:extLst>
          </p:cNvPr>
          <p:cNvSpPr/>
          <p:nvPr/>
        </p:nvSpPr>
        <p:spPr>
          <a:xfrm>
            <a:off x="283778" y="3429000"/>
            <a:ext cx="3247697" cy="17105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就活生に対しての知名度が低い</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インセンティブを新卒給与に反映できない</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正社員数が他ファームと比較して少ない</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経営研出身者の露出が少ない（起業や書籍）</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名前と業務の不一致（</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”NTT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データ</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による</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IT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系と</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研究所</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によるシンクタンク系）</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裁量労働制</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使用</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PC</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が前時代的</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募集開始が比較的遅い（</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27</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卒は</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25/8</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開始）</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0" name="四角形: 角を丸くする 9">
            <a:extLst>
              <a:ext uri="{FF2B5EF4-FFF2-40B4-BE49-F238E27FC236}">
                <a16:creationId xmlns:a16="http://schemas.microsoft.com/office/drawing/2014/main" id="{592649F9-DBCA-997C-51C6-B185AB30FF00}"/>
              </a:ext>
            </a:extLst>
          </p:cNvPr>
          <p:cNvSpPr/>
          <p:nvPr/>
        </p:nvSpPr>
        <p:spPr>
          <a:xfrm>
            <a:off x="4472151" y="1387365"/>
            <a:ext cx="3247697" cy="170614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単なる「公共系に強い」ではなく、「民間の戦略コンサル</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国の政策形成に両方携われる唯一のファーム」として打ち出す。</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他ファームとの差別化できる点として、「リサーチで深い専門性を積みつつ、戦略コンサルとしてクライアントに提言できる」というキャリアをアピールする。</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NTT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グループの実行力と連携した大規模プロジェクト事例を発信することで、</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NTT</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データのブランドイメージや資本力を強調。</a:t>
            </a:r>
            <a:endPar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2CACDCDD-2DAF-14EA-39AE-80A2A98A9A12}"/>
              </a:ext>
            </a:extLst>
          </p:cNvPr>
          <p:cNvSpPr/>
          <p:nvPr/>
        </p:nvSpPr>
        <p:spPr>
          <a:xfrm>
            <a:off x="4472151" y="3429000"/>
            <a:ext cx="3247697" cy="171055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採用活動の開始時点で既に母集団の質と量が決まっており、後段の選考力でカバーできない</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給与で勝負する土俵には上がれない</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NTT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データ」で</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IT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系</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SIer</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と誤認、「研究所」でシンクタンク系と誤認され、戦略コンサル志望者の検討対象から外れる</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228600" indent="-228600">
              <a:buFont typeface="+mj-lt"/>
              <a:buAutoNum type="arabicPeriod"/>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経営研出身者の露出が少ないことが、外資系ファームとの知名度格差に拍車をかけている</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4E414864-375E-136F-E6E5-99738C083853}"/>
              </a:ext>
            </a:extLst>
          </p:cNvPr>
          <p:cNvSpPr/>
          <p:nvPr/>
        </p:nvSpPr>
        <p:spPr>
          <a:xfrm>
            <a:off x="8660527" y="1387365"/>
            <a:ext cx="3247697" cy="17105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コンサル志望者の増加（</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とりコン）</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戦略コンサルがエリート層や上昇志向の強い層に以下の理由から就職先として人気</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536575" lvl="1" indent="-17780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様々な業界を経験できる</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536575" lvl="1" indent="-17780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ビジネスマンとしての素養を身に着けられる</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536575" lvl="1" indent="-17780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起業準備ができる</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外資系</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激務・高給取り、というイメージ</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官公庁コンサル市場の拡大（</a:t>
            </a:r>
            <a:r>
              <a:rPr lang="en-US" altLang="ja-JP" sz="1100" dirty="0">
                <a:solidFill>
                  <a:schemeClr val="tx1">
                    <a:lumMod val="65000"/>
                    <a:lumOff val="35000"/>
                  </a:schemeClr>
                </a:solidFill>
                <a:latin typeface="Meiryo UI" panose="020B0604030504040204" pitchFamily="50" charset="-128"/>
                <a:ea typeface="Meiryo UI" panose="020B0604030504040204" pitchFamily="50" charset="-128"/>
              </a:rPr>
              <a:t>EBPM</a:t>
            </a: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等）</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ja-JP" altLang="en-US" sz="11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366E3063-176B-A1F5-4683-F36D0BD27DD9}"/>
              </a:ext>
            </a:extLst>
          </p:cNvPr>
          <p:cNvSpPr/>
          <p:nvPr/>
        </p:nvSpPr>
        <p:spPr>
          <a:xfrm>
            <a:off x="8660527" y="3429000"/>
            <a:ext cx="3247697" cy="17105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（外資系）ファームの採用数増加</a:t>
            </a: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（外資系）ファームの初任給引き上げ合戦</a:t>
            </a: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少子化による新卒数の減少</a:t>
            </a: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裁量労働制のイメージ悪化</a:t>
            </a: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戦略系の中ではブランドイメージ劣る</a:t>
            </a: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就活の早期化</a:t>
            </a:r>
          </a:p>
          <a:p>
            <a:pPr marL="171450" indent="-171450">
              <a:buFont typeface="Arial" panose="020B0604020202020204" pitchFamily="34" charset="0"/>
              <a:buChar char="•"/>
            </a:pP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外資系</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高給取り、というイメージ</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身近にコンサルタント（外資系のみ？）が増えた</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　　　　　　　　</a:t>
            </a:r>
            <a:endParaRPr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C0E3F76F-9A24-D097-CD19-796B2805B1B5}"/>
              </a:ext>
            </a:extLst>
          </p:cNvPr>
          <p:cNvSpPr/>
          <p:nvPr/>
        </p:nvSpPr>
        <p:spPr>
          <a:xfrm>
            <a:off x="1781667" y="5612524"/>
            <a:ext cx="8616098" cy="107205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　</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NTT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データ経営研究所の新卒採用戦略は、「外資系戦略ファームと同じ土俵で戦わない」という方針を明確に意思決定すべきフェーズにある。理由は、「給与・知名度・ブランド」という戦略コンサル市場の主要競争軸では構造的に勝ち筋が見出せない一方、「社会課題</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戦略</a:t>
            </a:r>
            <a:r>
              <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rPr>
              <a:t>×</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実行の両立」という独自ポジションにおいては他社が模倣困難な強みを有するためである。</a:t>
            </a:r>
            <a:endParaRPr kumimoji="1" lang="en-US" altLang="ja-JP" sz="1100" dirty="0">
              <a:solidFill>
                <a:schemeClr val="tx1">
                  <a:lumMod val="65000"/>
                  <a:lumOff val="35000"/>
                </a:schemeClr>
              </a:solidFill>
              <a:latin typeface="Meiryo UI" panose="020B0604030504040204" pitchFamily="50" charset="-128"/>
              <a:ea typeface="Meiryo UI" panose="020B0604030504040204" pitchFamily="50" charset="-128"/>
            </a:endParaRPr>
          </a:p>
          <a:p>
            <a:r>
              <a:rPr lang="ja-JP" altLang="en-US" sz="1100" dirty="0">
                <a:solidFill>
                  <a:schemeClr val="tx1">
                    <a:lumMod val="65000"/>
                    <a:lumOff val="35000"/>
                  </a:schemeClr>
                </a:solidFill>
                <a:latin typeface="Meiryo UI" panose="020B0604030504040204" pitchFamily="50" charset="-128"/>
                <a:ea typeface="Meiryo UI" panose="020B0604030504040204" pitchFamily="50" charset="-128"/>
              </a:rPr>
              <a:t>　</a:t>
            </a:r>
            <a:r>
              <a:rPr kumimoji="1" lang="ja-JP" altLang="en-US" sz="1100" dirty="0">
                <a:solidFill>
                  <a:schemeClr val="tx1">
                    <a:lumMod val="65000"/>
                    <a:lumOff val="35000"/>
                  </a:schemeClr>
                </a:solidFill>
                <a:latin typeface="Meiryo UI" panose="020B0604030504040204" pitchFamily="50" charset="-128"/>
                <a:ea typeface="Meiryo UI" panose="020B0604030504040204" pitchFamily="50" charset="-128"/>
              </a:rPr>
              <a:t>具体的なターゲットペルソナとしては、社会課題や公共政策への強い関心を持つ学生、および戦略コンサルタントという単線的なキャリアに不安を感じ、シンクタンク機能も含めた両利きキャリアを志向する学生が想定される。加えて、近年の就活早期化の動向を踏まえ、募集開始時期の前倒しやインターンシップの受け入れ枠拡大等を通じて、採用部と学生が早期かつ継続的に接点を持てる仕組みの構築が不可欠である。</a:t>
            </a:r>
          </a:p>
        </p:txBody>
      </p:sp>
      <p:cxnSp>
        <p:nvCxnSpPr>
          <p:cNvPr id="17" name="直線矢印コネクタ 16">
            <a:extLst>
              <a:ext uri="{FF2B5EF4-FFF2-40B4-BE49-F238E27FC236}">
                <a16:creationId xmlns:a16="http://schemas.microsoft.com/office/drawing/2014/main" id="{399D37FC-5FFA-72D8-FB6A-1E0B2AE2773E}"/>
              </a:ext>
            </a:extLst>
          </p:cNvPr>
          <p:cNvCxnSpPr>
            <a:cxnSpLocks/>
            <a:stCxn id="9" idx="3"/>
            <a:endCxn id="11" idx="1"/>
          </p:cNvCxnSpPr>
          <p:nvPr/>
        </p:nvCxnSpPr>
        <p:spPr>
          <a:xfrm>
            <a:off x="3531475" y="4284279"/>
            <a:ext cx="940676" cy="0"/>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413FC104-5021-43B0-5B31-B05907D949CC}"/>
              </a:ext>
            </a:extLst>
          </p:cNvPr>
          <p:cNvCxnSpPr>
            <a:cxnSpLocks/>
            <a:stCxn id="8" idx="3"/>
            <a:endCxn id="10" idx="1"/>
          </p:cNvCxnSpPr>
          <p:nvPr/>
        </p:nvCxnSpPr>
        <p:spPr>
          <a:xfrm>
            <a:off x="3531475" y="2240437"/>
            <a:ext cx="940676" cy="0"/>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直線矢印コネクタ 21">
            <a:extLst>
              <a:ext uri="{FF2B5EF4-FFF2-40B4-BE49-F238E27FC236}">
                <a16:creationId xmlns:a16="http://schemas.microsoft.com/office/drawing/2014/main" id="{937A9D7D-1DC7-FCC6-BE43-589DD88AE733}"/>
              </a:ext>
            </a:extLst>
          </p:cNvPr>
          <p:cNvCxnSpPr>
            <a:cxnSpLocks/>
            <a:stCxn id="12" idx="1"/>
            <a:endCxn id="10" idx="3"/>
          </p:cNvCxnSpPr>
          <p:nvPr/>
        </p:nvCxnSpPr>
        <p:spPr>
          <a:xfrm flipH="1" flipV="1">
            <a:off x="7719848" y="2240437"/>
            <a:ext cx="940679" cy="2207"/>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F3FAE3C1-D0EB-1478-32E5-64301B06D827}"/>
              </a:ext>
            </a:extLst>
          </p:cNvPr>
          <p:cNvCxnSpPr>
            <a:cxnSpLocks/>
            <a:stCxn id="13" idx="1"/>
            <a:endCxn id="11" idx="3"/>
          </p:cNvCxnSpPr>
          <p:nvPr/>
        </p:nvCxnSpPr>
        <p:spPr>
          <a:xfrm flipH="1">
            <a:off x="7719848" y="4284279"/>
            <a:ext cx="940679" cy="0"/>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直線矢印コネクタ 28">
            <a:extLst>
              <a:ext uri="{FF2B5EF4-FFF2-40B4-BE49-F238E27FC236}">
                <a16:creationId xmlns:a16="http://schemas.microsoft.com/office/drawing/2014/main" id="{5F7D672B-525D-6192-6CF3-46B206D0A9CA}"/>
              </a:ext>
            </a:extLst>
          </p:cNvPr>
          <p:cNvCxnSpPr>
            <a:cxnSpLocks/>
            <a:stCxn id="11" idx="2"/>
            <a:endCxn id="15" idx="0"/>
          </p:cNvCxnSpPr>
          <p:nvPr/>
        </p:nvCxnSpPr>
        <p:spPr>
          <a:xfrm flipH="1">
            <a:off x="6089716" y="5139558"/>
            <a:ext cx="6284" cy="472966"/>
          </a:xfrm>
          <a:prstGeom prst="straightConnector1">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358FD409-8C9B-FE46-8F4E-887ECAD08CF3}"/>
              </a:ext>
            </a:extLst>
          </p:cNvPr>
          <p:cNvSpPr txBox="1"/>
          <p:nvPr/>
        </p:nvSpPr>
        <p:spPr>
          <a:xfrm>
            <a:off x="283775" y="1121341"/>
            <a:ext cx="1277007"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自社の強み</a:t>
            </a:r>
          </a:p>
        </p:txBody>
      </p:sp>
      <p:sp>
        <p:nvSpPr>
          <p:cNvPr id="33" name="テキスト ボックス 32">
            <a:extLst>
              <a:ext uri="{FF2B5EF4-FFF2-40B4-BE49-F238E27FC236}">
                <a16:creationId xmlns:a16="http://schemas.microsoft.com/office/drawing/2014/main" id="{BBA3EDA8-BF2F-A1D2-9DBD-3532208FCF53}"/>
              </a:ext>
            </a:extLst>
          </p:cNvPr>
          <p:cNvSpPr txBox="1"/>
          <p:nvPr/>
        </p:nvSpPr>
        <p:spPr>
          <a:xfrm>
            <a:off x="4472151" y="1121341"/>
            <a:ext cx="1277007"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レバレッジポイント</a:t>
            </a:r>
          </a:p>
        </p:txBody>
      </p:sp>
      <p:sp>
        <p:nvSpPr>
          <p:cNvPr id="34" name="テキスト ボックス 33">
            <a:extLst>
              <a:ext uri="{FF2B5EF4-FFF2-40B4-BE49-F238E27FC236}">
                <a16:creationId xmlns:a16="http://schemas.microsoft.com/office/drawing/2014/main" id="{8352A29F-AD35-F8D3-BA20-09B12C5363AD}"/>
              </a:ext>
            </a:extLst>
          </p:cNvPr>
          <p:cNvSpPr txBox="1"/>
          <p:nvPr/>
        </p:nvSpPr>
        <p:spPr>
          <a:xfrm>
            <a:off x="8660524" y="1121341"/>
            <a:ext cx="1277007"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自社の市場機会</a:t>
            </a:r>
          </a:p>
        </p:txBody>
      </p:sp>
      <p:sp>
        <p:nvSpPr>
          <p:cNvPr id="35" name="テキスト ボックス 34">
            <a:extLst>
              <a:ext uri="{FF2B5EF4-FFF2-40B4-BE49-F238E27FC236}">
                <a16:creationId xmlns:a16="http://schemas.microsoft.com/office/drawing/2014/main" id="{DA274051-6197-50F4-2E47-E8C361DF742D}"/>
              </a:ext>
            </a:extLst>
          </p:cNvPr>
          <p:cNvSpPr txBox="1"/>
          <p:nvPr/>
        </p:nvSpPr>
        <p:spPr>
          <a:xfrm>
            <a:off x="8660524" y="3167390"/>
            <a:ext cx="1277007"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自社の市場脅威</a:t>
            </a:r>
          </a:p>
        </p:txBody>
      </p:sp>
      <p:sp>
        <p:nvSpPr>
          <p:cNvPr id="36" name="テキスト ボックス 35">
            <a:extLst>
              <a:ext uri="{FF2B5EF4-FFF2-40B4-BE49-F238E27FC236}">
                <a16:creationId xmlns:a16="http://schemas.microsoft.com/office/drawing/2014/main" id="{755C2BEE-2666-E808-0865-D96BEA1685A8}"/>
              </a:ext>
            </a:extLst>
          </p:cNvPr>
          <p:cNvSpPr txBox="1"/>
          <p:nvPr/>
        </p:nvSpPr>
        <p:spPr>
          <a:xfrm>
            <a:off x="4472150" y="3167390"/>
            <a:ext cx="1277007"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ビジネス上の意味</a:t>
            </a:r>
          </a:p>
        </p:txBody>
      </p:sp>
      <p:sp>
        <p:nvSpPr>
          <p:cNvPr id="37" name="テキスト ボックス 36">
            <a:extLst>
              <a:ext uri="{FF2B5EF4-FFF2-40B4-BE49-F238E27FC236}">
                <a16:creationId xmlns:a16="http://schemas.microsoft.com/office/drawing/2014/main" id="{DB1DC30A-895A-29C7-3139-FC88AA0369AD}"/>
              </a:ext>
            </a:extLst>
          </p:cNvPr>
          <p:cNvSpPr txBox="1"/>
          <p:nvPr/>
        </p:nvSpPr>
        <p:spPr>
          <a:xfrm>
            <a:off x="283775" y="3167390"/>
            <a:ext cx="1277007"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自社の弱み</a:t>
            </a:r>
          </a:p>
        </p:txBody>
      </p:sp>
      <p:sp>
        <p:nvSpPr>
          <p:cNvPr id="38" name="テキスト ボックス 37">
            <a:extLst>
              <a:ext uri="{FF2B5EF4-FFF2-40B4-BE49-F238E27FC236}">
                <a16:creationId xmlns:a16="http://schemas.microsoft.com/office/drawing/2014/main" id="{AF032BB3-0BBE-F51C-4544-5B8F94B48EFD}"/>
              </a:ext>
            </a:extLst>
          </p:cNvPr>
          <p:cNvSpPr txBox="1"/>
          <p:nvPr/>
        </p:nvSpPr>
        <p:spPr>
          <a:xfrm>
            <a:off x="2377964" y="5350914"/>
            <a:ext cx="1579181" cy="261610"/>
          </a:xfrm>
          <a:prstGeom prst="rect">
            <a:avLst/>
          </a:prstGeom>
          <a:noFill/>
        </p:spPr>
        <p:txBody>
          <a:bodyPr wrap="square" rtlCol="0">
            <a:spAutoFit/>
          </a:bodyPr>
          <a:lstStyle/>
          <a:p>
            <a:r>
              <a:rPr kumimoji="1" lang="ja-JP" altLang="en-US" sz="1100" dirty="0">
                <a:latin typeface="Meiryo UI" panose="020B0604030504040204" pitchFamily="50" charset="-128"/>
                <a:ea typeface="Meiryo UI" panose="020B0604030504040204" pitchFamily="50" charset="-128"/>
              </a:rPr>
              <a:t>自社への戦略的意味</a:t>
            </a:r>
          </a:p>
        </p:txBody>
      </p:sp>
    </p:spTree>
    <p:extLst>
      <p:ext uri="{BB962C8B-B14F-4D97-AF65-F5344CB8AC3E}">
        <p14:creationId xmlns:p14="http://schemas.microsoft.com/office/powerpoint/2010/main" val="1274116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184D7B0C-F3A9-34AE-854C-F35B9058AA96}"/>
              </a:ext>
            </a:extLst>
          </p:cNvPr>
          <p:cNvSpPr>
            <a:spLocks noGrp="1"/>
          </p:cNvSpPr>
          <p:nvPr>
            <p:ph sz="quarter" idx="14"/>
          </p:nvPr>
        </p:nvSpPr>
        <p:spPr>
          <a:xfrm>
            <a:off x="317241" y="197962"/>
            <a:ext cx="5895023" cy="6457361"/>
          </a:xfrm>
        </p:spPr>
        <p:txBody>
          <a:bodyPr>
            <a:normAutofit fontScale="92500" lnSpcReduction="10000"/>
          </a:bodyPr>
          <a:lstStyle/>
          <a:p>
            <a:pPr>
              <a:spcBef>
                <a:spcPts val="600"/>
              </a:spcBef>
            </a:pPr>
            <a:r>
              <a:rPr lang="ja-JP" altLang="en-US" sz="1000" b="1" dirty="0"/>
              <a:t>◾️ 自社への戦略的意味（</a:t>
            </a:r>
            <a:r>
              <a:rPr lang="en-US" altLang="ja-JP" sz="1000" b="1" dirty="0"/>
              <a:t>4</a:t>
            </a:r>
            <a:r>
              <a:rPr lang="ja-JP" altLang="en-US" sz="1000" b="1" dirty="0"/>
              <a:t>つの論点）</a:t>
            </a:r>
            <a:endParaRPr lang="ja-JP" altLang="en-US" sz="1000" dirty="0"/>
          </a:p>
          <a:p>
            <a:pPr>
              <a:spcBef>
                <a:spcPts val="600"/>
              </a:spcBef>
            </a:pPr>
            <a:r>
              <a:rPr lang="ja-JP" altLang="en-US" sz="1000" b="1" dirty="0"/>
              <a:t>① ターゲット市場の再定義：「戦略コンサル志望者」から「社会課題解決志望者」へ</a:t>
            </a:r>
            <a:endParaRPr lang="ja-JP" altLang="en-US" sz="1000" dirty="0"/>
          </a:p>
          <a:p>
            <a:pPr>
              <a:spcBef>
                <a:spcPts val="600"/>
              </a:spcBef>
            </a:pPr>
            <a:r>
              <a:rPr lang="ja-JP" altLang="en-US" sz="1000" dirty="0"/>
              <a:t>これまでの暗黙の競合設定は「戦略コンサル業界内の学生」でしたが、この市場では給与・ブランドでの劣後が構造的に覆せないため、同じ母集団を追いかける限り敗北が確定します。</a:t>
            </a:r>
          </a:p>
          <a:p>
            <a:pPr>
              <a:spcBef>
                <a:spcPts val="600"/>
              </a:spcBef>
            </a:pPr>
            <a:r>
              <a:rPr lang="ja-JP" altLang="en-US" sz="1000" dirty="0"/>
              <a:t>戦略的には、</a:t>
            </a:r>
            <a:r>
              <a:rPr lang="en-US" altLang="ja-JP" sz="1000" b="1" dirty="0"/>
              <a:t>"</a:t>
            </a:r>
            <a:r>
              <a:rPr lang="ja-JP" altLang="en-US" sz="1000" b="1" dirty="0"/>
              <a:t>社会課題を戦略コンサルのスキルで解決したい層</a:t>
            </a:r>
            <a:r>
              <a:rPr lang="en-US" altLang="ja-JP" sz="1000" b="1" dirty="0"/>
              <a:t>"</a:t>
            </a:r>
            <a:r>
              <a:rPr lang="ja-JP" altLang="en-US" sz="1000" b="1" dirty="0"/>
              <a:t>という、現在どのファームも明確にターゲティングできていない空白市場</a:t>
            </a:r>
            <a:r>
              <a:rPr lang="ja-JP" altLang="en-US" sz="1000" dirty="0"/>
              <a:t>を取りに行くべきです。この層は以下の母集団に潜在しており、外資戦略ファームの主戦場とは異なります：</a:t>
            </a:r>
          </a:p>
          <a:p>
            <a:pPr>
              <a:spcBef>
                <a:spcPts val="600"/>
              </a:spcBef>
            </a:pPr>
            <a:r>
              <a:rPr lang="ja-JP" altLang="en-US" sz="1000" dirty="0"/>
              <a:t>公共政策系大学院（東大公共政策、一橋、京大等）</a:t>
            </a:r>
          </a:p>
          <a:p>
            <a:pPr>
              <a:spcBef>
                <a:spcPts val="600"/>
              </a:spcBef>
            </a:pPr>
            <a:r>
              <a:rPr lang="ja-JP" altLang="en-US" sz="1000" dirty="0"/>
              <a:t>官僚志望から民間転向を検討する層</a:t>
            </a:r>
          </a:p>
          <a:p>
            <a:pPr>
              <a:spcBef>
                <a:spcPts val="600"/>
              </a:spcBef>
            </a:pPr>
            <a:r>
              <a:rPr lang="ja-JP" altLang="en-US" sz="1000" dirty="0"/>
              <a:t>社会起業・ソーシャルセクター志向層</a:t>
            </a:r>
          </a:p>
          <a:p>
            <a:pPr>
              <a:spcBef>
                <a:spcPts val="600"/>
              </a:spcBef>
            </a:pPr>
            <a:r>
              <a:rPr lang="ja-JP" altLang="en-US" sz="1000" dirty="0"/>
              <a:t>商社・金融志望で「社会貢献」を重視する層</a:t>
            </a:r>
          </a:p>
          <a:p>
            <a:pPr>
              <a:spcBef>
                <a:spcPts val="600"/>
              </a:spcBef>
            </a:pPr>
            <a:r>
              <a:rPr lang="ja-JP" altLang="en-US" sz="1000" dirty="0"/>
              <a:t>この層は給与よりもパーパス・成長・社会的意義を優先する傾向が強く、</a:t>
            </a:r>
            <a:r>
              <a:rPr lang="en-US" altLang="ja-JP" sz="1000" dirty="0"/>
              <a:t>NDMC</a:t>
            </a:r>
            <a:r>
              <a:rPr lang="ja-JP" altLang="en-US" sz="1000" dirty="0"/>
              <a:t>の</a:t>
            </a:r>
            <a:r>
              <a:rPr lang="en-US" altLang="ja-JP" sz="1000" dirty="0"/>
              <a:t>SO</a:t>
            </a:r>
            <a:r>
              <a:rPr lang="ja-JP" altLang="en-US" sz="1000" dirty="0"/>
              <a:t>要素（公共</a:t>
            </a:r>
            <a:r>
              <a:rPr lang="en-US" altLang="ja-JP" sz="1000" dirty="0"/>
              <a:t>×</a:t>
            </a:r>
            <a:r>
              <a:rPr lang="ja-JP" altLang="en-US" sz="1000" dirty="0"/>
              <a:t>戦略</a:t>
            </a:r>
            <a:r>
              <a:rPr lang="en-US" altLang="ja-JP" sz="1000" dirty="0"/>
              <a:t>×</a:t>
            </a:r>
            <a:r>
              <a:rPr lang="ja-JP" altLang="en-US" sz="1000" dirty="0"/>
              <a:t>シンクタンク）がそのまま刺さります。</a:t>
            </a:r>
          </a:p>
          <a:p>
            <a:pPr>
              <a:spcBef>
                <a:spcPts val="600"/>
              </a:spcBef>
            </a:pPr>
            <a:r>
              <a:rPr lang="ja-JP" altLang="en-US" sz="1000" b="1" dirty="0"/>
              <a:t>② 競争軸の転換：「給与・ブランド」から「キャリアの独自性」へ</a:t>
            </a:r>
            <a:endParaRPr lang="ja-JP" altLang="en-US" sz="1000" dirty="0"/>
          </a:p>
          <a:p>
            <a:pPr>
              <a:spcBef>
                <a:spcPts val="600"/>
              </a:spcBef>
            </a:pPr>
            <a:r>
              <a:rPr lang="ja-JP" altLang="en-US" sz="1000" dirty="0"/>
              <a:t>給与で勝負できない以上、訴求軸を**「入社後</a:t>
            </a:r>
            <a:r>
              <a:rPr lang="en-US" altLang="ja-JP" sz="1000" dirty="0"/>
              <a:t>3〜10</a:t>
            </a:r>
            <a:r>
              <a:rPr lang="ja-JP" altLang="en-US" sz="1000" dirty="0"/>
              <a:t>年で何が得られるか」というキャリア資産の独自性**に全面的にシフトすべきです。具体的には以下の</a:t>
            </a:r>
            <a:r>
              <a:rPr lang="en-US" altLang="ja-JP" sz="1000" dirty="0"/>
              <a:t>3</a:t>
            </a:r>
            <a:r>
              <a:rPr lang="ja-JP" altLang="en-US" sz="1000" dirty="0"/>
              <a:t>点の掛け合わせが、他社では再現不能な独自価値となります：</a:t>
            </a:r>
          </a:p>
          <a:p>
            <a:pPr>
              <a:spcBef>
                <a:spcPts val="600"/>
              </a:spcBef>
            </a:pPr>
            <a:r>
              <a:rPr lang="ja-JP" altLang="en-US" sz="1000" dirty="0"/>
              <a:t>民間戦略 </a:t>
            </a:r>
            <a:r>
              <a:rPr lang="en-US" altLang="ja-JP" sz="1000" dirty="0"/>
              <a:t>× </a:t>
            </a:r>
            <a:r>
              <a:rPr lang="ja-JP" altLang="en-US" sz="1000" dirty="0"/>
              <a:t>政策形成の両経験</a:t>
            </a:r>
          </a:p>
          <a:p>
            <a:pPr>
              <a:spcBef>
                <a:spcPts val="600"/>
              </a:spcBef>
            </a:pPr>
            <a:r>
              <a:rPr lang="ja-JP" altLang="en-US" sz="1000" dirty="0"/>
              <a:t>コンサル実務 </a:t>
            </a:r>
            <a:r>
              <a:rPr lang="en-US" altLang="ja-JP" sz="1000" dirty="0"/>
              <a:t>× </a:t>
            </a:r>
            <a:r>
              <a:rPr lang="ja-JP" altLang="en-US" sz="1000" dirty="0"/>
              <a:t>シンクタンク研究の両機能</a:t>
            </a:r>
          </a:p>
          <a:p>
            <a:pPr>
              <a:spcBef>
                <a:spcPts val="600"/>
              </a:spcBef>
            </a:pPr>
            <a:r>
              <a:rPr lang="ja-JP" altLang="en-US" sz="1000" dirty="0"/>
              <a:t>戦略策定 </a:t>
            </a:r>
            <a:r>
              <a:rPr lang="en-US" altLang="ja-JP" sz="1000" dirty="0"/>
              <a:t>× NTT</a:t>
            </a:r>
            <a:r>
              <a:rPr lang="ja-JP" altLang="en-US" sz="1000" dirty="0"/>
              <a:t>グループの実装力との連携</a:t>
            </a:r>
          </a:p>
          <a:p>
            <a:pPr>
              <a:spcBef>
                <a:spcPts val="600"/>
              </a:spcBef>
            </a:pPr>
            <a:r>
              <a:rPr lang="ja-JP" altLang="en-US" sz="1000" dirty="0"/>
              <a:t>この「両利きキャリア」は、</a:t>
            </a:r>
            <a:r>
              <a:rPr lang="en-US" altLang="ja-JP" sz="1000" dirty="0"/>
              <a:t>MBB</a:t>
            </a:r>
            <a:r>
              <a:rPr lang="ja-JP" altLang="en-US" sz="1000" dirty="0"/>
              <a:t>や総合系にも純シンクタンクにも存在しない組み合わせであり、</a:t>
            </a:r>
            <a:r>
              <a:rPr lang="ja-JP" altLang="en-US" sz="1000" b="1" dirty="0"/>
              <a:t>「</a:t>
            </a:r>
            <a:r>
              <a:rPr lang="en-US" altLang="ja-JP" sz="1000" b="1" dirty="0"/>
              <a:t>5</a:t>
            </a:r>
            <a:r>
              <a:rPr lang="ja-JP" altLang="en-US" sz="1000" b="1" dirty="0"/>
              <a:t>年後の市場価値」という指標で勝負するなら</a:t>
            </a:r>
            <a:r>
              <a:rPr lang="en-US" altLang="ja-JP" sz="1000" b="1" dirty="0"/>
              <a:t>NDMC</a:t>
            </a:r>
            <a:r>
              <a:rPr lang="ja-JP" altLang="en-US" sz="1000" b="1" dirty="0"/>
              <a:t>が優位</a:t>
            </a:r>
            <a:r>
              <a:rPr lang="ja-JP" altLang="en-US" sz="1000" dirty="0"/>
              <a:t>と言えるポジションを築けます。</a:t>
            </a:r>
          </a:p>
          <a:p>
            <a:pPr>
              <a:spcBef>
                <a:spcPts val="600"/>
              </a:spcBef>
            </a:pPr>
            <a:r>
              <a:rPr lang="ja-JP" altLang="en-US" sz="1000" b="1" dirty="0"/>
              <a:t>③ 採用プロセスの構造転換：「広く集める」から「早く深く接点を持つ」へ</a:t>
            </a:r>
            <a:endParaRPr lang="ja-JP" altLang="en-US" sz="1000" dirty="0"/>
          </a:p>
          <a:p>
            <a:pPr>
              <a:spcBef>
                <a:spcPts val="600"/>
              </a:spcBef>
            </a:pPr>
            <a:r>
              <a:rPr lang="ja-JP" altLang="en-US" sz="1000" dirty="0"/>
              <a:t>母集団形成の時点で既に勝負が決まっている現状を踏まえると、従来型の「</a:t>
            </a:r>
            <a:r>
              <a:rPr lang="en-US" altLang="ja-JP" sz="1000" dirty="0"/>
              <a:t>8</a:t>
            </a:r>
            <a:r>
              <a:rPr lang="ja-JP" altLang="en-US" sz="1000" dirty="0"/>
              <a:t>月エントリー開始→秋冬選考」の採用プロセス自体が機能していません。戦略的には以下の構造転換が必要です：</a:t>
            </a:r>
          </a:p>
          <a:p>
            <a:pPr>
              <a:spcBef>
                <a:spcPts val="600"/>
              </a:spcBef>
            </a:pPr>
            <a:r>
              <a:rPr lang="ja-JP" altLang="en-US" sz="1000" b="1" dirty="0"/>
              <a:t>接点の前倒し</a:t>
            </a:r>
            <a:r>
              <a:rPr lang="ja-JP" altLang="en-US" sz="1000" dirty="0"/>
              <a:t>：</a:t>
            </a:r>
            <a:r>
              <a:rPr lang="en-US" altLang="ja-JP" sz="1000" dirty="0"/>
              <a:t>25</a:t>
            </a:r>
            <a:r>
              <a:rPr lang="ja-JP" altLang="en-US" sz="1000" dirty="0"/>
              <a:t>年春</a:t>
            </a:r>
            <a:r>
              <a:rPr lang="en-US" altLang="ja-JP" sz="1000" dirty="0"/>
              <a:t>〜</a:t>
            </a:r>
            <a:r>
              <a:rPr lang="ja-JP" altLang="en-US" sz="1000" dirty="0"/>
              <a:t>夏のインターンを早期接点の主戦場に位置付ける</a:t>
            </a:r>
          </a:p>
          <a:p>
            <a:pPr>
              <a:spcBef>
                <a:spcPts val="600"/>
              </a:spcBef>
            </a:pPr>
            <a:r>
              <a:rPr lang="ja-JP" altLang="en-US" sz="1000" b="1" dirty="0"/>
              <a:t>ターゲットの絞り込み</a:t>
            </a:r>
            <a:r>
              <a:rPr lang="ja-JP" altLang="en-US" sz="1000" dirty="0"/>
              <a:t>：大学・研究室単位でのピンポイントアプローチ（少数精鋭採用への完全移行）</a:t>
            </a:r>
          </a:p>
          <a:p>
            <a:pPr>
              <a:spcBef>
                <a:spcPts val="600"/>
              </a:spcBef>
            </a:pPr>
            <a:r>
              <a:rPr lang="ja-JP" altLang="en-US" sz="1000" b="1" dirty="0"/>
              <a:t>継続接点の設計</a:t>
            </a:r>
            <a:r>
              <a:rPr lang="ja-JP" altLang="en-US" sz="1000" dirty="0"/>
              <a:t>：</a:t>
            </a:r>
            <a:r>
              <a:rPr lang="en-US" altLang="ja-JP" sz="1000" dirty="0"/>
              <a:t>1</a:t>
            </a:r>
            <a:r>
              <a:rPr lang="ja-JP" altLang="en-US" sz="1000" dirty="0"/>
              <a:t>回の応募ではなく、大学</a:t>
            </a:r>
            <a:r>
              <a:rPr lang="en-US" altLang="ja-JP" sz="1000" dirty="0"/>
              <a:t>1〜2</a:t>
            </a:r>
            <a:r>
              <a:rPr lang="ja-JP" altLang="en-US" sz="1000" dirty="0"/>
              <a:t>年次からの長期関係構築（勉強会、寄付講座、リサーチインターン等）</a:t>
            </a:r>
          </a:p>
          <a:p>
            <a:pPr>
              <a:spcBef>
                <a:spcPts val="600"/>
              </a:spcBef>
            </a:pPr>
            <a:r>
              <a:rPr lang="ja-JP" altLang="en-US" sz="1000" dirty="0"/>
              <a:t>これは「採用数を増やす」戦略ではなく、「欲しい</a:t>
            </a:r>
            <a:r>
              <a:rPr lang="en-US" altLang="ja-JP" sz="1000" dirty="0"/>
              <a:t>10</a:t>
            </a:r>
            <a:r>
              <a:rPr lang="ja-JP" altLang="en-US" sz="1000" dirty="0"/>
              <a:t>名を確実に獲る」ための資源配分の転換です。</a:t>
            </a:r>
          </a:p>
          <a:p>
            <a:pPr>
              <a:spcBef>
                <a:spcPts val="600"/>
              </a:spcBef>
            </a:pPr>
            <a:r>
              <a:rPr lang="ja-JP" altLang="en-US" sz="1000" b="1" dirty="0"/>
              <a:t>④ ブランド投資の戦略的位置付け：「採用コスト」から「中長期資産」へ</a:t>
            </a:r>
            <a:endParaRPr lang="ja-JP" altLang="en-US" sz="1000" dirty="0"/>
          </a:p>
          <a:p>
            <a:pPr>
              <a:spcBef>
                <a:spcPts val="600"/>
              </a:spcBef>
            </a:pPr>
            <a:r>
              <a:rPr lang="ja-JP" altLang="en-US" sz="1000" dirty="0"/>
              <a:t>「名前による誤認」「出身者露出不足」は短期の採用施策では解消できず、</a:t>
            </a:r>
            <a:r>
              <a:rPr lang="en-US" altLang="ja-JP" sz="1000" b="1" dirty="0"/>
              <a:t>3〜5</a:t>
            </a:r>
            <a:r>
              <a:rPr lang="ja-JP" altLang="en-US" sz="1000" b="1" dirty="0"/>
              <a:t>年単位のブランド投資</a:t>
            </a:r>
            <a:r>
              <a:rPr lang="ja-JP" altLang="en-US" sz="1000" dirty="0"/>
              <a:t>として経営レベルで位置付ける必要があります。具体的には：</a:t>
            </a:r>
          </a:p>
          <a:p>
            <a:pPr>
              <a:spcBef>
                <a:spcPts val="600"/>
              </a:spcBef>
            </a:pPr>
            <a:r>
              <a:rPr lang="ja-JP" altLang="en-US" sz="1000" dirty="0"/>
              <a:t>社名や組織名称自体の見直し検討（長期）</a:t>
            </a:r>
          </a:p>
          <a:p>
            <a:pPr>
              <a:spcBef>
                <a:spcPts val="600"/>
              </a:spcBef>
            </a:pPr>
            <a:r>
              <a:rPr lang="ja-JP" altLang="en-US" sz="1000" dirty="0"/>
              <a:t>パートナー・エースコンサルタントの書籍・メディア発信の制度的支援</a:t>
            </a:r>
          </a:p>
          <a:p>
            <a:pPr>
              <a:spcBef>
                <a:spcPts val="600"/>
              </a:spcBef>
            </a:pPr>
            <a:r>
              <a:rPr lang="ja-JP" altLang="en-US" sz="1000" dirty="0"/>
              <a:t>政策提言・研究成果の社会的発信の強化</a:t>
            </a:r>
          </a:p>
          <a:p>
            <a:pPr>
              <a:spcBef>
                <a:spcPts val="600"/>
              </a:spcBef>
            </a:pPr>
            <a:r>
              <a:rPr lang="en-US" altLang="ja-JP" sz="1000" dirty="0"/>
              <a:t>OB/OG</a:t>
            </a:r>
            <a:r>
              <a:rPr lang="ja-JP" altLang="en-US" sz="1000" dirty="0"/>
              <a:t>ネットワークの可視化（起業家・事業会社経営層への転身事例）</a:t>
            </a:r>
          </a:p>
          <a:p>
            <a:pPr>
              <a:spcBef>
                <a:spcPts val="600"/>
              </a:spcBef>
            </a:pPr>
            <a:r>
              <a:rPr lang="ja-JP" altLang="en-US" sz="1000" dirty="0"/>
              <a:t>これらは即効性こそないものの、</a:t>
            </a:r>
            <a:r>
              <a:rPr lang="ja-JP" altLang="en-US" sz="1000" b="1" dirty="0"/>
              <a:t>着手しなければ競合との格差は毎年広がり続ける</a:t>
            </a:r>
            <a:r>
              <a:rPr lang="ja-JP" altLang="en-US" sz="1000" dirty="0"/>
              <a:t>という意味で、今期の採用成否以上に重要な意思決定です。</a:t>
            </a:r>
          </a:p>
          <a:p>
            <a:pPr marL="0" indent="0">
              <a:spcBef>
                <a:spcPts val="600"/>
              </a:spcBef>
              <a:buNone/>
            </a:pPr>
            <a:endParaRPr lang="ja-JP" altLang="en-US" sz="1000" dirty="0"/>
          </a:p>
        </p:txBody>
      </p:sp>
      <p:sp>
        <p:nvSpPr>
          <p:cNvPr id="5" name="コンテンツ プレースホルダー 3">
            <a:extLst>
              <a:ext uri="{FF2B5EF4-FFF2-40B4-BE49-F238E27FC236}">
                <a16:creationId xmlns:a16="http://schemas.microsoft.com/office/drawing/2014/main" id="{82417499-AE4C-CAC5-B06F-B5AE4E31D082}"/>
              </a:ext>
            </a:extLst>
          </p:cNvPr>
          <p:cNvSpPr txBox="1">
            <a:spLocks/>
          </p:cNvSpPr>
          <p:nvPr/>
        </p:nvSpPr>
        <p:spPr>
          <a:xfrm>
            <a:off x="6096000" y="197962"/>
            <a:ext cx="5895023" cy="64573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600" kern="1200">
                <a:solidFill>
                  <a:schemeClr val="bg2">
                    <a:lumMod val="25000"/>
                  </a:schemeClr>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1400" kern="1200">
                <a:solidFill>
                  <a:schemeClr val="bg2">
                    <a:lumMod val="25000"/>
                  </a:schemeClr>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050" b="1" dirty="0"/>
              <a:t>◾️ 戦略的意思決定として求められること</a:t>
            </a:r>
            <a:endParaRPr lang="ja-JP" altLang="en-US" sz="1050" dirty="0"/>
          </a:p>
          <a:p>
            <a:r>
              <a:rPr lang="ja-JP" altLang="en-US" sz="1050" dirty="0"/>
              <a:t>以上を踏まえ、新卒採用部として経営に対して上申すべき戦略的意思決定は、以下の</a:t>
            </a:r>
            <a:r>
              <a:rPr lang="en-US" altLang="ja-JP" sz="1050" dirty="0"/>
              <a:t>3</a:t>
            </a:r>
            <a:r>
              <a:rPr lang="ja-JP" altLang="en-US" sz="1050" dirty="0"/>
              <a:t>点に集約されます：</a:t>
            </a:r>
          </a:p>
          <a:p>
            <a:r>
              <a:rPr lang="ja-JP" altLang="en-US" sz="1050" b="1" dirty="0"/>
              <a:t>採用ターゲット市場の再定義</a:t>
            </a:r>
            <a:r>
              <a:rPr lang="ja-JP" altLang="en-US" sz="1050" dirty="0"/>
              <a:t>：「戦略コンサル志望の上位層全般」から「社会課題解決志向のトップ層」への明示的なシフト</a:t>
            </a:r>
          </a:p>
          <a:p>
            <a:r>
              <a:rPr lang="ja-JP" altLang="en-US" sz="1050" b="1" dirty="0"/>
              <a:t>採用プロセスの全面的な前倒し</a:t>
            </a:r>
            <a:r>
              <a:rPr lang="ja-JP" altLang="en-US" sz="1050" dirty="0"/>
              <a:t>：</a:t>
            </a:r>
            <a:r>
              <a:rPr lang="en-US" altLang="ja-JP" sz="1050" dirty="0"/>
              <a:t>27</a:t>
            </a:r>
            <a:r>
              <a:rPr lang="ja-JP" altLang="en-US" sz="1050" dirty="0"/>
              <a:t>卒以降、インターン・早期接点を</a:t>
            </a:r>
            <a:r>
              <a:rPr lang="en-US" altLang="ja-JP" sz="1050" dirty="0"/>
              <a:t>25</a:t>
            </a:r>
            <a:r>
              <a:rPr lang="ja-JP" altLang="en-US" sz="1050" dirty="0"/>
              <a:t>年春基準に再設計</a:t>
            </a:r>
          </a:p>
          <a:p>
            <a:r>
              <a:rPr lang="ja-JP" altLang="en-US" sz="1050" b="1" dirty="0"/>
              <a:t>採用ブランディングの中長期投資化</a:t>
            </a:r>
            <a:r>
              <a:rPr lang="ja-JP" altLang="en-US" sz="1050" dirty="0"/>
              <a:t>：ロールモデル発信・名称問題解決を、単年の採用活動ではなく</a:t>
            </a:r>
            <a:r>
              <a:rPr lang="en-US" altLang="ja-JP" sz="1050" dirty="0"/>
              <a:t>3〜5</a:t>
            </a:r>
            <a:r>
              <a:rPr lang="ja-JP" altLang="en-US" sz="1050" dirty="0"/>
              <a:t>年の経営アジェンダとして位置付け</a:t>
            </a:r>
            <a:br>
              <a:rPr lang="ja-JP" altLang="en-US" sz="1050" dirty="0"/>
            </a:br>
            <a:endParaRPr lang="ja-JP" altLang="en-US" sz="1050" dirty="0"/>
          </a:p>
          <a:p>
            <a:r>
              <a:rPr lang="ja-JP" altLang="en-US" sz="1050" b="1" dirty="0"/>
              <a:t>◾️ 最終的な戦略的メッセージ</a:t>
            </a:r>
            <a:endParaRPr lang="ja-JP" altLang="en-US" sz="1050" dirty="0"/>
          </a:p>
          <a:p>
            <a:r>
              <a:rPr lang="ja-JP" altLang="en-US" sz="1050" dirty="0"/>
              <a:t>一言でまとめると、</a:t>
            </a:r>
            <a:r>
              <a:rPr lang="en-US" altLang="ja-JP" sz="1050" dirty="0"/>
              <a:t>NDMC</a:t>
            </a:r>
            <a:r>
              <a:rPr lang="ja-JP" altLang="en-US" sz="1050" dirty="0"/>
              <a:t>新卒採用の戦略的意味は以下に集約されます：</a:t>
            </a:r>
          </a:p>
          <a:p>
            <a:r>
              <a:rPr lang="ja-JP" altLang="en-US" sz="1050" b="1" dirty="0"/>
              <a:t>「戦略コンサル業界で</a:t>
            </a:r>
            <a:r>
              <a:rPr lang="en-US" altLang="ja-JP" sz="1050" b="1" dirty="0"/>
              <a:t>2</a:t>
            </a:r>
            <a:r>
              <a:rPr lang="ja-JP" altLang="en-US" sz="1050" b="1" dirty="0"/>
              <a:t>番手を目指す」のではなく、「社会</a:t>
            </a:r>
            <a:r>
              <a:rPr lang="en-US" altLang="ja-JP" sz="1050" b="1" dirty="0"/>
              <a:t>×</a:t>
            </a:r>
            <a:r>
              <a:rPr lang="ja-JP" altLang="en-US" sz="1050" b="1" dirty="0"/>
              <a:t>戦略</a:t>
            </a:r>
            <a:r>
              <a:rPr lang="en-US" altLang="ja-JP" sz="1050" b="1" dirty="0"/>
              <a:t>×</a:t>
            </a:r>
            <a:r>
              <a:rPr lang="ja-JP" altLang="en-US" sz="1050" b="1" dirty="0"/>
              <a:t>実行の交差点にある唯一のファーム」として別市場の第一想起を取りに行く。そのために、ターゲット・訴求軸・プロセス・ブランド投資のすべてを一貫して再設計する。</a:t>
            </a:r>
            <a:endParaRPr lang="ja-JP" altLang="en-US" sz="1050" dirty="0"/>
          </a:p>
        </p:txBody>
      </p:sp>
    </p:spTree>
    <p:extLst>
      <p:ext uri="{BB962C8B-B14F-4D97-AF65-F5344CB8AC3E}">
        <p14:creationId xmlns:p14="http://schemas.microsoft.com/office/powerpoint/2010/main" val="773978448"/>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15664</TotalTime>
  <Words>1525</Words>
  <Application>Microsoft Office PowerPoint</Application>
  <PresentationFormat>ワイド画面</PresentationFormat>
  <Paragraphs>86</Paragraphs>
  <Slides>2</Slides>
  <Notes>0</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Meiryo UI</vt:lpstr>
      <vt:lpstr>游ゴシック</vt:lpstr>
      <vt:lpstr>Arial</vt:lpstr>
      <vt:lpstr>Wingdings</vt:lpstr>
      <vt:lpstr>デザインの設定</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168</cp:revision>
  <dcterms:created xsi:type="dcterms:W3CDTF">2026-04-07T13:27:17Z</dcterms:created>
  <dcterms:modified xsi:type="dcterms:W3CDTF">2026-04-19T12:58:38Z</dcterms:modified>
</cp:coreProperties>
</file>