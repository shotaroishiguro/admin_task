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57" r:id="rId3"/>
    <p:sldId id="258" r:id="rId4"/>
    <p:sldId id="262" r:id="rId5"/>
    <p:sldId id="259" r:id="rId6"/>
    <p:sldId id="260"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123_売上成長率の算出" id="{B918581B-48C2-4C75-BAF4-40DF7B1A8F89}">
          <p14:sldIdLst>
            <p14:sldId id="261"/>
          </p14:sldIdLst>
        </p14:section>
        <p14:section name="A4_業績推移の分析" id="{1AED162F-2057-4746-B303-31921CFDC1FD}">
          <p14:sldIdLst>
            <p14:sldId id="257"/>
            <p14:sldId id="258"/>
          </p14:sldIdLst>
        </p14:section>
        <p14:section name="B1_シェアリーダーの悩み" id="{27FB0986-9AE9-423C-AB8F-9C5710B5755F}">
          <p14:sldIdLst>
            <p14:sldId id="262"/>
          </p14:sldIdLst>
        </p14:section>
        <p14:section name="B2_RMSマッピング" id="{52B8C123-DC8F-4AC8-BD5A-B2FA59F3F5D6}">
          <p14:sldIdLst>
            <p14:sldId id="259"/>
          </p14:sldIdLst>
        </p14:section>
        <p14:section name="C1_損益分岐点の試算" id="{D650F1B8-C25B-413F-B0DD-B58D4D954B08}">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3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826" autoAdjust="0"/>
  </p:normalViewPr>
  <p:slideViewPr>
    <p:cSldViewPr snapToGrid="0" showGuides="1">
      <p:cViewPr>
        <p:scale>
          <a:sx n="75" d="100"/>
          <a:sy n="75" d="100"/>
        </p:scale>
        <p:origin x="246" y="8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enni\ROOT\admin_task\&#33258;&#23398;\&#12510;&#12540;&#12465;&#12486;&#12451;&#12531;&#12464;&#22522;&#30990;\&#35336;&#31639;&#29992;&#12456;&#12463;&#12475;&#1252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enni\ROOT\admin_task\&#33258;&#23398;\&#12510;&#12540;&#12465;&#12486;&#12451;&#12531;&#12464;&#22522;&#30990;\&#35336;&#31639;&#29992;&#12456;&#12463;&#12475;&#12523;.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3" Type="http://schemas.openxmlformats.org/officeDocument/2006/relationships/oleObject" Target="file:///C:\Users\tenni\ROOT\admin_task\&#33258;&#23398;\&#12510;&#12540;&#12465;&#12486;&#12451;&#12531;&#12464;&#22522;&#30990;\&#35336;&#31639;&#29992;&#12456;&#12463;&#12475;&#12523;.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ja-JP" b="1" dirty="0">
                <a:latin typeface="Meiryo UI" panose="020B0604030504040204" pitchFamily="50" charset="-128"/>
                <a:ea typeface="Meiryo UI" panose="020B0604030504040204" pitchFamily="50" charset="-128"/>
              </a:rPr>
              <a:t>A</a:t>
            </a:r>
            <a:r>
              <a:rPr lang="ja-JP" altLang="en-US" b="1" dirty="0">
                <a:latin typeface="Meiryo UI" panose="020B0604030504040204" pitchFamily="50" charset="-128"/>
                <a:ea typeface="Meiryo UI" panose="020B0604030504040204" pitchFamily="50" charset="-128"/>
              </a:rPr>
              <a:t>・</a:t>
            </a:r>
            <a:r>
              <a:rPr lang="en-US" altLang="ja-JP" b="1" dirty="0">
                <a:latin typeface="Meiryo UI" panose="020B0604030504040204" pitchFamily="50" charset="-128"/>
                <a:ea typeface="Meiryo UI" panose="020B0604030504040204" pitchFamily="50" charset="-128"/>
              </a:rPr>
              <a:t>B</a:t>
            </a:r>
            <a:r>
              <a:rPr lang="ja-JP" altLang="en-US" b="1" dirty="0">
                <a:latin typeface="Meiryo UI" panose="020B0604030504040204" pitchFamily="50" charset="-128"/>
                <a:ea typeface="Meiryo UI" panose="020B0604030504040204" pitchFamily="50" charset="-128"/>
              </a:rPr>
              <a:t>社の売上げ推移</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A4_業績推移!$D$6</c:f>
              <c:strCache>
                <c:ptCount val="1"/>
                <c:pt idx="0">
                  <c:v>A社の売上げ</c:v>
                </c:pt>
              </c:strCache>
            </c:strRef>
          </c:tx>
          <c:spPr>
            <a:ln w="28575" cap="rnd">
              <a:solidFill>
                <a:schemeClr val="accent1"/>
              </a:solidFill>
              <a:round/>
            </a:ln>
            <a:effectLst/>
          </c:spPr>
          <c:marker>
            <c:symbol val="none"/>
          </c:marker>
          <c:cat>
            <c:strRef>
              <c:f>A4_業績推移!$E$5:$J$5</c:f>
              <c:strCache>
                <c:ptCount val="6"/>
                <c:pt idx="0">
                  <c:v>2014年</c:v>
                </c:pt>
                <c:pt idx="1">
                  <c:v>2015年</c:v>
                </c:pt>
                <c:pt idx="2">
                  <c:v>2016年</c:v>
                </c:pt>
                <c:pt idx="3">
                  <c:v>2017年</c:v>
                </c:pt>
                <c:pt idx="4">
                  <c:v>2018年</c:v>
                </c:pt>
                <c:pt idx="5">
                  <c:v>2019年</c:v>
                </c:pt>
              </c:strCache>
            </c:strRef>
          </c:cat>
          <c:val>
            <c:numRef>
              <c:f>A4_業績推移!$E$6:$J$6</c:f>
              <c:numCache>
                <c:formatCode>#,##0_ </c:formatCode>
                <c:ptCount val="6"/>
                <c:pt idx="0">
                  <c:v>950</c:v>
                </c:pt>
                <c:pt idx="1">
                  <c:v>1000</c:v>
                </c:pt>
                <c:pt idx="2">
                  <c:v>900</c:v>
                </c:pt>
                <c:pt idx="3">
                  <c:v>800</c:v>
                </c:pt>
                <c:pt idx="4">
                  <c:v>750</c:v>
                </c:pt>
                <c:pt idx="5">
                  <c:v>750</c:v>
                </c:pt>
              </c:numCache>
            </c:numRef>
          </c:val>
          <c:smooth val="0"/>
          <c:extLst>
            <c:ext xmlns:c16="http://schemas.microsoft.com/office/drawing/2014/chart" uri="{C3380CC4-5D6E-409C-BE32-E72D297353CC}">
              <c16:uniqueId val="{00000000-4980-4465-B0F2-49103B688568}"/>
            </c:ext>
          </c:extLst>
        </c:ser>
        <c:ser>
          <c:idx val="1"/>
          <c:order val="1"/>
          <c:tx>
            <c:strRef>
              <c:f>A4_業績推移!$D$7</c:f>
              <c:strCache>
                <c:ptCount val="1"/>
                <c:pt idx="0">
                  <c:v>B社の売上げ</c:v>
                </c:pt>
              </c:strCache>
            </c:strRef>
          </c:tx>
          <c:spPr>
            <a:ln w="28575" cap="rnd">
              <a:solidFill>
                <a:schemeClr val="accent1"/>
              </a:solidFill>
              <a:prstDash val="sysDot"/>
              <a:round/>
            </a:ln>
            <a:effectLst/>
          </c:spPr>
          <c:marker>
            <c:symbol val="none"/>
          </c:marker>
          <c:cat>
            <c:strRef>
              <c:f>A4_業績推移!$E$5:$J$5</c:f>
              <c:strCache>
                <c:ptCount val="6"/>
                <c:pt idx="0">
                  <c:v>2014年</c:v>
                </c:pt>
                <c:pt idx="1">
                  <c:v>2015年</c:v>
                </c:pt>
                <c:pt idx="2">
                  <c:v>2016年</c:v>
                </c:pt>
                <c:pt idx="3">
                  <c:v>2017年</c:v>
                </c:pt>
                <c:pt idx="4">
                  <c:v>2018年</c:v>
                </c:pt>
                <c:pt idx="5">
                  <c:v>2019年</c:v>
                </c:pt>
              </c:strCache>
            </c:strRef>
          </c:cat>
          <c:val>
            <c:numRef>
              <c:f>A4_業績推移!$E$7:$J$7</c:f>
              <c:numCache>
                <c:formatCode>#,##0_ </c:formatCode>
                <c:ptCount val="6"/>
                <c:pt idx="0">
                  <c:v>900</c:v>
                </c:pt>
                <c:pt idx="1">
                  <c:v>800</c:v>
                </c:pt>
                <c:pt idx="2">
                  <c:v>750</c:v>
                </c:pt>
                <c:pt idx="3">
                  <c:v>700</c:v>
                </c:pt>
                <c:pt idx="4">
                  <c:v>600</c:v>
                </c:pt>
                <c:pt idx="5">
                  <c:v>600</c:v>
                </c:pt>
              </c:numCache>
            </c:numRef>
          </c:val>
          <c:smooth val="0"/>
          <c:extLst>
            <c:ext xmlns:c16="http://schemas.microsoft.com/office/drawing/2014/chart" uri="{C3380CC4-5D6E-409C-BE32-E72D297353CC}">
              <c16:uniqueId val="{00000001-4980-4465-B0F2-49103B688568}"/>
            </c:ext>
          </c:extLst>
        </c:ser>
        <c:dLbls>
          <c:showLegendKey val="0"/>
          <c:showVal val="0"/>
          <c:showCatName val="0"/>
          <c:showSerName val="0"/>
          <c:showPercent val="0"/>
          <c:showBubbleSize val="0"/>
        </c:dLbls>
        <c:smooth val="0"/>
        <c:axId val="1751474159"/>
        <c:axId val="1751475599"/>
      </c:lineChart>
      <c:catAx>
        <c:axId val="1751474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751475599"/>
        <c:crosses val="autoZero"/>
        <c:auto val="1"/>
        <c:lblAlgn val="ctr"/>
        <c:lblOffset val="100"/>
        <c:noMultiLvlLbl val="0"/>
      </c:catAx>
      <c:valAx>
        <c:axId val="1751475599"/>
        <c:scaling>
          <c:orientation val="minMax"/>
          <c:max val="12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dirty="0">
                    <a:latin typeface="Meiryo UI" panose="020B0604030504040204" pitchFamily="50" charset="-128"/>
                    <a:ea typeface="Meiryo UI" panose="020B0604030504040204" pitchFamily="50" charset="-128"/>
                  </a:rPr>
                  <a:t>売上げ（億円）</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p>
          </c:txPr>
        </c:title>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7514741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solidFill>
        <a:schemeClr val="bg2">
          <a:lumMod val="90000"/>
        </a:schemeClr>
      </a:solid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b="1" dirty="0">
                <a:latin typeface="Meiryo UI" panose="020B0604030504040204" pitchFamily="50" charset="-128"/>
                <a:ea typeface="Meiryo UI" panose="020B0604030504040204" pitchFamily="50" charset="-128"/>
              </a:rPr>
              <a:t>新興</a:t>
            </a:r>
            <a:r>
              <a:rPr lang="en-US" altLang="ja-JP" b="1" dirty="0">
                <a:latin typeface="Meiryo UI" panose="020B0604030504040204" pitchFamily="50" charset="-128"/>
                <a:ea typeface="Meiryo UI" panose="020B0604030504040204" pitchFamily="50" charset="-128"/>
              </a:rPr>
              <a:t>C</a:t>
            </a:r>
            <a:r>
              <a:rPr lang="ja-JP" altLang="en-US" b="1" dirty="0">
                <a:latin typeface="Meiryo UI" panose="020B0604030504040204" pitchFamily="50" charset="-128"/>
                <a:ea typeface="Meiryo UI" panose="020B0604030504040204" pitchFamily="50" charset="-128"/>
              </a:rPr>
              <a:t>・</a:t>
            </a:r>
            <a:r>
              <a:rPr lang="en-US" altLang="ja-JP" b="1" dirty="0">
                <a:latin typeface="Meiryo UI" panose="020B0604030504040204" pitchFamily="50" charset="-128"/>
                <a:ea typeface="Meiryo UI" panose="020B0604030504040204" pitchFamily="50" charset="-128"/>
              </a:rPr>
              <a:t>D</a:t>
            </a:r>
            <a:r>
              <a:rPr lang="ja-JP" altLang="en-US" b="1" dirty="0">
                <a:latin typeface="Meiryo UI" panose="020B0604030504040204" pitchFamily="50" charset="-128"/>
                <a:ea typeface="Meiryo UI" panose="020B0604030504040204" pitchFamily="50" charset="-128"/>
              </a:rPr>
              <a:t>社の合計売上げ推移</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manualLayout>
          <c:layoutTarget val="inner"/>
          <c:xMode val="edge"/>
          <c:yMode val="edge"/>
          <c:x val="0.15150037808373862"/>
          <c:y val="0.19542490561117473"/>
          <c:w val="0.81958337241886836"/>
          <c:h val="0.59219385990770879"/>
        </c:manualLayout>
      </c:layout>
      <c:lineChart>
        <c:grouping val="standard"/>
        <c:varyColors val="0"/>
        <c:ser>
          <c:idx val="0"/>
          <c:order val="0"/>
          <c:tx>
            <c:strRef>
              <c:f>A4_業績推移!$D$12</c:f>
              <c:strCache>
                <c:ptCount val="1"/>
                <c:pt idx="0">
                  <c:v>C・D社の合計売上げ</c:v>
                </c:pt>
              </c:strCache>
            </c:strRef>
          </c:tx>
          <c:spPr>
            <a:ln w="28575" cap="rnd">
              <a:solidFill>
                <a:schemeClr val="accent2"/>
              </a:solidFill>
              <a:round/>
            </a:ln>
            <a:effectLst/>
          </c:spPr>
          <c:marker>
            <c:symbol val="none"/>
          </c:marker>
          <c:cat>
            <c:strRef>
              <c:f>A4_業績推移!$E$5:$J$5</c:f>
              <c:strCache>
                <c:ptCount val="6"/>
                <c:pt idx="0">
                  <c:v>2014年</c:v>
                </c:pt>
                <c:pt idx="1">
                  <c:v>2015年</c:v>
                </c:pt>
                <c:pt idx="2">
                  <c:v>2016年</c:v>
                </c:pt>
                <c:pt idx="3">
                  <c:v>2017年</c:v>
                </c:pt>
                <c:pt idx="4">
                  <c:v>2018年</c:v>
                </c:pt>
                <c:pt idx="5">
                  <c:v>2019年</c:v>
                </c:pt>
              </c:strCache>
            </c:strRef>
          </c:cat>
          <c:val>
            <c:numRef>
              <c:f>A4_業績推移!$E$12:$J$12</c:f>
              <c:numCache>
                <c:formatCode>#,##0_ </c:formatCode>
                <c:ptCount val="6"/>
                <c:pt idx="0">
                  <c:v>0</c:v>
                </c:pt>
                <c:pt idx="1">
                  <c:v>220</c:v>
                </c:pt>
                <c:pt idx="2">
                  <c:v>300</c:v>
                </c:pt>
                <c:pt idx="3">
                  <c:v>355</c:v>
                </c:pt>
                <c:pt idx="4">
                  <c:v>455</c:v>
                </c:pt>
                <c:pt idx="5">
                  <c:v>515</c:v>
                </c:pt>
              </c:numCache>
            </c:numRef>
          </c:val>
          <c:smooth val="0"/>
          <c:extLst>
            <c:ext xmlns:c16="http://schemas.microsoft.com/office/drawing/2014/chart" uri="{C3380CC4-5D6E-409C-BE32-E72D297353CC}">
              <c16:uniqueId val="{00000000-EBBF-4391-9384-1BF5EE4D77DB}"/>
            </c:ext>
          </c:extLst>
        </c:ser>
        <c:dLbls>
          <c:showLegendKey val="0"/>
          <c:showVal val="0"/>
          <c:showCatName val="0"/>
          <c:showSerName val="0"/>
          <c:showPercent val="0"/>
          <c:showBubbleSize val="0"/>
        </c:dLbls>
        <c:smooth val="0"/>
        <c:axId val="1412596783"/>
        <c:axId val="1001741247"/>
      </c:lineChart>
      <c:catAx>
        <c:axId val="14125967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001741247"/>
        <c:crosses val="autoZero"/>
        <c:auto val="1"/>
        <c:lblAlgn val="ctr"/>
        <c:lblOffset val="100"/>
        <c:noMultiLvlLbl val="0"/>
      </c:catAx>
      <c:valAx>
        <c:axId val="1001741247"/>
        <c:scaling>
          <c:orientation val="minMax"/>
          <c:max val="6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sz="1000" b="0" i="0" u="none" strike="noStrike" kern="1200" baseline="0" dirty="0">
                    <a:solidFill>
                      <a:prstClr val="black">
                        <a:lumMod val="65000"/>
                        <a:lumOff val="35000"/>
                      </a:prstClr>
                    </a:solidFill>
                    <a:latin typeface="Meiryo UI" panose="020B0604030504040204" pitchFamily="50" charset="-128"/>
                    <a:ea typeface="Meiryo UI" panose="020B0604030504040204" pitchFamily="50" charset="-128"/>
                  </a:rPr>
                  <a:t>売上げ（億円）</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p>
          </c:txPr>
        </c:title>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412596783"/>
        <c:crosses val="autoZero"/>
        <c:crossBetween val="between"/>
      </c:valAx>
      <c:spPr>
        <a:noFill/>
        <a:ln>
          <a:noFill/>
        </a:ln>
        <a:effectLst/>
      </c:spPr>
    </c:plotArea>
    <c:legend>
      <c:legendPos val="r"/>
      <c:layout>
        <c:manualLayout>
          <c:xMode val="edge"/>
          <c:yMode val="edge"/>
          <c:x val="0.33906514446674341"/>
          <c:y val="0.8942820509635182"/>
          <c:w val="0.31696012746949015"/>
          <c:h val="7.593410923026339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solidFill>
        <a:schemeClr val="bg2">
          <a:lumMod val="90000"/>
        </a:schemeClr>
      </a:solid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978563835085673E-2"/>
          <c:y val="3.0449203122340191E-2"/>
          <c:w val="0.95288508389755433"/>
          <c:h val="0.93910159375531965"/>
        </c:manualLayout>
      </c:layout>
      <c:scatterChart>
        <c:scatterStyle val="smooth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B2_RMS!$C$47:$C$66</c:f>
              <c:numCache>
                <c:formatCode>General</c:formatCode>
                <c:ptCount val="20"/>
                <c:pt idx="0">
                  <c:v>2</c:v>
                </c:pt>
                <c:pt idx="1">
                  <c:v>1.9</c:v>
                </c:pt>
                <c:pt idx="2">
                  <c:v>1.8</c:v>
                </c:pt>
                <c:pt idx="3">
                  <c:v>1.7</c:v>
                </c:pt>
                <c:pt idx="4">
                  <c:v>1.6</c:v>
                </c:pt>
                <c:pt idx="5">
                  <c:v>1.5</c:v>
                </c:pt>
                <c:pt idx="6">
                  <c:v>1.4</c:v>
                </c:pt>
                <c:pt idx="7">
                  <c:v>1.3</c:v>
                </c:pt>
                <c:pt idx="8">
                  <c:v>1.2</c:v>
                </c:pt>
                <c:pt idx="9">
                  <c:v>1.1000000000000001</c:v>
                </c:pt>
                <c:pt idx="10">
                  <c:v>1</c:v>
                </c:pt>
                <c:pt idx="11">
                  <c:v>0.9</c:v>
                </c:pt>
                <c:pt idx="12">
                  <c:v>0.8</c:v>
                </c:pt>
                <c:pt idx="13">
                  <c:v>0.7</c:v>
                </c:pt>
                <c:pt idx="14">
                  <c:v>0.6</c:v>
                </c:pt>
                <c:pt idx="15">
                  <c:v>0.5</c:v>
                </c:pt>
                <c:pt idx="16">
                  <c:v>0.4</c:v>
                </c:pt>
                <c:pt idx="17">
                  <c:v>0.3</c:v>
                </c:pt>
                <c:pt idx="18">
                  <c:v>0.2</c:v>
                </c:pt>
                <c:pt idx="19">
                  <c:v>0.1</c:v>
                </c:pt>
              </c:numCache>
            </c:numRef>
          </c:xVal>
          <c:yVal>
            <c:numRef>
              <c:f>B2_RMS!$D$47:$D$66</c:f>
              <c:numCache>
                <c:formatCode>General</c:formatCode>
                <c:ptCount val="2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numCache>
            </c:numRef>
          </c:yVal>
          <c:smooth val="1"/>
          <c:extLst>
            <c:ext xmlns:c16="http://schemas.microsoft.com/office/drawing/2014/chart" uri="{C3380CC4-5D6E-409C-BE32-E72D297353CC}">
              <c16:uniqueId val="{00000000-0703-4FE6-B9C1-AA812DD4AC2E}"/>
            </c:ext>
          </c:extLst>
        </c:ser>
        <c:dLbls>
          <c:showLegendKey val="0"/>
          <c:showVal val="0"/>
          <c:showCatName val="0"/>
          <c:showSerName val="0"/>
          <c:showPercent val="0"/>
          <c:showBubbleSize val="0"/>
        </c:dLbls>
        <c:axId val="1921261455"/>
        <c:axId val="1921259055"/>
      </c:scatterChart>
      <c:valAx>
        <c:axId val="1921261455"/>
        <c:scaling>
          <c:logBase val="10"/>
          <c:orientation val="maxMin"/>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921259055"/>
        <c:crosses val="autoZero"/>
        <c:crossBetween val="midCat"/>
      </c:valAx>
      <c:valAx>
        <c:axId val="1921259055"/>
        <c:scaling>
          <c:orientation val="minMax"/>
          <c:max val="1"/>
          <c:min val="-1"/>
        </c:scaling>
        <c:delete val="1"/>
        <c:axPos val="r"/>
        <c:numFmt formatCode="General" sourceLinked="1"/>
        <c:majorTickMark val="none"/>
        <c:minorTickMark val="none"/>
        <c:tickLblPos val="nextTo"/>
        <c:crossAx val="1921261455"/>
        <c:crossesAt val="0.1"/>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978563835085673E-2"/>
          <c:y val="3.0449203122340191E-2"/>
          <c:w val="0.95288508389755433"/>
          <c:h val="0.93910159375531965"/>
        </c:manualLayout>
      </c:layout>
      <c:scatterChart>
        <c:scatterStyle val="smooth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B2_RMS!$C$47:$C$66</c:f>
              <c:numCache>
                <c:formatCode>General</c:formatCode>
                <c:ptCount val="20"/>
                <c:pt idx="0">
                  <c:v>2</c:v>
                </c:pt>
                <c:pt idx="1">
                  <c:v>1.9</c:v>
                </c:pt>
                <c:pt idx="2">
                  <c:v>1.8</c:v>
                </c:pt>
                <c:pt idx="3">
                  <c:v>1.7</c:v>
                </c:pt>
                <c:pt idx="4">
                  <c:v>1.6</c:v>
                </c:pt>
                <c:pt idx="5">
                  <c:v>1.5</c:v>
                </c:pt>
                <c:pt idx="6">
                  <c:v>1.4</c:v>
                </c:pt>
                <c:pt idx="7">
                  <c:v>1.3</c:v>
                </c:pt>
                <c:pt idx="8">
                  <c:v>1.2</c:v>
                </c:pt>
                <c:pt idx="9">
                  <c:v>1.1000000000000001</c:v>
                </c:pt>
                <c:pt idx="10">
                  <c:v>1</c:v>
                </c:pt>
                <c:pt idx="11">
                  <c:v>0.9</c:v>
                </c:pt>
                <c:pt idx="12">
                  <c:v>0.8</c:v>
                </c:pt>
                <c:pt idx="13">
                  <c:v>0.7</c:v>
                </c:pt>
                <c:pt idx="14">
                  <c:v>0.6</c:v>
                </c:pt>
                <c:pt idx="15">
                  <c:v>0.5</c:v>
                </c:pt>
                <c:pt idx="16">
                  <c:v>0.4</c:v>
                </c:pt>
                <c:pt idx="17">
                  <c:v>0.3</c:v>
                </c:pt>
                <c:pt idx="18">
                  <c:v>0.2</c:v>
                </c:pt>
                <c:pt idx="19">
                  <c:v>0.1</c:v>
                </c:pt>
              </c:numCache>
            </c:numRef>
          </c:xVal>
          <c:yVal>
            <c:numRef>
              <c:f>B2_RMS!$D$47:$D$66</c:f>
              <c:numCache>
                <c:formatCode>General</c:formatCode>
                <c:ptCount val="2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numCache>
            </c:numRef>
          </c:yVal>
          <c:smooth val="1"/>
          <c:extLst>
            <c:ext xmlns:c16="http://schemas.microsoft.com/office/drawing/2014/chart" uri="{C3380CC4-5D6E-409C-BE32-E72D297353CC}">
              <c16:uniqueId val="{00000000-0703-4FE6-B9C1-AA812DD4AC2E}"/>
            </c:ext>
          </c:extLst>
        </c:ser>
        <c:dLbls>
          <c:showLegendKey val="0"/>
          <c:showVal val="0"/>
          <c:showCatName val="0"/>
          <c:showSerName val="0"/>
          <c:showPercent val="0"/>
          <c:showBubbleSize val="0"/>
        </c:dLbls>
        <c:axId val="1921261455"/>
        <c:axId val="1921259055"/>
      </c:scatterChart>
      <c:valAx>
        <c:axId val="1921261455"/>
        <c:scaling>
          <c:logBase val="10"/>
          <c:orientation val="maxMin"/>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921259055"/>
        <c:crosses val="autoZero"/>
        <c:crossBetween val="midCat"/>
      </c:valAx>
      <c:valAx>
        <c:axId val="1921259055"/>
        <c:scaling>
          <c:orientation val="minMax"/>
          <c:max val="1"/>
          <c:min val="-1"/>
        </c:scaling>
        <c:delete val="1"/>
        <c:axPos val="r"/>
        <c:numFmt formatCode="General" sourceLinked="1"/>
        <c:majorTickMark val="none"/>
        <c:minorTickMark val="none"/>
        <c:tickLblPos val="nextTo"/>
        <c:crossAx val="1921261455"/>
        <c:crossesAt val="0.1"/>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'C1_損益分岐点'!$M$39</c:f>
              <c:strCache>
                <c:ptCount val="1"/>
                <c:pt idx="0">
                  <c:v>総経費</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1"/>
            <c:trendlineLbl>
              <c:layout>
                <c:manualLayout>
                  <c:x val="2.0134533306590579E-2"/>
                  <c:y val="0.13333763145378635"/>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altLang="ja-JP" sz="2400" baseline="0" dirty="0">
                        <a:solidFill>
                          <a:schemeClr val="accent1"/>
                        </a:solidFill>
                      </a:rPr>
                      <a:t>y =0.7x + 280</a:t>
                    </a:r>
                    <a:endParaRPr lang="en-US" altLang="ja-JP" sz="2400" dirty="0">
                      <a:solidFill>
                        <a:schemeClr val="accent1"/>
                      </a:solidFill>
                    </a:endParaRPr>
                  </a:p>
                </c:rich>
              </c:tx>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trendlineLbl>
          </c:trendline>
          <c:cat>
            <c:numRef>
              <c:f>'C1_損益分岐点'!$J$40:$J$61</c:f>
              <c:numCache>
                <c:formatCode>General</c:formatCode>
                <c:ptCount val="22"/>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numCache>
            </c:numRef>
          </c:cat>
          <c:val>
            <c:numRef>
              <c:f>'C1_損益分岐点'!$M$40:$M$61</c:f>
              <c:numCache>
                <c:formatCode>General</c:formatCode>
                <c:ptCount val="22"/>
                <c:pt idx="0">
                  <c:v>280</c:v>
                </c:pt>
                <c:pt idx="1">
                  <c:v>350</c:v>
                </c:pt>
                <c:pt idx="2">
                  <c:v>420</c:v>
                </c:pt>
                <c:pt idx="3">
                  <c:v>490</c:v>
                </c:pt>
                <c:pt idx="4">
                  <c:v>560</c:v>
                </c:pt>
                <c:pt idx="5">
                  <c:v>630</c:v>
                </c:pt>
                <c:pt idx="6">
                  <c:v>700</c:v>
                </c:pt>
                <c:pt idx="7">
                  <c:v>770</c:v>
                </c:pt>
                <c:pt idx="8">
                  <c:v>840</c:v>
                </c:pt>
                <c:pt idx="9">
                  <c:v>910</c:v>
                </c:pt>
                <c:pt idx="10">
                  <c:v>980</c:v>
                </c:pt>
                <c:pt idx="11">
                  <c:v>1050</c:v>
                </c:pt>
                <c:pt idx="12">
                  <c:v>1120</c:v>
                </c:pt>
                <c:pt idx="13">
                  <c:v>1190</c:v>
                </c:pt>
                <c:pt idx="14">
                  <c:v>1260</c:v>
                </c:pt>
                <c:pt idx="15">
                  <c:v>1330</c:v>
                </c:pt>
                <c:pt idx="16">
                  <c:v>1400</c:v>
                </c:pt>
                <c:pt idx="17">
                  <c:v>1470</c:v>
                </c:pt>
                <c:pt idx="18">
                  <c:v>1540</c:v>
                </c:pt>
                <c:pt idx="19">
                  <c:v>1610</c:v>
                </c:pt>
                <c:pt idx="20">
                  <c:v>1680</c:v>
                </c:pt>
                <c:pt idx="21">
                  <c:v>1750</c:v>
                </c:pt>
              </c:numCache>
            </c:numRef>
          </c:val>
          <c:smooth val="0"/>
          <c:extLst>
            <c:ext xmlns:c16="http://schemas.microsoft.com/office/drawing/2014/chart" uri="{C3380CC4-5D6E-409C-BE32-E72D297353CC}">
              <c16:uniqueId val="{00000000-1F89-4A87-B58D-C89F75AD35AA}"/>
            </c:ext>
          </c:extLst>
        </c:ser>
        <c:ser>
          <c:idx val="1"/>
          <c:order val="1"/>
          <c:tx>
            <c:strRef>
              <c:f>'C1_損益分岐点'!$P$39</c:f>
              <c:strCache>
                <c:ptCount val="1"/>
                <c:pt idx="0">
                  <c:v>売上げ=経費</c:v>
                </c:pt>
              </c:strCache>
            </c:strRef>
          </c:tx>
          <c:spPr>
            <a:ln w="28575" cap="rnd">
              <a:solidFill>
                <a:schemeClr val="accent2"/>
              </a:solidFill>
              <a:round/>
            </a:ln>
            <a:effectLst/>
          </c:spPr>
          <c:marker>
            <c:symbol val="none"/>
          </c:marker>
          <c:cat>
            <c:numRef>
              <c:f>'C1_損益分岐点'!$J$40:$J$61</c:f>
              <c:numCache>
                <c:formatCode>General</c:formatCode>
                <c:ptCount val="22"/>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numCache>
            </c:numRef>
          </c:cat>
          <c:val>
            <c:numRef>
              <c:f>'C1_損益分岐点'!$P$40:$P$61</c:f>
              <c:numCache>
                <c:formatCode>General</c:formatCode>
                <c:ptCount val="22"/>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numCache>
            </c:numRef>
          </c:val>
          <c:smooth val="0"/>
          <c:extLst>
            <c:ext xmlns:c16="http://schemas.microsoft.com/office/drawing/2014/chart" uri="{C3380CC4-5D6E-409C-BE32-E72D297353CC}">
              <c16:uniqueId val="{00000001-1F89-4A87-B58D-C89F75AD35AA}"/>
            </c:ext>
          </c:extLst>
        </c:ser>
        <c:dLbls>
          <c:showLegendKey val="0"/>
          <c:showVal val="0"/>
          <c:showCatName val="0"/>
          <c:showSerName val="0"/>
          <c:showPercent val="0"/>
          <c:showBubbleSize val="0"/>
        </c:dLbls>
        <c:smooth val="0"/>
        <c:axId val="1540884255"/>
        <c:axId val="1540888575"/>
      </c:lineChart>
      <c:catAx>
        <c:axId val="154088425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dirty="0"/>
                  <a:t>売上げ（百万円）</a:t>
                </a:r>
              </a:p>
            </c:rich>
          </c:tx>
          <c:layout>
            <c:manualLayout>
              <c:xMode val="edge"/>
              <c:yMode val="edge"/>
              <c:x val="0.48027803837585215"/>
              <c:y val="0.8637628283041800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540888575"/>
        <c:crosses val="autoZero"/>
        <c:auto val="1"/>
        <c:lblAlgn val="ctr"/>
        <c:lblOffset val="100"/>
        <c:noMultiLvlLbl val="0"/>
      </c:catAx>
      <c:valAx>
        <c:axId val="15408885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dirty="0"/>
                  <a:t>経費（百万円）</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540884255"/>
        <c:crosses val="autoZero"/>
        <c:crossBetween val="between"/>
      </c:valAx>
      <c:spPr>
        <a:noFill/>
        <a:ln>
          <a:noFill/>
        </a:ln>
        <a:effectLst/>
      </c:spPr>
    </c:plotArea>
    <c:legend>
      <c:legendPos val="b"/>
      <c:legendEntry>
        <c:idx val="2"/>
        <c:delete val="1"/>
      </c:legendEntry>
      <c:layout>
        <c:manualLayout>
          <c:xMode val="edge"/>
          <c:yMode val="edge"/>
          <c:x val="0.34933654246382723"/>
          <c:y val="0.92894192252814034"/>
          <c:w val="0.29913564830690331"/>
          <c:h val="4.6897003646356288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E6D315-CFA7-F18F-5611-0E390411DD47}"/>
              </a:ext>
            </a:extLst>
          </p:cNvPr>
          <p:cNvSpPr>
            <a:spLocks noGrp="1"/>
          </p:cNvSpPr>
          <p:nvPr>
            <p:ph type="title" hasCustomPrompt="1"/>
          </p:nvPr>
        </p:nvSpPr>
        <p:spPr>
          <a:xfrm>
            <a:off x="317241" y="131860"/>
            <a:ext cx="11551298" cy="474630"/>
          </a:xfrm>
        </p:spPr>
        <p:txBody>
          <a:bodyPr/>
          <a:lstStyle>
            <a:lvl1pPr>
              <a:defRPr sz="2400">
                <a:solidFill>
                  <a:schemeClr val="accent1"/>
                </a:solidFill>
                <a:latin typeface="Meiryo UI" panose="020B0604030504040204" pitchFamily="50" charset="-128"/>
                <a:ea typeface="Meiryo UI" panose="020B0604030504040204" pitchFamily="50" charset="-128"/>
              </a:defRPr>
            </a:lvl1pPr>
          </a:lstStyle>
          <a:p>
            <a:r>
              <a:rPr kumimoji="1" lang="ja-JP" altLang="en-US" dirty="0"/>
              <a:t>スライドメッセージ</a:t>
            </a:r>
          </a:p>
        </p:txBody>
      </p:sp>
      <p:sp>
        <p:nvSpPr>
          <p:cNvPr id="3" name="日付プレースホルダー 2">
            <a:extLst>
              <a:ext uri="{FF2B5EF4-FFF2-40B4-BE49-F238E27FC236}">
                <a16:creationId xmlns:a16="http://schemas.microsoft.com/office/drawing/2014/main" id="{7FDA7B0C-E626-8C86-C3F9-6029BC54B71E}"/>
              </a:ext>
            </a:extLst>
          </p:cNvPr>
          <p:cNvSpPr>
            <a:spLocks noGrp="1"/>
          </p:cNvSpPr>
          <p:nvPr>
            <p:ph type="dt" sz="half" idx="10"/>
          </p:nvPr>
        </p:nvSpPr>
        <p:spPr>
          <a:xfrm>
            <a:off x="838200" y="6356351"/>
            <a:ext cx="2743200" cy="171858"/>
          </a:xfrm>
        </p:spPr>
        <p:txBody>
          <a:bodyPr/>
          <a:lstStyle>
            <a:lvl1pPr>
              <a:defRPr>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2026/4/9</a:t>
            </a:fld>
            <a:endParaRPr lang="ja-JP" altLang="en-US"/>
          </a:p>
        </p:txBody>
      </p:sp>
      <p:sp>
        <p:nvSpPr>
          <p:cNvPr id="4" name="フッター プレースホルダー 3">
            <a:extLst>
              <a:ext uri="{FF2B5EF4-FFF2-40B4-BE49-F238E27FC236}">
                <a16:creationId xmlns:a16="http://schemas.microsoft.com/office/drawing/2014/main" id="{6BFC6DE0-39C8-6F03-0152-8578F7BA9AC8}"/>
              </a:ext>
            </a:extLst>
          </p:cNvPr>
          <p:cNvSpPr>
            <a:spLocks noGrp="1"/>
          </p:cNvSpPr>
          <p:nvPr>
            <p:ph type="ftr" sz="quarter" idx="11"/>
          </p:nvPr>
        </p:nvSpPr>
        <p:spPr>
          <a:xfrm>
            <a:off x="4038600" y="6356351"/>
            <a:ext cx="4114800" cy="171858"/>
          </a:xfrm>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5" name="スライド番号プレースホルダー 4">
            <a:extLst>
              <a:ext uri="{FF2B5EF4-FFF2-40B4-BE49-F238E27FC236}">
                <a16:creationId xmlns:a16="http://schemas.microsoft.com/office/drawing/2014/main" id="{59BE49F0-AEDB-0D71-7A52-F96FE8285EF9}"/>
              </a:ext>
            </a:extLst>
          </p:cNvPr>
          <p:cNvSpPr>
            <a:spLocks noGrp="1"/>
          </p:cNvSpPr>
          <p:nvPr>
            <p:ph type="sldNum" sz="quarter" idx="12"/>
          </p:nvPr>
        </p:nvSpPr>
        <p:spPr>
          <a:xfrm>
            <a:off x="8610600" y="6356351"/>
            <a:ext cx="2743200" cy="171858"/>
          </a:xfrm>
        </p:spPr>
        <p:txBody>
          <a:bodyPr/>
          <a:lstStyle>
            <a:lvl1pPr>
              <a:defRPr>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
        <p:nvSpPr>
          <p:cNvPr id="6" name="コンテンツ プレースホルダー 6">
            <a:extLst>
              <a:ext uri="{FF2B5EF4-FFF2-40B4-BE49-F238E27FC236}">
                <a16:creationId xmlns:a16="http://schemas.microsoft.com/office/drawing/2014/main" id="{05896C3B-FD85-59A7-4E4A-0D29E197E4DE}"/>
              </a:ext>
            </a:extLst>
          </p:cNvPr>
          <p:cNvSpPr>
            <a:spLocks noGrp="1"/>
          </p:cNvSpPr>
          <p:nvPr>
            <p:ph sz="quarter" idx="13" hasCustomPrompt="1"/>
          </p:nvPr>
        </p:nvSpPr>
        <p:spPr>
          <a:xfrm>
            <a:off x="317241" y="672225"/>
            <a:ext cx="11591536" cy="783351"/>
          </a:xfrm>
        </p:spPr>
        <p:txBody>
          <a:bodyPr>
            <a:normAutofit/>
          </a:bodyPr>
          <a:lstStyle>
            <a:lvl1pPr>
              <a:defRPr sz="1800">
                <a:solidFill>
                  <a:schemeClr val="bg2">
                    <a:lumMod val="25000"/>
                  </a:schemeClr>
                </a:solidFill>
                <a:latin typeface="Meiryo UI" panose="020B0604030504040204" pitchFamily="50" charset="-128"/>
                <a:ea typeface="Meiryo UI" panose="020B0604030504040204" pitchFamily="50" charset="-128"/>
              </a:defRPr>
            </a:lvl1pPr>
          </a:lstStyle>
          <a:p>
            <a:pPr lvl="0"/>
            <a:r>
              <a:rPr kumimoji="1" lang="ja-JP" altLang="en-US" dirty="0"/>
              <a:t>概要①</a:t>
            </a:r>
            <a:endParaRPr kumimoji="1" lang="en-US" altLang="ja-JP" dirty="0"/>
          </a:p>
          <a:p>
            <a:pPr lvl="0"/>
            <a:r>
              <a:rPr kumimoji="1" lang="ja-JP" altLang="en-US" dirty="0"/>
              <a:t>概要②</a:t>
            </a:r>
          </a:p>
        </p:txBody>
      </p:sp>
      <p:sp>
        <p:nvSpPr>
          <p:cNvPr id="7" name="コンテンツ プレースホルダー 6">
            <a:extLst>
              <a:ext uri="{FF2B5EF4-FFF2-40B4-BE49-F238E27FC236}">
                <a16:creationId xmlns:a16="http://schemas.microsoft.com/office/drawing/2014/main" id="{1241F936-A09D-5A21-68FF-0035A12F523E}"/>
              </a:ext>
            </a:extLst>
          </p:cNvPr>
          <p:cNvSpPr>
            <a:spLocks noGrp="1"/>
          </p:cNvSpPr>
          <p:nvPr>
            <p:ph sz="quarter" idx="14" hasCustomPrompt="1"/>
          </p:nvPr>
        </p:nvSpPr>
        <p:spPr>
          <a:xfrm>
            <a:off x="317241" y="1455576"/>
            <a:ext cx="11591536" cy="4730198"/>
          </a:xfrm>
        </p:spPr>
        <p:txBody>
          <a:bodyPr>
            <a:normAutofit/>
          </a:bodyPr>
          <a:lstStyle>
            <a:lvl1pPr>
              <a:defRPr sz="1600">
                <a:solidFill>
                  <a:schemeClr val="bg2">
                    <a:lumMod val="25000"/>
                  </a:schemeClr>
                </a:solidFill>
                <a:latin typeface="Meiryo UI" panose="020B0604030504040204" pitchFamily="50" charset="-128"/>
                <a:ea typeface="Meiryo UI" panose="020B0604030504040204" pitchFamily="50" charset="-128"/>
              </a:defRPr>
            </a:lvl1pPr>
            <a:lvl2pPr>
              <a:buFont typeface="Wingdings" panose="05000000000000000000" pitchFamily="2" charset="2"/>
              <a:buChar char="Ø"/>
              <a:defRPr sz="1400">
                <a:solidFill>
                  <a:schemeClr val="bg2">
                    <a:lumMod val="25000"/>
                  </a:schemeClr>
                </a:solidFill>
                <a:latin typeface="Meiryo UI" panose="020B0604030504040204" pitchFamily="50" charset="-128"/>
                <a:ea typeface="Meiryo UI" panose="020B0604030504040204" pitchFamily="50" charset="-128"/>
              </a:defRPr>
            </a:lvl2pPr>
          </a:lstStyle>
          <a:p>
            <a:pPr lvl="0"/>
            <a:r>
              <a:rPr kumimoji="1" lang="ja-JP" altLang="en-US" dirty="0"/>
              <a:t>インデント①</a:t>
            </a:r>
            <a:endParaRPr kumimoji="1" lang="en-US" altLang="ja-JP" dirty="0"/>
          </a:p>
          <a:p>
            <a:pPr lvl="1"/>
            <a:r>
              <a:rPr kumimoji="1" lang="ja-JP" altLang="en-US" dirty="0"/>
              <a:t>インデント②</a:t>
            </a:r>
          </a:p>
        </p:txBody>
      </p:sp>
    </p:spTree>
    <p:extLst>
      <p:ext uri="{BB962C8B-B14F-4D97-AF65-F5344CB8AC3E}">
        <p14:creationId xmlns:p14="http://schemas.microsoft.com/office/powerpoint/2010/main" val="34847504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A764A8A-05EF-FF45-EC95-3A9C5909D1E2}"/>
              </a:ext>
            </a:extLst>
          </p:cNvPr>
          <p:cNvSpPr>
            <a:spLocks noGrp="1"/>
          </p:cNvSpPr>
          <p:nvPr>
            <p:ph type="title"/>
          </p:nvPr>
        </p:nvSpPr>
        <p:spPr>
          <a:xfrm>
            <a:off x="317241" y="131860"/>
            <a:ext cx="11551298" cy="474630"/>
          </a:xfrm>
          <a:prstGeom prst="rect">
            <a:avLst/>
          </a:prstGeom>
        </p:spPr>
        <p:txBody>
          <a:bodyPr vert="horz" lIns="91440" tIns="45720" rIns="91440" bIns="45720" rtlCol="0" anchor="ctr">
            <a:noAutofit/>
          </a:bodyPr>
          <a:lstStyle/>
          <a:p>
            <a:r>
              <a:rPr kumimoji="1" lang="ja-JP" altLang="en-US" dirty="0"/>
              <a:t>スライドメッセージ</a:t>
            </a:r>
          </a:p>
        </p:txBody>
      </p:sp>
      <p:sp>
        <p:nvSpPr>
          <p:cNvPr id="3" name="テキスト プレースホルダー 2">
            <a:extLst>
              <a:ext uri="{FF2B5EF4-FFF2-40B4-BE49-F238E27FC236}">
                <a16:creationId xmlns:a16="http://schemas.microsoft.com/office/drawing/2014/main" id="{ED3FD47D-708A-7F8E-1E52-F5921F5509E5}"/>
              </a:ext>
            </a:extLst>
          </p:cNvPr>
          <p:cNvSpPr>
            <a:spLocks noGrp="1"/>
          </p:cNvSpPr>
          <p:nvPr>
            <p:ph type="body" idx="1"/>
          </p:nvPr>
        </p:nvSpPr>
        <p:spPr>
          <a:xfrm>
            <a:off x="838200" y="1825625"/>
            <a:ext cx="10515600" cy="2048101"/>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62AE49-EF35-CCB1-26EF-AC9D5131B276}"/>
              </a:ext>
            </a:extLst>
          </p:cNvPr>
          <p:cNvSpPr>
            <a:spLocks noGrp="1"/>
          </p:cNvSpPr>
          <p:nvPr>
            <p:ph type="dt" sz="half" idx="2"/>
          </p:nvPr>
        </p:nvSpPr>
        <p:spPr>
          <a:xfrm>
            <a:off x="838200" y="6356351"/>
            <a:ext cx="2743200" cy="171858"/>
          </a:xfrm>
          <a:prstGeom prst="rect">
            <a:avLst/>
          </a:prstGeom>
        </p:spPr>
        <p:txBody>
          <a:bodyPr vert="horz" lIns="91440" tIns="45720" rIns="91440" bIns="45720" rtlCol="0" anchor="ctr"/>
          <a:lstStyle>
            <a:lvl1pPr algn="l">
              <a:defRPr sz="1200">
                <a:solidFill>
                  <a:schemeClr val="tx1">
                    <a:tint val="82000"/>
                  </a:schemeClr>
                </a:solidFill>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2026/4/7</a:t>
            </a:fld>
            <a:endParaRPr lang="ja-JP" altLang="en-US"/>
          </a:p>
        </p:txBody>
      </p:sp>
      <p:sp>
        <p:nvSpPr>
          <p:cNvPr id="5" name="フッター プレースホルダー 4">
            <a:extLst>
              <a:ext uri="{FF2B5EF4-FFF2-40B4-BE49-F238E27FC236}">
                <a16:creationId xmlns:a16="http://schemas.microsoft.com/office/drawing/2014/main" id="{291A030F-6976-1B52-C3D0-4273BCA10343}"/>
              </a:ext>
            </a:extLst>
          </p:cNvPr>
          <p:cNvSpPr>
            <a:spLocks noGrp="1"/>
          </p:cNvSpPr>
          <p:nvPr>
            <p:ph type="ftr" sz="quarter" idx="3"/>
          </p:nvPr>
        </p:nvSpPr>
        <p:spPr>
          <a:xfrm>
            <a:off x="4038600" y="6356351"/>
            <a:ext cx="4114800" cy="171858"/>
          </a:xfrm>
          <a:prstGeom prst="rect">
            <a:avLst/>
          </a:prstGeom>
        </p:spPr>
        <p:txBody>
          <a:bodyPr vert="horz" lIns="91440" tIns="45720" rIns="91440" bIns="45720" rtlCol="0" anchor="ctr"/>
          <a:lstStyle>
            <a:lvl1pPr algn="ctr">
              <a:defRPr sz="1200">
                <a:solidFill>
                  <a:schemeClr val="tx1">
                    <a:tint val="82000"/>
                  </a:schemeClr>
                </a:solidFill>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40836DE0-44E5-50EA-C883-68714F6310E6}"/>
              </a:ext>
            </a:extLst>
          </p:cNvPr>
          <p:cNvSpPr>
            <a:spLocks noGrp="1"/>
          </p:cNvSpPr>
          <p:nvPr>
            <p:ph type="sldNum" sz="quarter" idx="4"/>
          </p:nvPr>
        </p:nvSpPr>
        <p:spPr>
          <a:xfrm>
            <a:off x="8610600" y="6356351"/>
            <a:ext cx="2743200" cy="171858"/>
          </a:xfrm>
          <a:prstGeom prst="rect">
            <a:avLst/>
          </a:prstGeom>
        </p:spPr>
        <p:txBody>
          <a:bodyPr vert="horz" lIns="91440" tIns="45720" rIns="91440" bIns="45720" rtlCol="0" anchor="ctr"/>
          <a:lstStyle>
            <a:lvl1pPr algn="r">
              <a:defRPr sz="1200">
                <a:solidFill>
                  <a:schemeClr val="tx1">
                    <a:tint val="82000"/>
                  </a:schemeClr>
                </a:solidFill>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Tree>
    <p:extLst>
      <p:ext uri="{BB962C8B-B14F-4D97-AF65-F5344CB8AC3E}">
        <p14:creationId xmlns:p14="http://schemas.microsoft.com/office/powerpoint/2010/main" val="36631526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kumimoji="1" sz="3200" kern="1200">
          <a:solidFill>
            <a:schemeClr val="tx2">
              <a:lumMod val="75000"/>
              <a:lumOff val="25000"/>
            </a:schemeClr>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5AC487-CDF4-D5B5-9771-E4B22A0B778C}"/>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B7E8D73-7F5E-5264-6063-07CE5D9032BE}"/>
              </a:ext>
            </a:extLst>
          </p:cNvPr>
          <p:cNvSpPr>
            <a:spLocks noGrp="1"/>
          </p:cNvSpPr>
          <p:nvPr>
            <p:ph sz="quarter" idx="13"/>
          </p:nvPr>
        </p:nvSpPr>
        <p:spPr/>
        <p:txBody>
          <a:bodyPr/>
          <a:lstStyle/>
          <a:p>
            <a:endParaRPr kumimoji="1" lang="ja-JP" altLang="en-US" dirty="0"/>
          </a:p>
        </p:txBody>
      </p:sp>
      <mc:AlternateContent xmlns:mc="http://schemas.openxmlformats.org/markup-compatibility/2006">
        <mc:Choice xmlns:a14="http://schemas.microsoft.com/office/drawing/2010/main" Requires="a14">
          <p:sp>
            <p:nvSpPr>
              <p:cNvPr id="4" name="コンテンツ プレースホルダー 3">
                <a:extLst>
                  <a:ext uri="{FF2B5EF4-FFF2-40B4-BE49-F238E27FC236}">
                    <a16:creationId xmlns:a16="http://schemas.microsoft.com/office/drawing/2014/main" id="{C1381268-6007-3736-0A68-0AD7B00411E2}"/>
                  </a:ext>
                </a:extLst>
              </p:cNvPr>
              <p:cNvSpPr>
                <a:spLocks noGrp="1"/>
              </p:cNvSpPr>
              <p:nvPr>
                <p:ph sz="quarter" idx="14"/>
              </p:nvPr>
            </p:nvSpPr>
            <p:spPr>
              <a:xfrm>
                <a:off x="317241" y="1455576"/>
                <a:ext cx="11591536" cy="5059524"/>
              </a:xfrm>
            </p:spPr>
            <p:txBody>
              <a:bodyPr>
                <a:normAutofit/>
              </a:bodyPr>
              <a:lstStyle/>
              <a:p>
                <a:r>
                  <a:rPr kumimoji="1" lang="en-US" altLang="ja-JP" dirty="0"/>
                  <a:t>2011</a:t>
                </a:r>
                <a:r>
                  <a:rPr kumimoji="1" lang="ja-JP" altLang="en-US" dirty="0"/>
                  <a:t>年の売上げは</a:t>
                </a:r>
                <a:r>
                  <a:rPr kumimoji="1" lang="en-US" altLang="ja-JP" dirty="0"/>
                  <a:t>120</a:t>
                </a:r>
                <a:r>
                  <a:rPr kumimoji="1" lang="ja-JP" altLang="en-US" dirty="0"/>
                  <a:t>億円で、</a:t>
                </a:r>
                <a:r>
                  <a:rPr kumimoji="1" lang="en-US" altLang="ja-JP" dirty="0"/>
                  <a:t>2019</a:t>
                </a:r>
                <a:r>
                  <a:rPr kumimoji="1" lang="ja-JP" altLang="en-US" dirty="0"/>
                  <a:t>年の売上げは</a:t>
                </a:r>
                <a:r>
                  <a:rPr kumimoji="1" lang="en-US" altLang="ja-JP" dirty="0"/>
                  <a:t>190</a:t>
                </a:r>
                <a:r>
                  <a:rPr kumimoji="1" lang="ja-JP" altLang="en-US" dirty="0"/>
                  <a:t>億円であった。この</a:t>
                </a:r>
                <a:r>
                  <a:rPr kumimoji="1" lang="en-US" altLang="ja-JP" dirty="0"/>
                  <a:t>8</a:t>
                </a:r>
                <a:r>
                  <a:rPr kumimoji="1" lang="ja-JP" altLang="en-US" dirty="0"/>
                  <a:t>年間と同じ成長率で売上げが伸び続けると仮定した場合の</a:t>
                </a:r>
                <a:r>
                  <a:rPr kumimoji="1" lang="en-US" altLang="ja-JP" dirty="0"/>
                  <a:t>2022</a:t>
                </a:r>
                <a:r>
                  <a:rPr kumimoji="1" lang="ja-JP" altLang="en-US" dirty="0"/>
                  <a:t>年の売上げはいくらか？</a:t>
                </a:r>
                <a:endParaRPr kumimoji="1" lang="en-US" altLang="ja-JP" dirty="0"/>
              </a:p>
              <a:p>
                <a:pPr marL="0" indent="0" algn="ctr">
                  <a:buNone/>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𝐶𝐴𝐺𝑅</m:t>
                      </m:r>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sSup>
                            <m:sSupPr>
                              <m:ctrlPr>
                                <a:rPr kumimoji="1" lang="en-US" altLang="ja-JP" b="0" i="1" smtClean="0">
                                  <a:latin typeface="Cambria Math" panose="02040503050406030204" pitchFamily="18" charset="0"/>
                                </a:rPr>
                              </m:ctrlPr>
                            </m:sSupPr>
                            <m:e>
                              <m:d>
                                <m:dPr>
                                  <m:ctrlPr>
                                    <a:rPr kumimoji="1" lang="en-US" altLang="ja-JP" b="0" i="1" smtClean="0">
                                      <a:latin typeface="Cambria Math" panose="02040503050406030204" pitchFamily="18" charset="0"/>
                                    </a:rPr>
                                  </m:ctrlPr>
                                </m:dPr>
                                <m:e>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190</m:t>
                                      </m:r>
                                    </m:num>
                                    <m:den>
                                      <m:r>
                                        <a:rPr kumimoji="1" lang="en-US" altLang="ja-JP" b="0" i="1" smtClean="0">
                                          <a:latin typeface="Cambria Math" panose="02040503050406030204" pitchFamily="18" charset="0"/>
                                        </a:rPr>
                                        <m:t>120</m:t>
                                      </m:r>
                                    </m:den>
                                  </m:f>
                                </m:e>
                              </m:d>
                            </m:e>
                            <m:sup>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8</m:t>
                                  </m:r>
                                </m:den>
                              </m:f>
                            </m:sup>
                          </m:sSup>
                          <m:r>
                            <a:rPr kumimoji="1" lang="en-US" altLang="ja-JP" b="0" i="1" smtClean="0">
                              <a:latin typeface="Cambria Math" panose="02040503050406030204" pitchFamily="18" charset="0"/>
                            </a:rPr>
                            <m:t>−1</m:t>
                          </m:r>
                        </m:e>
                      </m:d>
                      <m:r>
                        <a:rPr lang="en-US" altLang="ja-JP" i="1">
                          <a:latin typeface="Cambria Math" panose="02040503050406030204" pitchFamily="18" charset="0"/>
                        </a:rPr>
                        <m:t>×</m:t>
                      </m:r>
                      <m:r>
                        <a:rPr lang="en-US" altLang="ja-JP" b="0" i="1" smtClean="0">
                          <a:latin typeface="Cambria Math" panose="02040503050406030204" pitchFamily="18" charset="0"/>
                        </a:rPr>
                        <m:t>100=5.91%</m:t>
                      </m:r>
                    </m:oMath>
                  </m:oMathPara>
                </a14:m>
                <a:endParaRPr lang="en-US" altLang="ja-JP" b="0" dirty="0"/>
              </a:p>
              <a:p>
                <a:pPr marL="0" indent="0" algn="ctr">
                  <a:buNone/>
                </a:pPr>
                <a14:m>
                  <m:oMathPara xmlns:m="http://schemas.openxmlformats.org/officeDocument/2006/math">
                    <m:oMathParaPr>
                      <m:jc m:val="centerGroup"/>
                    </m:oMathParaPr>
                    <m:oMath xmlns:m="http://schemas.openxmlformats.org/officeDocument/2006/math">
                      <m:r>
                        <m:rPr>
                          <m:nor/>
                        </m:rPr>
                        <a:rPr lang="en-US" altLang="ja-JP" dirty="0"/>
                        <m:t>2022</m:t>
                      </m:r>
                      <m:r>
                        <m:rPr>
                          <m:nor/>
                        </m:rPr>
                        <a:rPr lang="ja-JP" altLang="en-US" dirty="0"/>
                        <m:t>年の売上げ</m:t>
                      </m:r>
                      <m:r>
                        <m:rPr>
                          <m:nor/>
                        </m:rPr>
                        <a:rPr lang="en-US" altLang="ja-JP" dirty="0"/>
                        <m:t>=</m:t>
                      </m:r>
                      <m:r>
                        <a:rPr kumimoji="1" lang="en-US" altLang="ja-JP" b="0" i="1" smtClean="0">
                          <a:latin typeface="Cambria Math" panose="02040503050406030204" pitchFamily="18" charset="0"/>
                        </a:rPr>
                        <m:t>190</m:t>
                      </m:r>
                      <m:r>
                        <a:rPr lang="en-US" altLang="ja-JP" i="1">
                          <a:latin typeface="Cambria Math" panose="02040503050406030204" pitchFamily="18" charset="0"/>
                        </a:rPr>
                        <m:t>×</m:t>
                      </m:r>
                      <m:sSup>
                        <m:sSupPr>
                          <m:ctrlPr>
                            <a:rPr lang="en-US" altLang="ja-JP" b="0" i="0" smtClean="0">
                              <a:latin typeface="Cambria Math" panose="02040503050406030204" pitchFamily="18" charset="0"/>
                            </a:rPr>
                          </m:ctrlPr>
                        </m:sSupPr>
                        <m:e>
                          <m:d>
                            <m:dPr>
                              <m:ctrlPr>
                                <a:rPr lang="en-US" altLang="ja-JP" b="0" i="0" smtClean="0">
                                  <a:latin typeface="Cambria Math" panose="02040503050406030204" pitchFamily="18" charset="0"/>
                                </a:rPr>
                              </m:ctrlPr>
                            </m:dPr>
                            <m:e>
                              <m:r>
                                <a:rPr lang="en-US" altLang="ja-JP" b="0" i="0" smtClean="0">
                                  <a:latin typeface="Cambria Math" panose="02040503050406030204" pitchFamily="18" charset="0"/>
                                </a:rPr>
                                <m:t>1+</m:t>
                              </m:r>
                              <m:f>
                                <m:fPr>
                                  <m:ctrlPr>
                                    <a:rPr lang="en-US" altLang="ja-JP" b="0" i="0" smtClean="0">
                                      <a:latin typeface="Cambria Math" panose="02040503050406030204" pitchFamily="18" charset="0"/>
                                    </a:rPr>
                                  </m:ctrlPr>
                                </m:fPr>
                                <m:num>
                                  <m:r>
                                    <a:rPr lang="en-US" altLang="ja-JP" b="0" i="0" smtClean="0">
                                      <a:latin typeface="Cambria Math" panose="02040503050406030204" pitchFamily="18" charset="0"/>
                                    </a:rPr>
                                    <m:t>5.91</m:t>
                                  </m:r>
                                </m:num>
                                <m:den>
                                  <m:r>
                                    <a:rPr lang="en-US" altLang="ja-JP" b="0" i="0" smtClean="0">
                                      <a:latin typeface="Cambria Math" panose="02040503050406030204" pitchFamily="18" charset="0"/>
                                    </a:rPr>
                                    <m:t>100</m:t>
                                  </m:r>
                                </m:den>
                              </m:f>
                            </m:e>
                          </m:d>
                        </m:e>
                        <m:sup>
                          <m:r>
                            <a:rPr lang="en-US" altLang="ja-JP" b="0" i="0" smtClean="0">
                              <a:latin typeface="Cambria Math" panose="02040503050406030204" pitchFamily="18" charset="0"/>
                            </a:rPr>
                            <m:t>3</m:t>
                          </m:r>
                        </m:sup>
                      </m:sSup>
                      <m:r>
                        <a:rPr lang="en-US" altLang="ja-JP" b="0" i="0" smtClean="0">
                          <a:latin typeface="Cambria Math" panose="02040503050406030204" pitchFamily="18" charset="0"/>
                        </a:rPr>
                        <m:t>=225</m:t>
                      </m:r>
                      <m:r>
                        <a:rPr lang="ja-JP" altLang="en-US" i="1">
                          <a:latin typeface="Cambria Math" panose="02040503050406030204" pitchFamily="18" charset="0"/>
                        </a:rPr>
                        <m:t>億円</m:t>
                      </m:r>
                    </m:oMath>
                  </m:oMathPara>
                </a14:m>
                <a:endParaRPr lang="en-US" altLang="ja-JP" dirty="0"/>
              </a:p>
              <a:p>
                <a:endParaRPr kumimoji="1" lang="en-US" altLang="ja-JP" dirty="0"/>
              </a:p>
              <a:p>
                <a:r>
                  <a:rPr lang="en-US" altLang="ja-JP" dirty="0"/>
                  <a:t>5</a:t>
                </a:r>
                <a:r>
                  <a:rPr lang="ja-JP" altLang="en-US" dirty="0"/>
                  <a:t>年で市場規模が倍になった場合の</a:t>
                </a:r>
                <a:r>
                  <a:rPr lang="en-US" altLang="ja-JP" dirty="0"/>
                  <a:t>CAGR</a:t>
                </a:r>
                <a:r>
                  <a:rPr lang="ja-JP" altLang="en-US" dirty="0"/>
                  <a:t>は何％であるか？</a:t>
                </a:r>
                <a:endParaRPr lang="en-US" altLang="ja-JP" dirty="0"/>
              </a:p>
              <a:p>
                <a:pPr marL="0" indent="0" algn="ctr">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𝐶𝐴𝐺𝑅</m:t>
                      </m:r>
                      <m:r>
                        <a:rPr lang="en-US" altLang="ja-JP" i="1">
                          <a:latin typeface="Cambria Math" panose="02040503050406030204" pitchFamily="18" charset="0"/>
                        </a:rPr>
                        <m:t>=</m:t>
                      </m:r>
                      <m:d>
                        <m:dPr>
                          <m:begChr m:val="{"/>
                          <m:endChr m:val="}"/>
                          <m:ctrlPr>
                            <a:rPr lang="en-US" altLang="ja-JP" i="1">
                              <a:latin typeface="Cambria Math" panose="02040503050406030204" pitchFamily="18" charset="0"/>
                            </a:rPr>
                          </m:ctrlPr>
                        </m:dPr>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panose="02040503050406030204" pitchFamily="18" charset="0"/>
                                    </a:rPr>
                                    <m:t>2</m:t>
                                  </m:r>
                                </m:e>
                              </m:d>
                            </m:e>
                            <m:sup>
                              <m:f>
                                <m:fPr>
                                  <m:ctrlPr>
                                    <a:rPr lang="en-US" altLang="ja-JP" i="1">
                                      <a:latin typeface="Cambria Math" panose="02040503050406030204" pitchFamily="18" charset="0"/>
                                    </a:rPr>
                                  </m:ctrlPr>
                                </m:fPr>
                                <m:num>
                                  <m:r>
                                    <a:rPr lang="en-US" altLang="ja-JP" i="1">
                                      <a:latin typeface="Cambria Math" panose="02040503050406030204" pitchFamily="18" charset="0"/>
                                    </a:rPr>
                                    <m:t>1</m:t>
                                  </m:r>
                                </m:num>
                                <m:den>
                                  <m:r>
                                    <a:rPr lang="en-US" altLang="ja-JP" b="0" i="1" smtClean="0">
                                      <a:latin typeface="Cambria Math" panose="02040503050406030204" pitchFamily="18" charset="0"/>
                                    </a:rPr>
                                    <m:t>5</m:t>
                                  </m:r>
                                </m:den>
                              </m:f>
                            </m:sup>
                          </m:sSup>
                          <m:r>
                            <a:rPr lang="en-US" altLang="ja-JP" i="1">
                              <a:latin typeface="Cambria Math" panose="02040503050406030204" pitchFamily="18" charset="0"/>
                            </a:rPr>
                            <m:t>−1</m:t>
                          </m:r>
                        </m:e>
                      </m:d>
                      <m:r>
                        <a:rPr lang="en-US" altLang="ja-JP" i="1">
                          <a:latin typeface="Cambria Math" panose="02040503050406030204" pitchFamily="18" charset="0"/>
                        </a:rPr>
                        <m:t>×</m:t>
                      </m:r>
                      <m:r>
                        <a:rPr lang="en-US" altLang="ja-JP" i="1">
                          <a:latin typeface="Cambria Math" panose="02040503050406030204" pitchFamily="18" charset="0"/>
                        </a:rPr>
                        <m:t>100=</m:t>
                      </m:r>
                      <m:r>
                        <a:rPr lang="en-US" altLang="ja-JP" b="0" i="1" smtClean="0">
                          <a:latin typeface="Cambria Math" panose="02040503050406030204" pitchFamily="18" charset="0"/>
                        </a:rPr>
                        <m:t>14.87</m:t>
                      </m:r>
                      <m:r>
                        <a:rPr lang="en-US" altLang="ja-JP" i="1">
                          <a:latin typeface="Cambria Math" panose="02040503050406030204" pitchFamily="18" charset="0"/>
                        </a:rPr>
                        <m:t>%</m:t>
                      </m:r>
                    </m:oMath>
                  </m:oMathPara>
                </a14:m>
                <a:endParaRPr kumimoji="1" lang="en-US" altLang="ja-JP" dirty="0"/>
              </a:p>
              <a:p>
                <a:endParaRPr lang="en-US" altLang="ja-JP" dirty="0"/>
              </a:p>
              <a:p>
                <a:r>
                  <a:rPr kumimoji="1" lang="en-US" altLang="ja-JP" dirty="0"/>
                  <a:t>S&amp;P500</a:t>
                </a:r>
                <a:r>
                  <a:rPr kumimoji="1" lang="ja-JP" altLang="en-US" dirty="0"/>
                  <a:t>の年末株価は、</a:t>
                </a:r>
                <a:r>
                  <a:rPr kumimoji="1" lang="en-US" altLang="ja-JP" dirty="0"/>
                  <a:t>2005</a:t>
                </a:r>
                <a:r>
                  <a:rPr kumimoji="1" lang="ja-JP" altLang="en-US" dirty="0"/>
                  <a:t>年が</a:t>
                </a:r>
                <a:r>
                  <a:rPr kumimoji="1" lang="en-US" altLang="ja-JP" dirty="0"/>
                  <a:t>$1248.29</a:t>
                </a:r>
                <a:r>
                  <a:rPr lang="ja-JP" altLang="en-US" dirty="0"/>
                  <a:t>、</a:t>
                </a:r>
                <a:r>
                  <a:rPr lang="en-US" altLang="ja-JP" dirty="0"/>
                  <a:t>2025</a:t>
                </a:r>
                <a:r>
                  <a:rPr lang="ja-JP" altLang="en-US" dirty="0"/>
                  <a:t>年が</a:t>
                </a:r>
                <a:r>
                  <a:rPr lang="en-US" altLang="ja-JP" dirty="0"/>
                  <a:t>$6845.50</a:t>
                </a:r>
                <a:r>
                  <a:rPr lang="ja-JP" altLang="en-US" dirty="0"/>
                  <a:t>だった。この</a:t>
                </a:r>
                <a:r>
                  <a:rPr lang="en-US" altLang="ja-JP" dirty="0"/>
                  <a:t>20</a:t>
                </a:r>
                <a:r>
                  <a:rPr lang="ja-JP" altLang="en-US" dirty="0"/>
                  <a:t>年間の</a:t>
                </a:r>
                <a:r>
                  <a:rPr lang="en-US" altLang="ja-JP" dirty="0"/>
                  <a:t>CAGR</a:t>
                </a:r>
                <a:r>
                  <a:rPr lang="ja-JP" altLang="en-US" dirty="0"/>
                  <a:t>は何</a:t>
                </a:r>
                <a:r>
                  <a:rPr lang="en-US" altLang="ja-JP" dirty="0"/>
                  <a:t>%</a:t>
                </a:r>
                <a:r>
                  <a:rPr lang="ja-JP" altLang="en-US" dirty="0"/>
                  <a:t>であるか。この平均成長率が今後も続くとした場合、現在</a:t>
                </a:r>
                <a:r>
                  <a:rPr lang="en-US" altLang="ja-JP" dirty="0"/>
                  <a:t>$10000</a:t>
                </a:r>
                <a:r>
                  <a:rPr lang="ja-JP" altLang="en-US" dirty="0"/>
                  <a:t>を投資すると</a:t>
                </a:r>
                <a:r>
                  <a:rPr lang="en-US" altLang="ja-JP" dirty="0"/>
                  <a:t>10</a:t>
                </a:r>
                <a:r>
                  <a:rPr lang="ja-JP" altLang="en-US" dirty="0"/>
                  <a:t>年後にはいくらになっているか？</a:t>
                </a:r>
                <a:endParaRPr kumimoji="1" lang="en-US" altLang="ja-JP" dirty="0"/>
              </a:p>
              <a:p>
                <a:pPr marL="0" indent="0" algn="ctr">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𝐶𝐴𝐺𝑅</m:t>
                      </m:r>
                      <m:r>
                        <a:rPr lang="en-US" altLang="ja-JP" i="1">
                          <a:latin typeface="Cambria Math" panose="02040503050406030204" pitchFamily="18" charset="0"/>
                        </a:rPr>
                        <m:t>=</m:t>
                      </m:r>
                      <m:d>
                        <m:dPr>
                          <m:begChr m:val="{"/>
                          <m:endChr m:val="}"/>
                          <m:ctrlPr>
                            <a:rPr lang="en-US" altLang="ja-JP" i="1">
                              <a:latin typeface="Cambria Math" panose="02040503050406030204" pitchFamily="18" charset="0"/>
                            </a:rPr>
                          </m:ctrlPr>
                        </m:dPr>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f>
                                    <m:fPr>
                                      <m:ctrlPr>
                                        <a:rPr lang="en-US" altLang="ja-JP" i="1">
                                          <a:latin typeface="Cambria Math" panose="02040503050406030204" pitchFamily="18" charset="0"/>
                                        </a:rPr>
                                      </m:ctrlPr>
                                    </m:fPr>
                                    <m:num>
                                      <m:r>
                                        <a:rPr lang="en-US" altLang="ja-JP" b="0" i="1" smtClean="0">
                                          <a:latin typeface="Cambria Math" panose="02040503050406030204" pitchFamily="18" charset="0"/>
                                        </a:rPr>
                                        <m:t>6845.50</m:t>
                                      </m:r>
                                    </m:num>
                                    <m:den>
                                      <m:r>
                                        <a:rPr lang="en-US" altLang="ja-JP" i="1">
                                          <a:latin typeface="Cambria Math" panose="02040503050406030204" pitchFamily="18" charset="0"/>
                                        </a:rPr>
                                        <m:t>1</m:t>
                                      </m:r>
                                      <m:r>
                                        <a:rPr lang="en-US" altLang="ja-JP" b="0" i="1" smtClean="0">
                                          <a:latin typeface="Cambria Math" panose="02040503050406030204" pitchFamily="18" charset="0"/>
                                        </a:rPr>
                                        <m:t>248.29</m:t>
                                      </m:r>
                                    </m:den>
                                  </m:f>
                                </m:e>
                              </m:d>
                            </m:e>
                            <m:sup>
                              <m:f>
                                <m:fPr>
                                  <m:ctrlPr>
                                    <a:rPr lang="en-US" altLang="ja-JP" i="1">
                                      <a:latin typeface="Cambria Math" panose="02040503050406030204" pitchFamily="18" charset="0"/>
                                    </a:rPr>
                                  </m:ctrlPr>
                                </m:fPr>
                                <m:num>
                                  <m:r>
                                    <a:rPr lang="en-US" altLang="ja-JP" i="1">
                                      <a:latin typeface="Cambria Math" panose="02040503050406030204" pitchFamily="18" charset="0"/>
                                    </a:rPr>
                                    <m:t>1</m:t>
                                  </m:r>
                                </m:num>
                                <m:den>
                                  <m:r>
                                    <a:rPr lang="en-US" altLang="ja-JP" b="0" i="1" smtClean="0">
                                      <a:latin typeface="Cambria Math" panose="02040503050406030204" pitchFamily="18" charset="0"/>
                                    </a:rPr>
                                    <m:t>20</m:t>
                                  </m:r>
                                </m:den>
                              </m:f>
                            </m:sup>
                          </m:sSup>
                          <m:r>
                            <a:rPr lang="en-US" altLang="ja-JP" i="1">
                              <a:latin typeface="Cambria Math" panose="02040503050406030204" pitchFamily="18" charset="0"/>
                            </a:rPr>
                            <m:t>−1</m:t>
                          </m:r>
                        </m:e>
                      </m:d>
                      <m:r>
                        <a:rPr lang="en-US" altLang="ja-JP" i="1">
                          <a:latin typeface="Cambria Math" panose="02040503050406030204" pitchFamily="18" charset="0"/>
                        </a:rPr>
                        <m:t>×</m:t>
                      </m:r>
                      <m:r>
                        <a:rPr lang="en-US" altLang="ja-JP" i="1">
                          <a:latin typeface="Cambria Math" panose="02040503050406030204" pitchFamily="18" charset="0"/>
                        </a:rPr>
                        <m:t>100=</m:t>
                      </m:r>
                      <m:r>
                        <a:rPr lang="en-US" altLang="ja-JP" b="0" i="1" smtClean="0">
                          <a:latin typeface="Cambria Math" panose="02040503050406030204" pitchFamily="18" charset="0"/>
                        </a:rPr>
                        <m:t>8.88</m:t>
                      </m:r>
                      <m:r>
                        <a:rPr lang="en-US" altLang="ja-JP" i="1">
                          <a:latin typeface="Cambria Math" panose="02040503050406030204" pitchFamily="18" charset="0"/>
                        </a:rPr>
                        <m:t>%</m:t>
                      </m:r>
                    </m:oMath>
                  </m:oMathPara>
                </a14:m>
                <a:endParaRPr lang="en-US" altLang="ja-JP" dirty="0"/>
              </a:p>
              <a:p>
                <a:pPr marL="0" indent="0" algn="ctr">
                  <a:buNone/>
                </a:pPr>
                <a14:m>
                  <m:oMathPara xmlns:m="http://schemas.openxmlformats.org/officeDocument/2006/math">
                    <m:oMathParaPr>
                      <m:jc m:val="centerGroup"/>
                    </m:oMathParaPr>
                    <m:oMath xmlns:m="http://schemas.openxmlformats.org/officeDocument/2006/math">
                      <m:r>
                        <m:rPr>
                          <m:nor/>
                        </m:rPr>
                        <a:rPr lang="en-US" altLang="ja-JP" dirty="0"/>
                        <m:t>2022</m:t>
                      </m:r>
                      <m:r>
                        <m:rPr>
                          <m:nor/>
                        </m:rPr>
                        <a:rPr lang="ja-JP" altLang="en-US" dirty="0"/>
                        <m:t>年の売上げ</m:t>
                      </m:r>
                      <m:r>
                        <m:rPr>
                          <m:nor/>
                        </m:rPr>
                        <a:rPr lang="en-US" altLang="ja-JP" dirty="0"/>
                        <m:t>=</m:t>
                      </m:r>
                      <m:r>
                        <a:rPr lang="en-US" altLang="ja-JP" i="1" smtClean="0">
                          <a:latin typeface="Cambria Math" panose="02040503050406030204" pitchFamily="18" charset="0"/>
                        </a:rPr>
                        <m:t>1</m:t>
                      </m:r>
                      <m:r>
                        <a:rPr lang="en-US" altLang="ja-JP" b="0" i="1" smtClean="0">
                          <a:latin typeface="Cambria Math" panose="02040503050406030204" pitchFamily="18" charset="0"/>
                        </a:rPr>
                        <m:t>0000</m:t>
                      </m:r>
                      <m:r>
                        <a:rPr lang="en-US" altLang="ja-JP" i="1" smtClean="0">
                          <a:latin typeface="Cambria Math" panose="02040503050406030204" pitchFamily="18" charset="0"/>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a:latin typeface="Cambria Math" panose="02040503050406030204" pitchFamily="18" charset="0"/>
                                </a:rPr>
                                <m:t>1+</m:t>
                              </m:r>
                              <m:f>
                                <m:fPr>
                                  <m:ctrlPr>
                                    <a:rPr lang="en-US" altLang="ja-JP" i="1">
                                      <a:latin typeface="Cambria Math" panose="02040503050406030204" pitchFamily="18" charset="0"/>
                                    </a:rPr>
                                  </m:ctrlPr>
                                </m:fPr>
                                <m:num>
                                  <m:r>
                                    <a:rPr lang="en-US" altLang="ja-JP" b="0" i="0" smtClean="0">
                                      <a:latin typeface="Cambria Math" panose="02040503050406030204" pitchFamily="18" charset="0"/>
                                    </a:rPr>
                                    <m:t>8.88</m:t>
                                  </m:r>
                                </m:num>
                                <m:den>
                                  <m:r>
                                    <a:rPr lang="en-US" altLang="ja-JP">
                                      <a:latin typeface="Cambria Math" panose="02040503050406030204" pitchFamily="18" charset="0"/>
                                    </a:rPr>
                                    <m:t>100</m:t>
                                  </m:r>
                                </m:den>
                              </m:f>
                            </m:e>
                          </m:d>
                        </m:e>
                        <m:sup>
                          <m:r>
                            <a:rPr lang="en-US" altLang="ja-JP" b="0" i="0" smtClean="0">
                              <a:latin typeface="Cambria Math" panose="02040503050406030204" pitchFamily="18" charset="0"/>
                            </a:rPr>
                            <m:t>10</m:t>
                          </m:r>
                        </m:sup>
                      </m:sSup>
                      <m:r>
                        <a:rPr lang="en-US" altLang="ja-JP">
                          <a:latin typeface="Cambria Math" panose="02040503050406030204" pitchFamily="18" charset="0"/>
                        </a:rPr>
                        <m:t>=</m:t>
                      </m:r>
                      <m:r>
                        <a:rPr lang="en-US" altLang="ja-JP" b="0" i="0" smtClean="0">
                          <a:latin typeface="Cambria Math" panose="02040503050406030204" pitchFamily="18" charset="0"/>
                        </a:rPr>
                        <m:t>$23417</m:t>
                      </m:r>
                    </m:oMath>
                  </m:oMathPara>
                </a14:m>
                <a:endParaRPr lang="en-US" altLang="ja-JP" dirty="0"/>
              </a:p>
              <a:p>
                <a:pPr marL="0" indent="0" algn="ctr">
                  <a:buNone/>
                </a:pPr>
                <a:endParaRPr kumimoji="1" lang="en-US" altLang="ja-JP" dirty="0"/>
              </a:p>
            </p:txBody>
          </p:sp>
        </mc:Choice>
        <mc:Fallback>
          <p:sp>
            <p:nvSpPr>
              <p:cNvPr id="4" name="コンテンツ プレースホルダー 3">
                <a:extLst>
                  <a:ext uri="{FF2B5EF4-FFF2-40B4-BE49-F238E27FC236}">
                    <a16:creationId xmlns:a16="http://schemas.microsoft.com/office/drawing/2014/main" id="{C1381268-6007-3736-0A68-0AD7B00411E2}"/>
                  </a:ext>
                </a:extLst>
              </p:cNvPr>
              <p:cNvSpPr>
                <a:spLocks noGrp="1" noRot="1" noChangeAspect="1" noMove="1" noResize="1" noEditPoints="1" noAdjustHandles="1" noChangeArrowheads="1" noChangeShapeType="1" noTextEdit="1"/>
              </p:cNvSpPr>
              <p:nvPr>
                <p:ph sz="quarter" idx="14"/>
              </p:nvPr>
            </p:nvSpPr>
            <p:spPr>
              <a:xfrm>
                <a:off x="317241" y="1455576"/>
                <a:ext cx="11591536" cy="5059524"/>
              </a:xfrm>
              <a:blipFill>
                <a:blip r:embed="rId2"/>
                <a:stretch>
                  <a:fillRect l="-210" t="-8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74346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C723A9-8341-2B07-99BF-35BAD254DB3D}"/>
              </a:ext>
            </a:extLst>
          </p:cNvPr>
          <p:cNvSpPr>
            <a:spLocks noGrp="1"/>
          </p:cNvSpPr>
          <p:nvPr>
            <p:ph type="title"/>
          </p:nvPr>
        </p:nvSpPr>
        <p:spPr/>
        <p:txBody>
          <a:bodyPr/>
          <a:lstStyle/>
          <a:p>
            <a:r>
              <a:rPr lang="ja-JP" altLang="en-US" dirty="0">
                <a:solidFill>
                  <a:schemeClr val="accent1"/>
                </a:solidFill>
              </a:rPr>
              <a:t>業界構造の変化が加速しており、</a:t>
            </a:r>
            <a:r>
              <a:rPr lang="en-US" altLang="ja-JP" dirty="0">
                <a:solidFill>
                  <a:schemeClr val="accent1"/>
                </a:solidFill>
              </a:rPr>
              <a:t>A</a:t>
            </a:r>
            <a:r>
              <a:rPr lang="ja-JP" altLang="en-US" dirty="0">
                <a:solidFill>
                  <a:schemeClr val="accent1"/>
                </a:solidFill>
              </a:rPr>
              <a:t>社には早急な対応が求められる</a:t>
            </a:r>
            <a:endParaRPr kumimoji="1" lang="ja-JP" altLang="en-US" dirty="0">
              <a:solidFill>
                <a:schemeClr val="accent1"/>
              </a:solidFill>
            </a:endParaRPr>
          </a:p>
        </p:txBody>
      </p:sp>
      <p:sp>
        <p:nvSpPr>
          <p:cNvPr id="3" name="コンテンツ プレースホルダー 2">
            <a:extLst>
              <a:ext uri="{FF2B5EF4-FFF2-40B4-BE49-F238E27FC236}">
                <a16:creationId xmlns:a16="http://schemas.microsoft.com/office/drawing/2014/main" id="{85D38635-D422-912B-0A3F-45CEE81E7EAB}"/>
              </a:ext>
            </a:extLst>
          </p:cNvPr>
          <p:cNvSpPr>
            <a:spLocks noGrp="1"/>
          </p:cNvSpPr>
          <p:nvPr>
            <p:ph sz="quarter" idx="13"/>
          </p:nvPr>
        </p:nvSpPr>
        <p:spPr>
          <a:xfrm>
            <a:off x="317241" y="672225"/>
            <a:ext cx="11591536" cy="1113032"/>
          </a:xfrm>
        </p:spPr>
        <p:txBody>
          <a:bodyPr>
            <a:normAutofit/>
          </a:bodyPr>
          <a:lstStyle/>
          <a:p>
            <a:r>
              <a:rPr lang="ja-JP" altLang="en-US" dirty="0"/>
              <a:t>かつて業界トップであった</a:t>
            </a:r>
            <a:r>
              <a:rPr lang="en-US" altLang="ja-JP" dirty="0"/>
              <a:t>A</a:t>
            </a:r>
            <a:r>
              <a:rPr lang="ja-JP" altLang="en-US" dirty="0"/>
              <a:t>・</a:t>
            </a:r>
            <a:r>
              <a:rPr lang="en-US" altLang="ja-JP" dirty="0"/>
              <a:t>B</a:t>
            </a:r>
            <a:r>
              <a:rPr lang="ja-JP" altLang="en-US" dirty="0"/>
              <a:t>社の売上が継続的に下落しており、業界構造の変化が明確に表れている。</a:t>
            </a:r>
            <a:endParaRPr lang="en-US" altLang="ja-JP" dirty="0"/>
          </a:p>
          <a:p>
            <a:r>
              <a:rPr lang="ja-JP" altLang="en-US" dirty="0"/>
              <a:t>新たな業界ルールに対応・創出した新興</a:t>
            </a:r>
            <a:r>
              <a:rPr lang="en-US" altLang="ja-JP" dirty="0"/>
              <a:t>C</a:t>
            </a:r>
            <a:r>
              <a:rPr lang="ja-JP" altLang="en-US" dirty="0"/>
              <a:t>・</a:t>
            </a:r>
            <a:r>
              <a:rPr lang="en-US" altLang="ja-JP" dirty="0"/>
              <a:t>D</a:t>
            </a:r>
            <a:r>
              <a:rPr lang="ja-JP" altLang="en-US" dirty="0"/>
              <a:t>社は、売上を急速に拡大させている。</a:t>
            </a:r>
            <a:endParaRPr lang="en-US" altLang="ja-JP" dirty="0"/>
          </a:p>
          <a:p>
            <a:r>
              <a:rPr lang="en-US" altLang="ja-JP" dirty="0"/>
              <a:t>A</a:t>
            </a:r>
            <a:r>
              <a:rPr lang="ja-JP" altLang="en-US" dirty="0"/>
              <a:t>社が今後も競争優位を維持するためには、業界変化への迅速な適応が不可欠である。</a:t>
            </a:r>
            <a:endParaRPr kumimoji="1" lang="ja-JP" altLang="en-US" dirty="0"/>
          </a:p>
        </p:txBody>
      </p:sp>
      <p:graphicFrame>
        <p:nvGraphicFramePr>
          <p:cNvPr id="7" name="グラフ 6">
            <a:extLst>
              <a:ext uri="{FF2B5EF4-FFF2-40B4-BE49-F238E27FC236}">
                <a16:creationId xmlns:a16="http://schemas.microsoft.com/office/drawing/2014/main" id="{797DB826-1786-E5AD-F897-AA8CFBEB5CFE}"/>
              </a:ext>
            </a:extLst>
          </p:cNvPr>
          <p:cNvGraphicFramePr>
            <a:graphicFrameLocks/>
          </p:cNvGraphicFramePr>
          <p:nvPr>
            <p:extLst>
              <p:ext uri="{D42A27DB-BD31-4B8C-83A1-F6EECF244321}">
                <p14:modId xmlns:p14="http://schemas.microsoft.com/office/powerpoint/2010/main" val="618602860"/>
              </p:ext>
            </p:extLst>
          </p:nvPr>
        </p:nvGraphicFramePr>
        <p:xfrm>
          <a:off x="1062689" y="2656106"/>
          <a:ext cx="4541324" cy="30588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グラフ 7">
            <a:extLst>
              <a:ext uri="{FF2B5EF4-FFF2-40B4-BE49-F238E27FC236}">
                <a16:creationId xmlns:a16="http://schemas.microsoft.com/office/drawing/2014/main" id="{6AA02316-F0F3-CA8C-D127-0E0F6B916264}"/>
              </a:ext>
            </a:extLst>
          </p:cNvPr>
          <p:cNvGraphicFramePr>
            <a:graphicFrameLocks/>
          </p:cNvGraphicFramePr>
          <p:nvPr>
            <p:extLst>
              <p:ext uri="{D42A27DB-BD31-4B8C-83A1-F6EECF244321}">
                <p14:modId xmlns:p14="http://schemas.microsoft.com/office/powerpoint/2010/main" val="1072298450"/>
              </p:ext>
            </p:extLst>
          </p:nvPr>
        </p:nvGraphicFramePr>
        <p:xfrm>
          <a:off x="6587989" y="2656106"/>
          <a:ext cx="4541322" cy="305889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31611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CFDB97-8F42-4240-7802-E53CFA6DB5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8C8551-4B58-283F-A4B1-6D34D82714BB}"/>
              </a:ext>
            </a:extLst>
          </p:cNvPr>
          <p:cNvSpPr>
            <a:spLocks noGrp="1"/>
          </p:cNvSpPr>
          <p:nvPr>
            <p:ph type="title"/>
          </p:nvPr>
        </p:nvSpPr>
        <p:spPr/>
        <p:txBody>
          <a:bodyPr/>
          <a:lstStyle/>
          <a:p>
            <a:r>
              <a:rPr kumimoji="1" lang="ja-JP" altLang="en-US" dirty="0"/>
              <a:t>メモ</a:t>
            </a:r>
          </a:p>
        </p:txBody>
      </p:sp>
      <p:sp>
        <p:nvSpPr>
          <p:cNvPr id="3" name="コンテンツ プレースホルダー 2">
            <a:extLst>
              <a:ext uri="{FF2B5EF4-FFF2-40B4-BE49-F238E27FC236}">
                <a16:creationId xmlns:a16="http://schemas.microsoft.com/office/drawing/2014/main" id="{5C242A3D-8A8F-4AE0-750A-F369DD95FE26}"/>
              </a:ext>
            </a:extLst>
          </p:cNvPr>
          <p:cNvSpPr>
            <a:spLocks noGrp="1"/>
          </p:cNvSpPr>
          <p:nvPr>
            <p:ph sz="quarter" idx="13"/>
          </p:nvPr>
        </p:nvSpPr>
        <p:spPr>
          <a:xfrm>
            <a:off x="317241" y="672225"/>
            <a:ext cx="11591536" cy="1153399"/>
          </a:xfrm>
        </p:spPr>
        <p:txBody>
          <a:bodyPr>
            <a:normAutofit/>
          </a:bodyPr>
          <a:lstStyle/>
          <a:p>
            <a:r>
              <a:rPr kumimoji="1" lang="ja-JP" altLang="en-US" dirty="0"/>
              <a:t>以前の業界リーダー企業の両方が業界構造変化に対応できていないことを表現するため、</a:t>
            </a:r>
            <a:r>
              <a:rPr kumimoji="1" lang="en-US" altLang="ja-JP" dirty="0"/>
              <a:t>A</a:t>
            </a:r>
            <a:r>
              <a:rPr kumimoji="1" lang="ja-JP" altLang="en-US" dirty="0"/>
              <a:t>と</a:t>
            </a:r>
            <a:r>
              <a:rPr kumimoji="1" lang="en-US" altLang="ja-JP" dirty="0"/>
              <a:t>B</a:t>
            </a:r>
            <a:r>
              <a:rPr kumimoji="1" lang="ja-JP" altLang="en-US" dirty="0"/>
              <a:t>の売上げ推移を個別に記載</a:t>
            </a:r>
            <a:endParaRPr kumimoji="1" lang="en-US" altLang="ja-JP" dirty="0"/>
          </a:p>
          <a:p>
            <a:r>
              <a:rPr kumimoji="1" lang="ja-JP" altLang="en-US" dirty="0"/>
              <a:t>業界構造に対応している新興企業群について表現するため、</a:t>
            </a:r>
            <a:r>
              <a:rPr kumimoji="1" lang="en-US" altLang="ja-JP" dirty="0"/>
              <a:t>C</a:t>
            </a:r>
            <a:r>
              <a:rPr kumimoji="1" lang="ja-JP" altLang="en-US" dirty="0"/>
              <a:t>と</a:t>
            </a:r>
            <a:r>
              <a:rPr kumimoji="1" lang="en-US" altLang="ja-JP" dirty="0"/>
              <a:t>D</a:t>
            </a:r>
            <a:r>
              <a:rPr lang="ja-JP" altLang="en-US" dirty="0"/>
              <a:t>の売上げの和を記載</a:t>
            </a:r>
            <a:endParaRPr lang="en-US" altLang="ja-JP" dirty="0"/>
          </a:p>
          <a:p>
            <a:r>
              <a:rPr lang="en-US" altLang="ja-JP" dirty="0"/>
              <a:t>“</a:t>
            </a:r>
            <a:r>
              <a:rPr lang="ja-JP" altLang="en-US" dirty="0"/>
              <a:t>売上げ</a:t>
            </a:r>
            <a:r>
              <a:rPr lang="en-US" altLang="ja-JP" dirty="0"/>
              <a:t>”</a:t>
            </a:r>
            <a:r>
              <a:rPr lang="ja-JP" altLang="en-US" dirty="0"/>
              <a:t>の表記に注意。シェア率のほうが伝わりやすいが使ってもよかったのか？</a:t>
            </a:r>
            <a:endParaRPr lang="en-US" altLang="ja-JP" dirty="0"/>
          </a:p>
          <a:p>
            <a:pPr marL="0" indent="0">
              <a:buNone/>
            </a:pPr>
            <a:endParaRPr kumimoji="1" lang="ja-JP" altLang="en-US" dirty="0"/>
          </a:p>
        </p:txBody>
      </p:sp>
      <p:graphicFrame>
        <p:nvGraphicFramePr>
          <p:cNvPr id="13" name="表 12">
            <a:extLst>
              <a:ext uri="{FF2B5EF4-FFF2-40B4-BE49-F238E27FC236}">
                <a16:creationId xmlns:a16="http://schemas.microsoft.com/office/drawing/2014/main" id="{C24F9B14-979E-8A0D-79BB-0B4DF4207656}"/>
              </a:ext>
            </a:extLst>
          </p:cNvPr>
          <p:cNvGraphicFramePr>
            <a:graphicFrameLocks noGrp="1"/>
          </p:cNvGraphicFramePr>
          <p:nvPr>
            <p:extLst>
              <p:ext uri="{D42A27DB-BD31-4B8C-83A1-F6EECF244321}">
                <p14:modId xmlns:p14="http://schemas.microsoft.com/office/powerpoint/2010/main" val="2816259747"/>
              </p:ext>
            </p:extLst>
          </p:nvPr>
        </p:nvGraphicFramePr>
        <p:xfrm>
          <a:off x="1772653" y="1825624"/>
          <a:ext cx="8646693" cy="4360154"/>
        </p:xfrm>
        <a:graphic>
          <a:graphicData uri="http://schemas.openxmlformats.org/drawingml/2006/table">
            <a:tbl>
              <a:tblPr/>
              <a:tblGrid>
                <a:gridCol w="192059">
                  <a:extLst>
                    <a:ext uri="{9D8B030D-6E8A-4147-A177-3AD203B41FA5}">
                      <a16:colId xmlns:a16="http://schemas.microsoft.com/office/drawing/2014/main" val="1956876610"/>
                    </a:ext>
                  </a:extLst>
                </a:gridCol>
                <a:gridCol w="1044326">
                  <a:extLst>
                    <a:ext uri="{9D8B030D-6E8A-4147-A177-3AD203B41FA5}">
                      <a16:colId xmlns:a16="http://schemas.microsoft.com/office/drawing/2014/main" val="833490783"/>
                    </a:ext>
                  </a:extLst>
                </a:gridCol>
                <a:gridCol w="2016628">
                  <a:extLst>
                    <a:ext uri="{9D8B030D-6E8A-4147-A177-3AD203B41FA5}">
                      <a16:colId xmlns:a16="http://schemas.microsoft.com/office/drawing/2014/main" val="137438912"/>
                    </a:ext>
                  </a:extLst>
                </a:gridCol>
                <a:gridCol w="864269">
                  <a:extLst>
                    <a:ext uri="{9D8B030D-6E8A-4147-A177-3AD203B41FA5}">
                      <a16:colId xmlns:a16="http://schemas.microsoft.com/office/drawing/2014/main" val="803014006"/>
                    </a:ext>
                  </a:extLst>
                </a:gridCol>
                <a:gridCol w="864269">
                  <a:extLst>
                    <a:ext uri="{9D8B030D-6E8A-4147-A177-3AD203B41FA5}">
                      <a16:colId xmlns:a16="http://schemas.microsoft.com/office/drawing/2014/main" val="19018582"/>
                    </a:ext>
                  </a:extLst>
                </a:gridCol>
                <a:gridCol w="864269">
                  <a:extLst>
                    <a:ext uri="{9D8B030D-6E8A-4147-A177-3AD203B41FA5}">
                      <a16:colId xmlns:a16="http://schemas.microsoft.com/office/drawing/2014/main" val="553733"/>
                    </a:ext>
                  </a:extLst>
                </a:gridCol>
                <a:gridCol w="864269">
                  <a:extLst>
                    <a:ext uri="{9D8B030D-6E8A-4147-A177-3AD203B41FA5}">
                      <a16:colId xmlns:a16="http://schemas.microsoft.com/office/drawing/2014/main" val="1221658609"/>
                    </a:ext>
                  </a:extLst>
                </a:gridCol>
                <a:gridCol w="864269">
                  <a:extLst>
                    <a:ext uri="{9D8B030D-6E8A-4147-A177-3AD203B41FA5}">
                      <a16:colId xmlns:a16="http://schemas.microsoft.com/office/drawing/2014/main" val="3109958290"/>
                    </a:ext>
                  </a:extLst>
                </a:gridCol>
                <a:gridCol w="864269">
                  <a:extLst>
                    <a:ext uri="{9D8B030D-6E8A-4147-A177-3AD203B41FA5}">
                      <a16:colId xmlns:a16="http://schemas.microsoft.com/office/drawing/2014/main" val="3378586897"/>
                    </a:ext>
                  </a:extLst>
                </a:gridCol>
                <a:gridCol w="208066">
                  <a:extLst>
                    <a:ext uri="{9D8B030D-6E8A-4147-A177-3AD203B41FA5}">
                      <a16:colId xmlns:a16="http://schemas.microsoft.com/office/drawing/2014/main" val="2757489823"/>
                    </a:ext>
                  </a:extLst>
                </a:gridCol>
              </a:tblGrid>
              <a:tr h="375377">
                <a:tc>
                  <a:txBody>
                    <a:bodyPr/>
                    <a:lstStyle/>
                    <a:p>
                      <a:pPr algn="r"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データ種類</a:t>
                      </a:r>
                    </a:p>
                  </a:txBody>
                  <a:tcPr marL="6781" marR="180000"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l"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項目</a:t>
                      </a:r>
                    </a:p>
                  </a:txBody>
                  <a:tcPr marL="6781" marR="6781" marT="678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2014</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年</a:t>
                      </a:r>
                    </a:p>
                  </a:txBody>
                  <a:tcPr marL="6781" marR="6781" marT="678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2015</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年</a:t>
                      </a:r>
                    </a:p>
                  </a:txBody>
                  <a:tcPr marL="6781" marR="6781"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2016</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年</a:t>
                      </a:r>
                    </a:p>
                  </a:txBody>
                  <a:tcPr marL="6781" marR="6781"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2017</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年</a:t>
                      </a:r>
                    </a:p>
                  </a:txBody>
                  <a:tcPr marL="6781" marR="6781"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2018</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年</a:t>
                      </a:r>
                    </a:p>
                  </a:txBody>
                  <a:tcPr marL="6781" marR="6781"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2019</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年</a:t>
                      </a:r>
                    </a:p>
                  </a:txBody>
                  <a:tcPr marL="6781" marR="6781"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tc>
                  <a:txBody>
                    <a:bodyPr/>
                    <a:lstStyle/>
                    <a:p>
                      <a:pPr algn="r"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47979715"/>
                  </a:ext>
                </a:extLst>
              </a:tr>
              <a:tr h="375377">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生データ</a:t>
                      </a:r>
                    </a:p>
                  </a:txBody>
                  <a:tcPr marL="6781" marR="180000"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en-US" sz="1200" b="0" i="0" u="none" strike="noStrike">
                          <a:solidFill>
                            <a:srgbClr val="000000"/>
                          </a:solidFill>
                          <a:effectLst/>
                          <a:latin typeface="游ゴシック" panose="020B0400000000000000" pitchFamily="50" charset="-128"/>
                          <a:ea typeface="游ゴシック" panose="020B0400000000000000" pitchFamily="50" charset="-128"/>
                        </a:rPr>
                        <a:t>A</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社の売上げ</a:t>
                      </a:r>
                    </a:p>
                  </a:txBody>
                  <a:tcPr marL="6781" marR="6781" marT="6781" marB="0" anchor="ctr">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950 </a:t>
                      </a:r>
                    </a:p>
                  </a:txBody>
                  <a:tcPr marL="6781" marR="6781" marT="6781" marB="0" anchor="ctr">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1,000 </a:t>
                      </a:r>
                    </a:p>
                  </a:txBody>
                  <a:tcPr marL="6781" marR="6781"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900 </a:t>
                      </a:r>
                    </a:p>
                  </a:txBody>
                  <a:tcPr marL="6781" marR="6781"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800 </a:t>
                      </a:r>
                    </a:p>
                  </a:txBody>
                  <a:tcPr marL="6781" marR="6781"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750 </a:t>
                      </a:r>
                    </a:p>
                  </a:txBody>
                  <a:tcPr marL="6781" marR="6781"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750 </a:t>
                      </a:r>
                    </a:p>
                  </a:txBody>
                  <a:tcPr marL="6781" marR="6781"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w="25400" cap="flat" cmpd="dbl"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56364674"/>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a:noFill/>
                    </a:lnB>
                    <a:solidFill>
                      <a:srgbClr val="FFFFFF"/>
                    </a:solidFill>
                  </a:tcPr>
                </a:tc>
                <a:tc>
                  <a:txBody>
                    <a:bodyPr/>
                    <a:lstStyle/>
                    <a:p>
                      <a:pPr algn="l" fontAlgn="ctr">
                        <a:buNone/>
                      </a:pPr>
                      <a:r>
                        <a:rPr lang="en-US" sz="1200" b="0" i="0" u="none" strike="noStrike">
                          <a:solidFill>
                            <a:srgbClr val="000000"/>
                          </a:solidFill>
                          <a:effectLst/>
                          <a:latin typeface="游ゴシック" panose="020B0400000000000000" pitchFamily="50" charset="-128"/>
                          <a:ea typeface="游ゴシック" panose="020B0400000000000000" pitchFamily="50" charset="-128"/>
                        </a:rPr>
                        <a:t>B</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社の売上げ</a:t>
                      </a:r>
                    </a:p>
                  </a:txBody>
                  <a:tcPr marL="6781" marR="6781" marT="6781"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900 </a:t>
                      </a:r>
                    </a:p>
                  </a:txBody>
                  <a:tcPr marL="6781" marR="6781" marT="6781"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800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750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700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600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600 </a:t>
                      </a:r>
                    </a:p>
                  </a:txBody>
                  <a:tcPr marL="6781" marR="6781"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extLst>
                  <a:ext uri="{0D108BD9-81ED-4DB2-BD59-A6C34878D82A}">
                    <a16:rowId xmlns:a16="http://schemas.microsoft.com/office/drawing/2014/main" val="3389300735"/>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tc>
                  <a:txBody>
                    <a:bodyPr/>
                    <a:lstStyle/>
                    <a:p>
                      <a:pPr algn="r"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新興</a:t>
                      </a: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C</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社の売上げ</a:t>
                      </a:r>
                    </a:p>
                  </a:txBody>
                  <a:tcPr marL="6781" marR="6781" marT="6781"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 </a:t>
                      </a:r>
                    </a:p>
                  </a:txBody>
                  <a:tcPr marL="6781" marR="6781" marT="6781"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150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225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275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315 </a:t>
                      </a:r>
                    </a:p>
                  </a:txBody>
                  <a:tcPr marL="6781" marR="6781"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extLst>
                  <a:ext uri="{0D108BD9-81ED-4DB2-BD59-A6C34878D82A}">
                    <a16:rowId xmlns:a16="http://schemas.microsoft.com/office/drawing/2014/main" val="3971900657"/>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新興</a:t>
                      </a: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D</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社の売上げ</a:t>
                      </a:r>
                    </a:p>
                  </a:txBody>
                  <a:tcPr marL="6781" marR="6781" marT="678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 </a:t>
                      </a:r>
                    </a:p>
                  </a:txBody>
                  <a:tcPr marL="6781" marR="6781" marT="6781"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70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100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130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180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200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3230810"/>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計算値</a:t>
                      </a:r>
                    </a:p>
                  </a:txBody>
                  <a:tcPr marL="6781" marR="180000"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4</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社合計売上げ</a:t>
                      </a:r>
                    </a:p>
                  </a:txBody>
                  <a:tcPr marL="6781" marR="6781" marT="678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1,850 </a:t>
                      </a:r>
                    </a:p>
                  </a:txBody>
                  <a:tcPr marL="6781" marR="6781" marT="678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2,020 </a:t>
                      </a:r>
                    </a:p>
                  </a:txBody>
                  <a:tcPr marL="6781" marR="6781"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1,950 </a:t>
                      </a:r>
                    </a:p>
                  </a:txBody>
                  <a:tcPr marL="6781" marR="6781"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1,855 </a:t>
                      </a:r>
                    </a:p>
                  </a:txBody>
                  <a:tcPr marL="6781" marR="6781"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1,805 </a:t>
                      </a:r>
                    </a:p>
                  </a:txBody>
                  <a:tcPr marL="6781" marR="6781"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1,865 </a:t>
                      </a:r>
                    </a:p>
                  </a:txBody>
                  <a:tcPr marL="6781" marR="6781"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673952241"/>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a:noFill/>
                    </a:lnB>
                    <a:solidFill>
                      <a:srgbClr val="FFFFFF"/>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A</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a:t>
                      </a: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B</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社の合計売上げ</a:t>
                      </a:r>
                    </a:p>
                  </a:txBody>
                  <a:tcPr marL="6781" marR="6781" marT="6781"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1,850 </a:t>
                      </a:r>
                    </a:p>
                  </a:txBody>
                  <a:tcPr marL="6781" marR="6781" marT="6781"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1,800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1,650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1,500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1,350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1,350 </a:t>
                      </a:r>
                    </a:p>
                  </a:txBody>
                  <a:tcPr marL="6781" marR="6781"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extLst>
                  <a:ext uri="{0D108BD9-81ED-4DB2-BD59-A6C34878D82A}">
                    <a16:rowId xmlns:a16="http://schemas.microsoft.com/office/drawing/2014/main" val="1649691055"/>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a:noFill/>
                    </a:lnB>
                    <a:solidFill>
                      <a:srgbClr val="FFFFFF"/>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C</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a:t>
                      </a: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D</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社の合計売上げ</a:t>
                      </a:r>
                    </a:p>
                  </a:txBody>
                  <a:tcPr marL="6781" marR="6781" marT="6781"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 </a:t>
                      </a:r>
                    </a:p>
                  </a:txBody>
                  <a:tcPr marL="6781" marR="6781" marT="6781"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220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300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355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455 </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515 </a:t>
                      </a:r>
                    </a:p>
                  </a:txBody>
                  <a:tcPr marL="6781" marR="6781"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extLst>
                  <a:ext uri="{0D108BD9-81ED-4DB2-BD59-A6C34878D82A}">
                    <a16:rowId xmlns:a16="http://schemas.microsoft.com/office/drawing/2014/main" val="1788216033"/>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a:noFill/>
                    </a:lnB>
                    <a:solidFill>
                      <a:srgbClr val="FFFFFF"/>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A</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社の売上げ比率</a:t>
                      </a:r>
                    </a:p>
                  </a:txBody>
                  <a:tcPr marL="6781" marR="6781" marT="6781"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51%</a:t>
                      </a:r>
                    </a:p>
                  </a:txBody>
                  <a:tcPr marL="6781" marR="6781" marT="6781"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46%</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43%</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42%</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781" marR="6781"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extLst>
                  <a:ext uri="{0D108BD9-81ED-4DB2-BD59-A6C34878D82A}">
                    <a16:rowId xmlns:a16="http://schemas.microsoft.com/office/drawing/2014/main" val="3003128619"/>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a:noFill/>
                    </a:lnB>
                    <a:solidFill>
                      <a:srgbClr val="FFFFFF"/>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B</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社の売上げ比率</a:t>
                      </a:r>
                    </a:p>
                  </a:txBody>
                  <a:tcPr marL="6781" marR="6781" marT="6781"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49%</a:t>
                      </a:r>
                    </a:p>
                  </a:txBody>
                  <a:tcPr marL="6781" marR="6781" marT="6781"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33%</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32%</a:t>
                      </a:r>
                    </a:p>
                  </a:txBody>
                  <a:tcPr marL="6781" marR="6781"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extLst>
                  <a:ext uri="{0D108BD9-81ED-4DB2-BD59-A6C34878D82A}">
                    <a16:rowId xmlns:a16="http://schemas.microsoft.com/office/drawing/2014/main" val="863653274"/>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a:noFill/>
                    </a:lnB>
                    <a:solidFill>
                      <a:srgbClr val="FFFFFF"/>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C</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社の売上げ比率</a:t>
                      </a:r>
                    </a:p>
                  </a:txBody>
                  <a:tcPr marL="6781" marR="6781" marT="6781"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6781" marR="6781" marT="6781"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781" marR="6781" marT="6781" marB="0" anchor="ctr">
                    <a:lnL>
                      <a:noFill/>
                    </a:lnL>
                    <a:lnR>
                      <a:noFill/>
                    </a:lnR>
                    <a:lnT>
                      <a:noFill/>
                    </a:lnT>
                    <a:lnB>
                      <a:noFill/>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6781" marR="6781" marT="6781" marB="0" anchor="ctr">
                    <a:lnL>
                      <a:noFill/>
                    </a:lnL>
                    <a:lnR>
                      <a:noFill/>
                    </a:lnR>
                    <a:lnT>
                      <a:noFill/>
                    </a:lnT>
                    <a:lnB>
                      <a:noFill/>
                    </a:lnB>
                    <a:solidFill>
                      <a:srgbClr val="FFFFFF"/>
                    </a:solidFill>
                  </a:tcPr>
                </a:tc>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a:noFill/>
                    </a:lnB>
                    <a:solidFill>
                      <a:srgbClr val="FFFFFF"/>
                    </a:solidFill>
                  </a:tcPr>
                </a:tc>
                <a:extLst>
                  <a:ext uri="{0D108BD9-81ED-4DB2-BD59-A6C34878D82A}">
                    <a16:rowId xmlns:a16="http://schemas.microsoft.com/office/drawing/2014/main" val="2108500973"/>
                  </a:ext>
                </a:extLst>
              </a:tr>
              <a:tr h="360940">
                <a:tc>
                  <a:txBody>
                    <a:bodyPr/>
                    <a:lstStyle/>
                    <a:p>
                      <a:pPr algn="l" fontAlgn="ctr">
                        <a:buNone/>
                      </a:pP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180000"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D</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社の売上げ比率</a:t>
                      </a:r>
                    </a:p>
                  </a:txBody>
                  <a:tcPr marL="6781" marR="6781" marT="678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6781" marR="6781" marT="6781"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781" marR="6781" marT="678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07166084"/>
                  </a:ext>
                </a:extLst>
              </a:tr>
            </a:tbl>
          </a:graphicData>
        </a:graphic>
      </p:graphicFrame>
    </p:spTree>
    <p:extLst>
      <p:ext uri="{BB962C8B-B14F-4D97-AF65-F5344CB8AC3E}">
        <p14:creationId xmlns:p14="http://schemas.microsoft.com/office/powerpoint/2010/main" val="1247265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05A68A-CAEB-162B-FB43-3CCF9CD03B1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90A964D6-56EA-B001-3A3D-C57355ACFCB9}"/>
              </a:ext>
            </a:extLst>
          </p:cNvPr>
          <p:cNvSpPr>
            <a:spLocks noGrp="1"/>
          </p:cNvSpPr>
          <p:nvPr>
            <p:ph sz="quarter" idx="13"/>
          </p:nvPr>
        </p:nvSpPr>
        <p:spPr/>
        <p:txBody>
          <a:bodyPr/>
          <a:lstStyle/>
          <a:p>
            <a:r>
              <a:rPr kumimoji="1" lang="ja-JP" altLang="en-US" dirty="0"/>
              <a:t>マーケットシェア・リーダーのデメリットとして、以下の</a:t>
            </a:r>
            <a:r>
              <a:rPr kumimoji="1" lang="en-US" altLang="ja-JP" dirty="0"/>
              <a:t>4</a:t>
            </a:r>
            <a:r>
              <a:rPr kumimoji="1" lang="ja-JP" altLang="en-US" dirty="0"/>
              <a:t>つが挙げられる。</a:t>
            </a:r>
          </a:p>
        </p:txBody>
      </p:sp>
      <p:sp>
        <p:nvSpPr>
          <p:cNvPr id="4" name="コンテンツ プレースホルダー 3">
            <a:extLst>
              <a:ext uri="{FF2B5EF4-FFF2-40B4-BE49-F238E27FC236}">
                <a16:creationId xmlns:a16="http://schemas.microsoft.com/office/drawing/2014/main" id="{91C399E0-34B4-8035-7AF1-44A71F770994}"/>
              </a:ext>
            </a:extLst>
          </p:cNvPr>
          <p:cNvSpPr>
            <a:spLocks noGrp="1"/>
          </p:cNvSpPr>
          <p:nvPr>
            <p:ph sz="quarter" idx="14"/>
          </p:nvPr>
        </p:nvSpPr>
        <p:spPr/>
        <p:txBody>
          <a:bodyPr/>
          <a:lstStyle/>
          <a:p>
            <a:pPr marL="0" indent="0">
              <a:buNone/>
            </a:pPr>
            <a:r>
              <a:rPr lang="ja-JP" altLang="en-US" b="1" dirty="0"/>
              <a:t>勝者の呪縛</a:t>
            </a:r>
            <a:endParaRPr lang="ja-JP" altLang="en-US" dirty="0"/>
          </a:p>
          <a:p>
            <a:r>
              <a:rPr lang="ja-JP" altLang="en-US" dirty="0"/>
              <a:t>現行の高収益率を誇るビジネスモデルに固執し、新たなイノベーション機会に恵まれない、もしくは破壊的イノベーションに対する投資判断が遅れる。</a:t>
            </a:r>
          </a:p>
          <a:p>
            <a:r>
              <a:rPr lang="ja-JP" altLang="en-US" dirty="0"/>
              <a:t>ノキア：</a:t>
            </a:r>
            <a:r>
              <a:rPr lang="en-US" altLang="ja-JP" dirty="0"/>
              <a:t>2000</a:t>
            </a:r>
            <a:r>
              <a:rPr lang="ja-JP" altLang="en-US" dirty="0"/>
              <a:t>年代初頭に携帯電話市場で約</a:t>
            </a:r>
            <a:r>
              <a:rPr lang="en-US" altLang="ja-JP" dirty="0"/>
              <a:t>40%</a:t>
            </a:r>
            <a:r>
              <a:rPr lang="ja-JP" altLang="en-US" dirty="0"/>
              <a:t>のシェアを保有していたが、スマートフォンへの戦略転換に乗り遅れ、</a:t>
            </a:r>
            <a:r>
              <a:rPr lang="en-US" altLang="ja-JP" dirty="0"/>
              <a:t>2013</a:t>
            </a:r>
            <a:r>
              <a:rPr lang="ja-JP" altLang="en-US" dirty="0"/>
              <a:t>年に携帯電話事業を</a:t>
            </a:r>
            <a:r>
              <a:rPr lang="en-US" altLang="ja-JP" dirty="0"/>
              <a:t>Microsoft</a:t>
            </a:r>
            <a:r>
              <a:rPr lang="ja-JP" altLang="en-US" dirty="0"/>
              <a:t>に売却。</a:t>
            </a:r>
          </a:p>
          <a:p>
            <a:pPr marL="0" indent="0">
              <a:buNone/>
            </a:pPr>
            <a:r>
              <a:rPr lang="ja-JP" altLang="en-US" b="1" dirty="0"/>
              <a:t>独占禁止法抵触リスク</a:t>
            </a:r>
            <a:endParaRPr lang="ja-JP" altLang="en-US" dirty="0"/>
          </a:p>
          <a:p>
            <a:r>
              <a:rPr lang="ja-JP" altLang="en-US" dirty="0"/>
              <a:t>市場支配力が高まるほど、規制当局による監視・是正命令のリスクが増大する。</a:t>
            </a:r>
          </a:p>
          <a:p>
            <a:r>
              <a:rPr lang="en-US" altLang="ja-JP" dirty="0"/>
              <a:t>Google</a:t>
            </a:r>
            <a:r>
              <a:rPr lang="ja-JP" altLang="en-US" dirty="0"/>
              <a:t>：検索エンジン市場で約</a:t>
            </a:r>
            <a:r>
              <a:rPr lang="en-US" altLang="ja-JP" dirty="0"/>
              <a:t>90%</a:t>
            </a:r>
            <a:r>
              <a:rPr lang="ja-JP" altLang="en-US" dirty="0"/>
              <a:t>のシェアを持つ</a:t>
            </a:r>
            <a:r>
              <a:rPr lang="en-US" altLang="ja-JP" dirty="0"/>
              <a:t>Google</a:t>
            </a:r>
            <a:r>
              <a:rPr lang="ja-JP" altLang="en-US" dirty="0"/>
              <a:t>は、米国司法省・</a:t>
            </a:r>
            <a:r>
              <a:rPr lang="en-US" altLang="ja-JP" dirty="0"/>
              <a:t>EU</a:t>
            </a:r>
            <a:r>
              <a:rPr lang="ja-JP" altLang="en-US" dirty="0"/>
              <a:t>から相次いで独占禁止法違反で提訴・制裁金を受けている。</a:t>
            </a:r>
          </a:p>
          <a:p>
            <a:pPr marL="0" indent="0">
              <a:buNone/>
            </a:pPr>
            <a:r>
              <a:rPr lang="ja-JP" altLang="en-US" b="1" dirty="0"/>
              <a:t>集中攻撃リスク</a:t>
            </a:r>
            <a:endParaRPr lang="ja-JP" altLang="en-US" dirty="0"/>
          </a:p>
          <a:p>
            <a:r>
              <a:rPr lang="ja-JP" altLang="en-US" dirty="0"/>
              <a:t>業界</a:t>
            </a:r>
            <a:r>
              <a:rPr lang="en-US" altLang="ja-JP" dirty="0"/>
              <a:t>2</a:t>
            </a:r>
            <a:r>
              <a:rPr lang="ja-JP" altLang="en-US" dirty="0"/>
              <a:t>位以下の競合が、差別化や低価格戦略でシェアリーダーのみをターゲットに攻勢をかけてくる。</a:t>
            </a:r>
          </a:p>
          <a:p>
            <a:r>
              <a:rPr lang="ja-JP" altLang="en-US" dirty="0"/>
              <a:t>フーバー：従来型掃除機メーカーであるフーバーがシェアを握っていた市場に、ダイソンがサイクロン技術という明確な差別化軸で参入。「紙パック不要」という訴求でリーダー企業のビジネスモデルの弱点（消耗品依存の収益構造）を直撃し、プレミアム価格帯でシェアを奪取した。</a:t>
            </a:r>
          </a:p>
          <a:p>
            <a:endParaRPr kumimoji="1" lang="ja-JP" altLang="en-US" dirty="0"/>
          </a:p>
        </p:txBody>
      </p:sp>
    </p:spTree>
    <p:extLst>
      <p:ext uri="{BB962C8B-B14F-4D97-AF65-F5344CB8AC3E}">
        <p14:creationId xmlns:p14="http://schemas.microsoft.com/office/powerpoint/2010/main" val="2828081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A0324-ECC0-74AC-0243-BD3E73A135BE}"/>
            </a:ext>
          </a:extLst>
        </p:cNvPr>
        <p:cNvGrpSpPr/>
        <p:nvPr/>
      </p:nvGrpSpPr>
      <p:grpSpPr>
        <a:xfrm>
          <a:off x="0" y="0"/>
          <a:ext cx="0" cy="0"/>
          <a:chOff x="0" y="0"/>
          <a:chExt cx="0" cy="0"/>
        </a:xfrm>
      </p:grpSpPr>
      <p:sp>
        <p:nvSpPr>
          <p:cNvPr id="32" name="楕円 31">
            <a:extLst>
              <a:ext uri="{FF2B5EF4-FFF2-40B4-BE49-F238E27FC236}">
                <a16:creationId xmlns:a16="http://schemas.microsoft.com/office/drawing/2014/main" id="{ED9CF792-A3D8-6CE6-E041-39B5E3B3CC93}"/>
              </a:ext>
            </a:extLst>
          </p:cNvPr>
          <p:cNvSpPr/>
          <p:nvPr/>
        </p:nvSpPr>
        <p:spPr>
          <a:xfrm>
            <a:off x="7054768" y="4637775"/>
            <a:ext cx="1332000" cy="1332000"/>
          </a:xfrm>
          <a:prstGeom prst="ellipse">
            <a:avLst/>
          </a:prstGeom>
          <a:solidFill>
            <a:srgbClr val="FBE3D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9AA1CAA6-7B5A-01C3-07A4-AFA070A44EA7}"/>
              </a:ext>
            </a:extLst>
          </p:cNvPr>
          <p:cNvSpPr/>
          <p:nvPr/>
        </p:nvSpPr>
        <p:spPr>
          <a:xfrm>
            <a:off x="4525440" y="2232352"/>
            <a:ext cx="1800000" cy="1800000"/>
          </a:xfrm>
          <a:prstGeom prst="ellipse">
            <a:avLst/>
          </a:prstGeom>
          <a:solidFill>
            <a:srgbClr val="FBE3D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85435EA8-80F8-10AE-E33A-50609A889437}"/>
              </a:ext>
            </a:extLst>
          </p:cNvPr>
          <p:cNvSpPr/>
          <p:nvPr/>
        </p:nvSpPr>
        <p:spPr>
          <a:xfrm>
            <a:off x="6009480" y="2377687"/>
            <a:ext cx="1548000" cy="1548000"/>
          </a:xfrm>
          <a:prstGeom prst="ellipse">
            <a:avLst/>
          </a:prstGeom>
          <a:solidFill>
            <a:srgbClr val="FBE3D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044378D2-7144-2A4B-5A76-45C7784CB780}"/>
              </a:ext>
            </a:extLst>
          </p:cNvPr>
          <p:cNvSpPr/>
          <p:nvPr/>
        </p:nvSpPr>
        <p:spPr>
          <a:xfrm>
            <a:off x="8841948" y="2668558"/>
            <a:ext cx="900000" cy="900000"/>
          </a:xfrm>
          <a:prstGeom prst="ellipse">
            <a:avLst/>
          </a:prstGeom>
          <a:solidFill>
            <a:srgbClr val="FBE3D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233A28B3-9F01-8B3B-D1DC-FDC84BDF6B75}"/>
              </a:ext>
            </a:extLst>
          </p:cNvPr>
          <p:cNvSpPr/>
          <p:nvPr/>
        </p:nvSpPr>
        <p:spPr>
          <a:xfrm>
            <a:off x="4710420" y="4354382"/>
            <a:ext cx="1872000" cy="1872000"/>
          </a:xfrm>
          <a:prstGeom prst="ellipse">
            <a:avLst/>
          </a:prstGeom>
          <a:solidFill>
            <a:srgbClr val="FBE3D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AFBDD9AF-0EDF-8E6C-733A-1F5841B1E8E1}"/>
              </a:ext>
            </a:extLst>
          </p:cNvPr>
          <p:cNvSpPr/>
          <p:nvPr/>
        </p:nvSpPr>
        <p:spPr>
          <a:xfrm>
            <a:off x="5489112" y="4421775"/>
            <a:ext cx="1764000" cy="1764000"/>
          </a:xfrm>
          <a:prstGeom prst="ellipse">
            <a:avLst/>
          </a:prstGeom>
          <a:solidFill>
            <a:srgbClr val="FBE3D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BF5BCA6-5028-5F75-0689-DF3FBC534F25}"/>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98EEBA5E-4433-B1B4-218A-9F77D70BAE44}"/>
              </a:ext>
            </a:extLst>
          </p:cNvPr>
          <p:cNvSpPr>
            <a:spLocks noGrp="1"/>
          </p:cNvSpPr>
          <p:nvPr>
            <p:ph sz="quarter" idx="13"/>
          </p:nvPr>
        </p:nvSpPr>
        <p:spPr>
          <a:xfrm>
            <a:off x="317241" y="672225"/>
            <a:ext cx="11591536" cy="1015716"/>
          </a:xfrm>
        </p:spPr>
        <p:txBody>
          <a:bodyPr>
            <a:normAutofit/>
          </a:bodyPr>
          <a:lstStyle/>
          <a:p>
            <a:r>
              <a:rPr kumimoji="1" lang="en-US" altLang="ja-JP" dirty="0"/>
              <a:t>Q</a:t>
            </a:r>
            <a:r>
              <a:rPr kumimoji="1" lang="ja-JP" altLang="en-US" dirty="0"/>
              <a:t>：なぜ通常の目盛軸ではなく、ログ目盛の軸にマップするのか？</a:t>
            </a:r>
            <a:endParaRPr kumimoji="1" lang="en-US" altLang="ja-JP" dirty="0"/>
          </a:p>
          <a:p>
            <a:r>
              <a:rPr lang="en-US" altLang="ja-JP" dirty="0"/>
              <a:t>A</a:t>
            </a:r>
            <a:r>
              <a:rPr lang="ja-JP" altLang="en-US" dirty="0"/>
              <a:t>：</a:t>
            </a:r>
            <a:r>
              <a:rPr lang="en-US" altLang="ja-JP" dirty="0"/>
              <a:t>RMS</a:t>
            </a:r>
            <a:r>
              <a:rPr lang="ja-JP" altLang="en-US" dirty="0"/>
              <a:t>は競合比という乗法的な指標であるため、</a:t>
            </a:r>
            <a:r>
              <a:rPr lang="en-US" altLang="ja-JP" dirty="0"/>
              <a:t>1.0→2.0</a:t>
            </a:r>
            <a:r>
              <a:rPr lang="ja-JP" altLang="en-US" dirty="0"/>
              <a:t>と</a:t>
            </a:r>
            <a:r>
              <a:rPr lang="en-US" altLang="ja-JP" dirty="0"/>
              <a:t>0.5→1.0</a:t>
            </a:r>
            <a:r>
              <a:rPr lang="ja-JP" altLang="en-US" dirty="0"/>
              <a:t>は同質の</a:t>
            </a:r>
            <a:r>
              <a:rPr lang="en-US" altLang="ja-JP" dirty="0"/>
              <a:t>”</a:t>
            </a:r>
            <a:r>
              <a:rPr lang="ja-JP" altLang="en-US" dirty="0"/>
              <a:t>競合に対する自社の相対的地位が「</a:t>
            </a:r>
            <a:r>
              <a:rPr lang="en-US" altLang="ja-JP" dirty="0"/>
              <a:t>2</a:t>
            </a:r>
            <a:r>
              <a:rPr lang="ja-JP" altLang="en-US" dirty="0"/>
              <a:t>倍に改善した」という</a:t>
            </a:r>
            <a:r>
              <a:rPr lang="en-US" altLang="ja-JP" dirty="0"/>
              <a:t>”</a:t>
            </a:r>
            <a:r>
              <a:rPr lang="ja-JP" altLang="en-US" dirty="0"/>
              <a:t>変化であり、ログ目盛にすることでその等価性を視覚的に正確に表現できる。</a:t>
            </a:r>
            <a:endParaRPr kumimoji="1" lang="ja-JP" altLang="en-US" dirty="0"/>
          </a:p>
        </p:txBody>
      </p:sp>
      <p:grpSp>
        <p:nvGrpSpPr>
          <p:cNvPr id="13" name="グループ化 12">
            <a:extLst>
              <a:ext uri="{FF2B5EF4-FFF2-40B4-BE49-F238E27FC236}">
                <a16:creationId xmlns:a16="http://schemas.microsoft.com/office/drawing/2014/main" id="{94E9F2D5-26C4-AC3F-3737-09A8F9A4FCF7}"/>
              </a:ext>
            </a:extLst>
          </p:cNvPr>
          <p:cNvGrpSpPr/>
          <p:nvPr/>
        </p:nvGrpSpPr>
        <p:grpSpPr>
          <a:xfrm>
            <a:off x="317240" y="2357112"/>
            <a:ext cx="11996680" cy="1568575"/>
            <a:chOff x="317240" y="2987039"/>
            <a:chExt cx="11996680" cy="1568575"/>
          </a:xfrm>
        </p:grpSpPr>
        <p:graphicFrame>
          <p:nvGraphicFramePr>
            <p:cNvPr id="10" name="グラフ 9">
              <a:extLst>
                <a:ext uri="{FF2B5EF4-FFF2-40B4-BE49-F238E27FC236}">
                  <a16:creationId xmlns:a16="http://schemas.microsoft.com/office/drawing/2014/main" id="{82A19872-4A43-BF22-37C8-DF0E4755F085}"/>
                </a:ext>
              </a:extLst>
            </p:cNvPr>
            <p:cNvGraphicFramePr>
              <a:graphicFrameLocks/>
            </p:cNvGraphicFramePr>
            <p:nvPr>
              <p:extLst>
                <p:ext uri="{D42A27DB-BD31-4B8C-83A1-F6EECF244321}">
                  <p14:modId xmlns:p14="http://schemas.microsoft.com/office/powerpoint/2010/main" val="2832483636"/>
                </p:ext>
              </p:extLst>
            </p:nvPr>
          </p:nvGraphicFramePr>
          <p:xfrm>
            <a:off x="317240" y="2987039"/>
            <a:ext cx="11591535" cy="1568575"/>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直線コネクタ 11">
              <a:extLst>
                <a:ext uri="{FF2B5EF4-FFF2-40B4-BE49-F238E27FC236}">
                  <a16:creationId xmlns:a16="http://schemas.microsoft.com/office/drawing/2014/main" id="{D4FD54B5-CE32-C4B5-1448-589ED3B3A368}"/>
                </a:ext>
              </a:extLst>
            </p:cNvPr>
            <p:cNvCxnSpPr/>
            <p:nvPr/>
          </p:nvCxnSpPr>
          <p:spPr>
            <a:xfrm>
              <a:off x="463296" y="3762279"/>
              <a:ext cx="11850624"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pSp>
        <p:nvGrpSpPr>
          <p:cNvPr id="14" name="グループ化 13">
            <a:extLst>
              <a:ext uri="{FF2B5EF4-FFF2-40B4-BE49-F238E27FC236}">
                <a16:creationId xmlns:a16="http://schemas.microsoft.com/office/drawing/2014/main" id="{21F9F30A-FDC4-4552-36B2-39C08F2E83D4}"/>
              </a:ext>
            </a:extLst>
          </p:cNvPr>
          <p:cNvGrpSpPr/>
          <p:nvPr/>
        </p:nvGrpSpPr>
        <p:grpSpPr>
          <a:xfrm>
            <a:off x="317240" y="4470095"/>
            <a:ext cx="11996680" cy="1568575"/>
            <a:chOff x="317240" y="2987039"/>
            <a:chExt cx="11996680" cy="1568575"/>
          </a:xfrm>
        </p:grpSpPr>
        <p:graphicFrame>
          <p:nvGraphicFramePr>
            <p:cNvPr id="15" name="グラフ 14">
              <a:extLst>
                <a:ext uri="{FF2B5EF4-FFF2-40B4-BE49-F238E27FC236}">
                  <a16:creationId xmlns:a16="http://schemas.microsoft.com/office/drawing/2014/main" id="{B789737C-EF52-2C31-18AA-AD98BD22D88A}"/>
                </a:ext>
              </a:extLst>
            </p:cNvPr>
            <p:cNvGraphicFramePr>
              <a:graphicFrameLocks/>
            </p:cNvGraphicFramePr>
            <p:nvPr>
              <p:extLst>
                <p:ext uri="{D42A27DB-BD31-4B8C-83A1-F6EECF244321}">
                  <p14:modId xmlns:p14="http://schemas.microsoft.com/office/powerpoint/2010/main" val="2832483636"/>
                </p:ext>
              </p:extLst>
            </p:nvPr>
          </p:nvGraphicFramePr>
          <p:xfrm>
            <a:off x="317240" y="2987039"/>
            <a:ext cx="11591535" cy="1568575"/>
          </p:xfrm>
          <a:graphic>
            <a:graphicData uri="http://schemas.openxmlformats.org/drawingml/2006/chart">
              <c:chart xmlns:c="http://schemas.openxmlformats.org/drawingml/2006/chart" xmlns:r="http://schemas.openxmlformats.org/officeDocument/2006/relationships" r:id="rId3"/>
            </a:graphicData>
          </a:graphic>
        </p:graphicFrame>
        <p:cxnSp>
          <p:nvCxnSpPr>
            <p:cNvPr id="16" name="直線コネクタ 15">
              <a:extLst>
                <a:ext uri="{FF2B5EF4-FFF2-40B4-BE49-F238E27FC236}">
                  <a16:creationId xmlns:a16="http://schemas.microsoft.com/office/drawing/2014/main" id="{996FDEB0-7BE9-101D-78C5-12BC9BAD6367}"/>
                </a:ext>
              </a:extLst>
            </p:cNvPr>
            <p:cNvCxnSpPr/>
            <p:nvPr/>
          </p:nvCxnSpPr>
          <p:spPr>
            <a:xfrm>
              <a:off x="463296" y="3762279"/>
              <a:ext cx="11850624"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18" name="テキスト ボックス 17">
            <a:extLst>
              <a:ext uri="{FF2B5EF4-FFF2-40B4-BE49-F238E27FC236}">
                <a16:creationId xmlns:a16="http://schemas.microsoft.com/office/drawing/2014/main" id="{78128E21-BC3C-CAE5-FE9C-B9054BE9DDAD}"/>
              </a:ext>
            </a:extLst>
          </p:cNvPr>
          <p:cNvSpPr txBox="1"/>
          <p:nvPr/>
        </p:nvSpPr>
        <p:spPr>
          <a:xfrm>
            <a:off x="5204460" y="2901520"/>
            <a:ext cx="441960" cy="230832"/>
          </a:xfrm>
          <a:prstGeom prst="rect">
            <a:avLst/>
          </a:prstGeom>
          <a:noFill/>
        </p:spPr>
        <p:txBody>
          <a:bodyPr wrap="square" rtlCol="0">
            <a:spAutoFit/>
          </a:bodyPr>
          <a:lstStyle/>
          <a:p>
            <a:pPr algn="ctr"/>
            <a:r>
              <a:rPr kumimoji="1" lang="en-US" altLang="ja-JP" sz="900" dirty="0">
                <a:latin typeface="Meiryo UI" panose="020B0604030504040204" pitchFamily="50" charset="-128"/>
                <a:ea typeface="Meiryo UI" panose="020B0604030504040204" pitchFamily="50" charset="-128"/>
              </a:rPr>
              <a:t>1.33</a:t>
            </a:r>
            <a:endParaRPr kumimoji="1" lang="ja-JP" altLang="en-US" sz="900" dirty="0">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F7F410F9-5BD9-B83E-4274-BD783A672979}"/>
              </a:ext>
            </a:extLst>
          </p:cNvPr>
          <p:cNvSpPr txBox="1"/>
          <p:nvPr/>
        </p:nvSpPr>
        <p:spPr>
          <a:xfrm>
            <a:off x="6562500" y="2901520"/>
            <a:ext cx="441960" cy="230832"/>
          </a:xfrm>
          <a:prstGeom prst="rect">
            <a:avLst/>
          </a:prstGeom>
          <a:noFill/>
        </p:spPr>
        <p:txBody>
          <a:bodyPr wrap="square" rtlCol="0">
            <a:spAutoFit/>
          </a:bodyPr>
          <a:lstStyle/>
          <a:p>
            <a:pPr algn="ctr"/>
            <a:r>
              <a:rPr kumimoji="1" lang="en-US" altLang="ja-JP" sz="900" dirty="0">
                <a:latin typeface="Meiryo UI" panose="020B0604030504040204" pitchFamily="50" charset="-128"/>
                <a:ea typeface="Meiryo UI" panose="020B0604030504040204" pitchFamily="50" charset="-128"/>
              </a:rPr>
              <a:t>0.75</a:t>
            </a:r>
          </a:p>
        </p:txBody>
      </p:sp>
      <p:sp>
        <p:nvSpPr>
          <p:cNvPr id="22" name="テキスト ボックス 21">
            <a:extLst>
              <a:ext uri="{FF2B5EF4-FFF2-40B4-BE49-F238E27FC236}">
                <a16:creationId xmlns:a16="http://schemas.microsoft.com/office/drawing/2014/main" id="{6CACAAE7-F6D9-D02B-2FB2-69D0B7E370FD}"/>
              </a:ext>
            </a:extLst>
          </p:cNvPr>
          <p:cNvSpPr txBox="1"/>
          <p:nvPr/>
        </p:nvSpPr>
        <p:spPr>
          <a:xfrm>
            <a:off x="9070968" y="2901520"/>
            <a:ext cx="441960" cy="230832"/>
          </a:xfrm>
          <a:prstGeom prst="rect">
            <a:avLst/>
          </a:prstGeom>
          <a:noFill/>
        </p:spPr>
        <p:txBody>
          <a:bodyPr wrap="square" rtlCol="0">
            <a:spAutoFit/>
          </a:bodyPr>
          <a:lstStyle/>
          <a:p>
            <a:pPr algn="ctr"/>
            <a:r>
              <a:rPr kumimoji="1" lang="en-US" altLang="ja-JP" sz="900" dirty="0">
                <a:latin typeface="Meiryo UI" panose="020B0604030504040204" pitchFamily="50" charset="-128"/>
                <a:ea typeface="Meiryo UI" panose="020B0604030504040204" pitchFamily="50" charset="-128"/>
              </a:rPr>
              <a:t>0.25</a:t>
            </a:r>
          </a:p>
        </p:txBody>
      </p:sp>
      <p:sp>
        <p:nvSpPr>
          <p:cNvPr id="25" name="テキスト ボックス 24">
            <a:extLst>
              <a:ext uri="{FF2B5EF4-FFF2-40B4-BE49-F238E27FC236}">
                <a16:creationId xmlns:a16="http://schemas.microsoft.com/office/drawing/2014/main" id="{916EBDD9-E863-1C94-F3E1-4BFD57E2085D}"/>
              </a:ext>
            </a:extLst>
          </p:cNvPr>
          <p:cNvSpPr txBox="1"/>
          <p:nvPr/>
        </p:nvSpPr>
        <p:spPr>
          <a:xfrm>
            <a:off x="317240" y="2097024"/>
            <a:ext cx="1800000"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2018</a:t>
            </a:r>
            <a:r>
              <a:rPr kumimoji="1" lang="ja-JP" altLang="en-US" dirty="0">
                <a:latin typeface="Meiryo UI" panose="020B0604030504040204" pitchFamily="50" charset="-128"/>
                <a:ea typeface="Meiryo UI" panose="020B0604030504040204" pitchFamily="50" charset="-128"/>
              </a:rPr>
              <a:t>年</a:t>
            </a:r>
          </a:p>
        </p:txBody>
      </p:sp>
      <p:sp>
        <p:nvSpPr>
          <p:cNvPr id="26" name="テキスト ボックス 25">
            <a:extLst>
              <a:ext uri="{FF2B5EF4-FFF2-40B4-BE49-F238E27FC236}">
                <a16:creationId xmlns:a16="http://schemas.microsoft.com/office/drawing/2014/main" id="{F5470357-014C-CA9D-ADA5-0489273E1C0C}"/>
              </a:ext>
            </a:extLst>
          </p:cNvPr>
          <p:cNvSpPr txBox="1"/>
          <p:nvPr/>
        </p:nvSpPr>
        <p:spPr>
          <a:xfrm>
            <a:off x="317240" y="4020149"/>
            <a:ext cx="1800000"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2019</a:t>
            </a:r>
            <a:r>
              <a:rPr kumimoji="1" lang="ja-JP" altLang="en-US" dirty="0">
                <a:latin typeface="Meiryo UI" panose="020B0604030504040204" pitchFamily="50" charset="-128"/>
                <a:ea typeface="Meiryo UI" panose="020B0604030504040204" pitchFamily="50" charset="-128"/>
              </a:rPr>
              <a:t>年</a:t>
            </a:r>
          </a:p>
        </p:txBody>
      </p:sp>
      <p:sp>
        <p:nvSpPr>
          <p:cNvPr id="29" name="テキスト ボックス 28">
            <a:extLst>
              <a:ext uri="{FF2B5EF4-FFF2-40B4-BE49-F238E27FC236}">
                <a16:creationId xmlns:a16="http://schemas.microsoft.com/office/drawing/2014/main" id="{1C487F36-1D88-9E35-C6EE-718AA0D1D3E1}"/>
              </a:ext>
            </a:extLst>
          </p:cNvPr>
          <p:cNvSpPr txBox="1"/>
          <p:nvPr/>
        </p:nvSpPr>
        <p:spPr>
          <a:xfrm>
            <a:off x="5489112" y="5010376"/>
            <a:ext cx="441960" cy="230832"/>
          </a:xfrm>
          <a:prstGeom prst="rect">
            <a:avLst/>
          </a:prstGeom>
          <a:noFill/>
        </p:spPr>
        <p:txBody>
          <a:bodyPr wrap="square" rtlCol="0">
            <a:spAutoFit/>
          </a:bodyPr>
          <a:lstStyle/>
          <a:p>
            <a:pPr algn="ctr"/>
            <a:r>
              <a:rPr kumimoji="1" lang="en-US" altLang="ja-JP" sz="900" dirty="0">
                <a:latin typeface="Meiryo UI" panose="020B0604030504040204" pitchFamily="50" charset="-128"/>
                <a:ea typeface="Meiryo UI" panose="020B0604030504040204" pitchFamily="50" charset="-128"/>
              </a:rPr>
              <a:t>1.14</a:t>
            </a:r>
            <a:endParaRPr kumimoji="1" lang="ja-JP" altLang="en-US" sz="900" dirty="0">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CCFED6E1-3CCC-E21F-3DA3-3B962B499342}"/>
              </a:ext>
            </a:extLst>
          </p:cNvPr>
          <p:cNvSpPr txBox="1"/>
          <p:nvPr/>
        </p:nvSpPr>
        <p:spPr>
          <a:xfrm>
            <a:off x="6168132" y="5010376"/>
            <a:ext cx="441960" cy="230832"/>
          </a:xfrm>
          <a:prstGeom prst="rect">
            <a:avLst/>
          </a:prstGeom>
          <a:noFill/>
        </p:spPr>
        <p:txBody>
          <a:bodyPr wrap="square" rtlCol="0">
            <a:spAutoFit/>
          </a:bodyPr>
          <a:lstStyle/>
          <a:p>
            <a:pPr algn="ctr"/>
            <a:r>
              <a:rPr kumimoji="1" lang="en-US" altLang="ja-JP" sz="900" dirty="0">
                <a:latin typeface="Meiryo UI" panose="020B0604030504040204" pitchFamily="50" charset="-128"/>
                <a:ea typeface="Meiryo UI" panose="020B0604030504040204" pitchFamily="50" charset="-128"/>
              </a:rPr>
              <a:t>0.88</a:t>
            </a:r>
          </a:p>
        </p:txBody>
      </p:sp>
      <p:sp>
        <p:nvSpPr>
          <p:cNvPr id="33" name="テキスト ボックス 32">
            <a:extLst>
              <a:ext uri="{FF2B5EF4-FFF2-40B4-BE49-F238E27FC236}">
                <a16:creationId xmlns:a16="http://schemas.microsoft.com/office/drawing/2014/main" id="{53FACDF9-B594-7ACD-FAFF-10998D001A48}"/>
              </a:ext>
            </a:extLst>
          </p:cNvPr>
          <p:cNvSpPr txBox="1"/>
          <p:nvPr/>
        </p:nvSpPr>
        <p:spPr>
          <a:xfrm>
            <a:off x="7499788" y="5010376"/>
            <a:ext cx="441960" cy="230832"/>
          </a:xfrm>
          <a:prstGeom prst="rect">
            <a:avLst/>
          </a:prstGeom>
          <a:noFill/>
        </p:spPr>
        <p:txBody>
          <a:bodyPr wrap="square" rtlCol="0">
            <a:spAutoFit/>
          </a:bodyPr>
          <a:lstStyle/>
          <a:p>
            <a:pPr algn="ctr"/>
            <a:r>
              <a:rPr kumimoji="1" lang="en-US" altLang="ja-JP" sz="900" dirty="0">
                <a:latin typeface="Meiryo UI" panose="020B0604030504040204" pitchFamily="50" charset="-128"/>
                <a:ea typeface="Meiryo UI" panose="020B0604030504040204" pitchFamily="50" charset="-128"/>
              </a:rPr>
              <a:t>0.5</a:t>
            </a:r>
            <a:endParaRPr kumimoji="1" lang="ja-JP" altLang="en-US" sz="9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49566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CDD6FF-BE5C-742E-886E-128B8358FB66}"/>
              </a:ext>
            </a:extLst>
          </p:cNvPr>
          <p:cNvSpPr>
            <a:spLocks noGrp="1"/>
          </p:cNvSpPr>
          <p:nvPr>
            <p:ph type="title"/>
          </p:nvPr>
        </p:nvSpPr>
        <p:spPr/>
        <p:txBody>
          <a:bodyPr/>
          <a:lstStyle/>
          <a:p>
            <a:endParaRPr kumimoji="1" lang="ja-JP" alt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B26544F1-4635-DAB7-11C2-B63972385537}"/>
                  </a:ext>
                </a:extLst>
              </p:cNvPr>
              <p:cNvSpPr>
                <a:spLocks noGrp="1"/>
              </p:cNvSpPr>
              <p:nvPr>
                <p:ph sz="quarter" idx="13"/>
              </p:nvPr>
            </p:nvSpPr>
            <p:spPr/>
            <p:txBody>
              <a:bodyPr/>
              <a:lstStyle/>
              <a:p>
                <a:r>
                  <a:rPr kumimoji="1" lang="ja-JP" altLang="en-US" dirty="0"/>
                  <a:t>営業利益を</a:t>
                </a:r>
                <a14:m>
                  <m:oMath xmlns:m="http://schemas.openxmlformats.org/officeDocument/2006/math">
                    <m:r>
                      <a:rPr lang="en-US" altLang="ja-JP" i="1">
                        <a:latin typeface="Cambria Math" panose="02040503050406030204" pitchFamily="18" charset="0"/>
                      </a:rPr>
                      <m:t>𝑦</m:t>
                    </m:r>
                    <m:r>
                      <a:rPr lang="en-US" altLang="ja-JP" i="1">
                        <a:latin typeface="Cambria Math" panose="02040503050406030204" pitchFamily="18" charset="0"/>
                      </a:rPr>
                      <m:t> </m:t>
                    </m:r>
                  </m:oMath>
                </a14:m>
                <a:r>
                  <a:rPr kumimoji="1" lang="ja-JP" altLang="en-US" dirty="0"/>
                  <a:t>、売上げを</a:t>
                </a:r>
                <a14:m>
                  <m:oMath xmlns:m="http://schemas.openxmlformats.org/officeDocument/2006/math">
                    <m:r>
                      <a:rPr lang="en-US" altLang="ja-JP" i="1">
                        <a:latin typeface="Cambria Math" panose="02040503050406030204" pitchFamily="18" charset="0"/>
                      </a:rPr>
                      <m:t>𝑥</m:t>
                    </m:r>
                  </m:oMath>
                </a14:m>
                <a:r>
                  <a:rPr kumimoji="1" lang="ja-JP" altLang="en-US" dirty="0"/>
                  <a:t>とすると、</a:t>
                </a:r>
                <a14:m>
                  <m:oMath xmlns:m="http://schemas.openxmlformats.org/officeDocument/2006/math">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=0.3</m:t>
                    </m:r>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−280</m:t>
                    </m:r>
                    <m:r>
                      <a:rPr lang="ja-JP" altLang="en-US" i="1">
                        <a:latin typeface="Cambria Math" panose="02040503050406030204" pitchFamily="18" charset="0"/>
                      </a:rPr>
                      <m:t>となる。</m:t>
                    </m:r>
                    <m:r>
                      <a:rPr lang="ja-JP" altLang="en-US" i="1" smtClean="0">
                        <a:latin typeface="Cambria Math" panose="02040503050406030204" pitchFamily="18" charset="0"/>
                      </a:rPr>
                      <m:t>よって、</m:t>
                    </m:r>
                  </m:oMath>
                </a14:m>
                <a:r>
                  <a:rPr kumimoji="1" lang="ja-JP" altLang="en-US" dirty="0"/>
                  <a:t>売上げが</a:t>
                </a:r>
                <a:r>
                  <a:rPr kumimoji="1" lang="en-US" altLang="ja-JP" dirty="0"/>
                  <a:t>12</a:t>
                </a:r>
                <a:r>
                  <a:rPr kumimoji="1" lang="ja-JP" altLang="en-US" dirty="0"/>
                  <a:t>億円のときの営業利益は</a:t>
                </a:r>
                <a:r>
                  <a:rPr kumimoji="1" lang="en-US" altLang="ja-JP" dirty="0"/>
                  <a:t>8000</a:t>
                </a:r>
                <a:r>
                  <a:rPr kumimoji="1" lang="ja-JP" altLang="en-US" dirty="0"/>
                  <a:t>万円になる。</a:t>
                </a:r>
                <a:endParaRPr kumimoji="1" lang="en-US" altLang="ja-JP" dirty="0"/>
              </a:p>
              <a:p>
                <a:r>
                  <a:rPr lang="ja-JP" altLang="en-US" dirty="0"/>
                  <a:t>以下の損益分岐グラフから、</a:t>
                </a:r>
                <a:r>
                  <a:rPr lang="en-US" altLang="ja-JP" dirty="0"/>
                  <a:t>9</a:t>
                </a:r>
                <a:r>
                  <a:rPr lang="ja-JP" altLang="en-US" dirty="0"/>
                  <a:t>億</a:t>
                </a:r>
                <a:r>
                  <a:rPr lang="en-US" altLang="ja-JP" dirty="0"/>
                  <a:t>3333</a:t>
                </a:r>
                <a:r>
                  <a:rPr lang="ja-JP" altLang="en-US" dirty="0"/>
                  <a:t>万円が損益分岐点である。</a:t>
                </a:r>
                <a:endParaRPr kumimoji="1" lang="ja-JP" altLang="en-US" dirty="0"/>
              </a:p>
            </p:txBody>
          </p:sp>
        </mc:Choice>
        <mc:Fallback>
          <p:sp>
            <p:nvSpPr>
              <p:cNvPr id="3" name="コンテンツ プレースホルダー 2">
                <a:extLst>
                  <a:ext uri="{FF2B5EF4-FFF2-40B4-BE49-F238E27FC236}">
                    <a16:creationId xmlns:a16="http://schemas.microsoft.com/office/drawing/2014/main" id="{B26544F1-4635-DAB7-11C2-B63972385537}"/>
                  </a:ext>
                </a:extLst>
              </p:cNvPr>
              <p:cNvSpPr>
                <a:spLocks noGrp="1" noRot="1" noChangeAspect="1" noMove="1" noResize="1" noEditPoints="1" noAdjustHandles="1" noChangeArrowheads="1" noChangeShapeType="1" noTextEdit="1"/>
              </p:cNvSpPr>
              <p:nvPr>
                <p:ph sz="quarter" idx="13"/>
              </p:nvPr>
            </p:nvSpPr>
            <p:spPr>
              <a:blipFill>
                <a:blip r:embed="rId2"/>
                <a:stretch>
                  <a:fillRect l="-315" t="-7752" r="-53" b="-3101"/>
                </a:stretch>
              </a:blipFill>
            </p:spPr>
            <p:txBody>
              <a:bodyPr/>
              <a:lstStyle/>
              <a:p>
                <a:r>
                  <a:rPr lang="ja-JP" altLang="en-US">
                    <a:noFill/>
                  </a:rPr>
                  <a:t> </a:t>
                </a:r>
              </a:p>
            </p:txBody>
          </p:sp>
        </mc:Fallback>
      </mc:AlternateContent>
      <p:graphicFrame>
        <p:nvGraphicFramePr>
          <p:cNvPr id="8" name="コンテンツ プレースホルダー 7">
            <a:extLst>
              <a:ext uri="{FF2B5EF4-FFF2-40B4-BE49-F238E27FC236}">
                <a16:creationId xmlns:a16="http://schemas.microsoft.com/office/drawing/2014/main" id="{2A3C6585-DFE7-4DF8-C518-E1F9F53260B2}"/>
              </a:ext>
            </a:extLst>
          </p:cNvPr>
          <p:cNvGraphicFramePr>
            <a:graphicFrameLocks noGrp="1"/>
          </p:cNvGraphicFramePr>
          <p:nvPr>
            <p:ph sz="quarter" idx="14"/>
            <p:extLst>
              <p:ext uri="{D42A27DB-BD31-4B8C-83A1-F6EECF244321}">
                <p14:modId xmlns:p14="http://schemas.microsoft.com/office/powerpoint/2010/main" val="3641575739"/>
              </p:ext>
            </p:extLst>
          </p:nvPr>
        </p:nvGraphicFramePr>
        <p:xfrm>
          <a:off x="317500" y="1455738"/>
          <a:ext cx="11591925" cy="4730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41702121"/>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5911</TotalTime>
  <Words>947</Words>
  <Application>Microsoft Office PowerPoint</Application>
  <PresentationFormat>ワイド画面</PresentationFormat>
  <Paragraphs>166</Paragraphs>
  <Slides>6</Slides>
  <Notes>0</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游ゴシック</vt:lpstr>
      <vt:lpstr>Arial</vt:lpstr>
      <vt:lpstr>Cambria Math</vt:lpstr>
      <vt:lpstr>Wingdings</vt:lpstr>
      <vt:lpstr>デザインの設定</vt:lpstr>
      <vt:lpstr>PowerPoint プレゼンテーション</vt:lpstr>
      <vt:lpstr>業界構造の変化が加速しており、A社には早急な対応が求められる</vt:lpstr>
      <vt:lpstr>メモ</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ishowaseda</dc:creator>
  <cp:lastModifiedBy>ishowaseda</cp:lastModifiedBy>
  <cp:revision>10</cp:revision>
  <dcterms:created xsi:type="dcterms:W3CDTF">2026-04-07T13:27:17Z</dcterms:created>
  <dcterms:modified xsi:type="dcterms:W3CDTF">2026-04-11T15:58:54Z</dcterms:modified>
</cp:coreProperties>
</file>