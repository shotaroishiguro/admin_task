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9" r:id="rId2"/>
    <p:sldId id="270" r:id="rId3"/>
    <p:sldId id="272" r:id="rId4"/>
    <p:sldId id="273" r:id="rId5"/>
    <p:sldId id="274" r:id="rId6"/>
    <p:sldId id="275" r:id="rId7"/>
    <p:sldId id="277" r:id="rId8"/>
    <p:sldId id="278" r:id="rId9"/>
    <p:sldId id="279" r:id="rId10"/>
    <p:sldId id="280"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1_マック顧客のニーズ" id="{03741B19-E003-4BE6-B09E-3C87630FF6A6}">
          <p14:sldIdLst>
            <p14:sldId id="269"/>
          </p14:sldIdLst>
        </p14:section>
        <p14:section name="2.2_鳩サブレーの顧客" id="{E1EC2D75-D604-42CB-8A6E-6627922DF24B}">
          <p14:sldIdLst>
            <p14:sldId id="270"/>
            <p14:sldId id="272"/>
          </p14:sldIdLst>
        </p14:section>
        <p14:section name="2.3_デュポン社のジーンズ広告" id="{FE89CC8F-333F-40E3-B43C-83899F2F5F83}">
          <p14:sldIdLst>
            <p14:sldId id="273"/>
          </p14:sldIdLst>
        </p14:section>
        <p14:section name="2.4_我が家の購買プロセス" id="{FD113EA5-F8D3-4229-B5B3-B11A9F7A977D}">
          <p14:sldIdLst>
            <p14:sldId id="274"/>
          </p14:sldIdLst>
        </p14:section>
        <p14:section name="2.5_コンサルティング起用の購買行動" id="{92D0B29D-A6B7-4A1D-9662-A4C6AB778A91}">
          <p14:sldIdLst>
            <p14:sldId id="275"/>
          </p14:sldIdLst>
        </p14:section>
        <p14:section name="2.6_モービル石油のセグメンテーション" id="{CEA655F8-FAF8-4B64-9808-15FDB7CF3851}">
          <p14:sldIdLst>
            <p14:sldId id="277"/>
            <p14:sldId id="278"/>
          </p14:sldIdLst>
        </p14:section>
        <p14:section name="2.7_デルPCのセグメンテーション" id="{61A6EF0A-BDD5-4903-A6A5-9E8F598AEE36}">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0" autoAdjust="0"/>
    <p:restoredTop sz="82227" autoAdjust="0"/>
  </p:normalViewPr>
  <p:slideViewPr>
    <p:cSldViewPr snapToGrid="0" showGuides="1">
      <p:cViewPr varScale="1">
        <p:scale>
          <a:sx n="108" d="100"/>
          <a:sy n="108" d="100"/>
        </p:scale>
        <p:origin x="34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25CD4-97A0-4A8B-8B68-79239C598E73}" type="datetimeFigureOut">
              <a:rPr kumimoji="1" lang="ja-JP" altLang="en-US" smtClean="0"/>
              <a:t>2026/4/15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FED925-DE13-4A90-A87A-3369165250F3}" type="slidenum">
              <a:rPr kumimoji="1" lang="ja-JP" altLang="en-US" smtClean="0"/>
              <a:t>‹#›</a:t>
            </a:fld>
            <a:endParaRPr kumimoji="1" lang="ja-JP" altLang="en-US"/>
          </a:p>
        </p:txBody>
      </p:sp>
    </p:spTree>
    <p:extLst>
      <p:ext uri="{BB962C8B-B14F-4D97-AF65-F5344CB8AC3E}">
        <p14:creationId xmlns:p14="http://schemas.microsoft.com/office/powerpoint/2010/main" val="37571062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味にバリエーションを増やしたり、持ち歩きしやすいように小型化するなどの商品自体への変更は、ブランドの希薄化を招く恐れあり</a:t>
            </a:r>
            <a:endParaRPr kumimoji="1" lang="en-US" altLang="ja-JP" dirty="0"/>
          </a:p>
          <a:p>
            <a:endParaRPr kumimoji="1" lang="en-US" altLang="ja-JP" dirty="0"/>
          </a:p>
          <a:p>
            <a:r>
              <a:rPr kumimoji="1" lang="ja-JP" altLang="en-US" dirty="0"/>
              <a:t>没案</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小型化、季節感（味編）、ブランドイメージによるグッズ、鎌倉銘菓を明示、ブランド、ランドマーク設置</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新規</a:t>
            </a:r>
            <a:r>
              <a:rPr lang="en-US" altLang="ja-JP" dirty="0"/>
              <a:t>/</a:t>
            </a:r>
            <a:r>
              <a:rPr lang="ja-JP" altLang="en-US"/>
              <a:t>既存の顧客に一つ階層をブレイクダウンできる。</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7FED925-DE13-4A90-A87A-3369165250F3}" type="slidenum">
              <a:rPr kumimoji="1" lang="ja-JP" altLang="en-US" smtClean="0"/>
              <a:t>3</a:t>
            </a:fld>
            <a:endParaRPr kumimoji="1" lang="ja-JP" altLang="en-US"/>
          </a:p>
        </p:txBody>
      </p:sp>
    </p:spTree>
    <p:extLst>
      <p:ext uri="{BB962C8B-B14F-4D97-AF65-F5344CB8AC3E}">
        <p14:creationId xmlns:p14="http://schemas.microsoft.com/office/powerpoint/2010/main" val="8442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個人用と家庭用を別々に記載しようと試みたが、被る部分が多いため断念</a:t>
            </a:r>
          </a:p>
        </p:txBody>
      </p:sp>
      <p:sp>
        <p:nvSpPr>
          <p:cNvPr id="4" name="スライド番号プレースホルダー 3"/>
          <p:cNvSpPr>
            <a:spLocks noGrp="1"/>
          </p:cNvSpPr>
          <p:nvPr>
            <p:ph type="sldNum" sz="quarter" idx="5"/>
          </p:nvPr>
        </p:nvSpPr>
        <p:spPr/>
        <p:txBody>
          <a:bodyPr/>
          <a:lstStyle/>
          <a:p>
            <a:fld id="{C7FED925-DE13-4A90-A87A-3369165250F3}" type="slidenum">
              <a:rPr kumimoji="1" lang="ja-JP" altLang="en-US" smtClean="0"/>
              <a:t>9</a:t>
            </a:fld>
            <a:endParaRPr kumimoji="1" lang="ja-JP" altLang="en-US"/>
          </a:p>
        </p:txBody>
      </p:sp>
    </p:spTree>
    <p:extLst>
      <p:ext uri="{BB962C8B-B14F-4D97-AF65-F5344CB8AC3E}">
        <p14:creationId xmlns:p14="http://schemas.microsoft.com/office/powerpoint/2010/main" val="1082014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6D315-CFA7-F18F-5611-0E390411DD47}"/>
              </a:ext>
            </a:extLst>
          </p:cNvPr>
          <p:cNvSpPr>
            <a:spLocks noGrp="1"/>
          </p:cNvSpPr>
          <p:nvPr>
            <p:ph type="title" hasCustomPrompt="1"/>
          </p:nvPr>
        </p:nvSpPr>
        <p:spPr>
          <a:xfrm>
            <a:off x="317241" y="131860"/>
            <a:ext cx="11551298" cy="474630"/>
          </a:xfrm>
        </p:spPr>
        <p:txBody>
          <a:bodyPr/>
          <a:lstStyle>
            <a:lvl1pPr>
              <a:defRPr sz="2400">
                <a:solidFill>
                  <a:schemeClr val="accent1"/>
                </a:solidFill>
                <a:latin typeface="Meiryo UI" panose="020B0604030504040204" pitchFamily="50" charset="-128"/>
                <a:ea typeface="Meiryo UI" panose="020B0604030504040204" pitchFamily="50" charset="-128"/>
              </a:defRPr>
            </a:lvl1pPr>
          </a:lstStyle>
          <a:p>
            <a:r>
              <a:rPr kumimoji="1" lang="ja-JP" altLang="en-US" dirty="0"/>
              <a:t>スライドメッセージ</a:t>
            </a:r>
          </a:p>
        </p:txBody>
      </p:sp>
      <p:sp>
        <p:nvSpPr>
          <p:cNvPr id="3" name="日付プレースホルダー 2">
            <a:extLst>
              <a:ext uri="{FF2B5EF4-FFF2-40B4-BE49-F238E27FC236}">
                <a16:creationId xmlns:a16="http://schemas.microsoft.com/office/drawing/2014/main" id="{7FDA7B0C-E626-8C86-C3F9-6029BC54B71E}"/>
              </a:ext>
            </a:extLst>
          </p:cNvPr>
          <p:cNvSpPr>
            <a:spLocks noGrp="1"/>
          </p:cNvSpPr>
          <p:nvPr>
            <p:ph type="dt" sz="half" idx="10"/>
          </p:nvPr>
        </p:nvSpPr>
        <p:spPr>
          <a:xfrm>
            <a:off x="838200" y="6356351"/>
            <a:ext cx="2743200" cy="171858"/>
          </a:xfrm>
        </p:spPr>
        <p:txBody>
          <a:bodyPr/>
          <a:lstStyle>
            <a:lvl1pPr>
              <a:defRPr>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2026/4/15</a:t>
            </a:fld>
            <a:endParaRPr lang="ja-JP" altLang="en-US"/>
          </a:p>
        </p:txBody>
      </p:sp>
      <p:sp>
        <p:nvSpPr>
          <p:cNvPr id="4" name="フッター プレースホルダー 3">
            <a:extLst>
              <a:ext uri="{FF2B5EF4-FFF2-40B4-BE49-F238E27FC236}">
                <a16:creationId xmlns:a16="http://schemas.microsoft.com/office/drawing/2014/main" id="{6BFC6DE0-39C8-6F03-0152-8578F7BA9AC8}"/>
              </a:ext>
            </a:extLst>
          </p:cNvPr>
          <p:cNvSpPr>
            <a:spLocks noGrp="1"/>
          </p:cNvSpPr>
          <p:nvPr>
            <p:ph type="ftr" sz="quarter" idx="11"/>
          </p:nvPr>
        </p:nvSpPr>
        <p:spPr>
          <a:xfrm>
            <a:off x="4038600" y="6356351"/>
            <a:ext cx="4114800" cy="171858"/>
          </a:xfrm>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59BE49F0-AEDB-0D71-7A52-F96FE8285EF9}"/>
              </a:ext>
            </a:extLst>
          </p:cNvPr>
          <p:cNvSpPr>
            <a:spLocks noGrp="1"/>
          </p:cNvSpPr>
          <p:nvPr>
            <p:ph type="sldNum" sz="quarter" idx="12"/>
          </p:nvPr>
        </p:nvSpPr>
        <p:spPr>
          <a:xfrm>
            <a:off x="8610600" y="6356351"/>
            <a:ext cx="2743200" cy="171858"/>
          </a:xfrm>
        </p:spPr>
        <p:txBody>
          <a:bodyPr/>
          <a:lstStyle>
            <a:lvl1pPr>
              <a:defRPr>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
        <p:nvSpPr>
          <p:cNvPr id="6" name="コンテンツ プレースホルダー 6">
            <a:extLst>
              <a:ext uri="{FF2B5EF4-FFF2-40B4-BE49-F238E27FC236}">
                <a16:creationId xmlns:a16="http://schemas.microsoft.com/office/drawing/2014/main" id="{05896C3B-FD85-59A7-4E4A-0D29E197E4DE}"/>
              </a:ext>
            </a:extLst>
          </p:cNvPr>
          <p:cNvSpPr>
            <a:spLocks noGrp="1"/>
          </p:cNvSpPr>
          <p:nvPr>
            <p:ph sz="quarter" idx="13" hasCustomPrompt="1"/>
          </p:nvPr>
        </p:nvSpPr>
        <p:spPr>
          <a:xfrm>
            <a:off x="317241" y="672225"/>
            <a:ext cx="11591536" cy="783351"/>
          </a:xfrm>
        </p:spPr>
        <p:txBody>
          <a:bodyPr>
            <a:normAutofit/>
          </a:bodyPr>
          <a:lstStyle>
            <a:lvl1pPr>
              <a:defRPr sz="1800">
                <a:solidFill>
                  <a:schemeClr val="bg2">
                    <a:lumMod val="25000"/>
                  </a:schemeClr>
                </a:solidFill>
                <a:latin typeface="Meiryo UI" panose="020B0604030504040204" pitchFamily="50" charset="-128"/>
                <a:ea typeface="Meiryo UI" panose="020B0604030504040204" pitchFamily="50" charset="-128"/>
              </a:defRPr>
            </a:lvl1pPr>
          </a:lstStyle>
          <a:p>
            <a:pPr lvl="0"/>
            <a:r>
              <a:rPr kumimoji="1" lang="ja-JP" altLang="en-US" dirty="0"/>
              <a:t>概要①</a:t>
            </a:r>
            <a:endParaRPr kumimoji="1" lang="en-US" altLang="ja-JP" dirty="0"/>
          </a:p>
          <a:p>
            <a:pPr lvl="0"/>
            <a:r>
              <a:rPr kumimoji="1" lang="ja-JP" altLang="en-US" dirty="0"/>
              <a:t>概要②</a:t>
            </a:r>
          </a:p>
        </p:txBody>
      </p:sp>
      <p:sp>
        <p:nvSpPr>
          <p:cNvPr id="7" name="コンテンツ プレースホルダー 6">
            <a:extLst>
              <a:ext uri="{FF2B5EF4-FFF2-40B4-BE49-F238E27FC236}">
                <a16:creationId xmlns:a16="http://schemas.microsoft.com/office/drawing/2014/main" id="{1241F936-A09D-5A21-68FF-0035A12F523E}"/>
              </a:ext>
            </a:extLst>
          </p:cNvPr>
          <p:cNvSpPr>
            <a:spLocks noGrp="1"/>
          </p:cNvSpPr>
          <p:nvPr>
            <p:ph sz="quarter" idx="14" hasCustomPrompt="1"/>
          </p:nvPr>
        </p:nvSpPr>
        <p:spPr>
          <a:xfrm>
            <a:off x="317241" y="1455576"/>
            <a:ext cx="11591536" cy="4730198"/>
          </a:xfrm>
        </p:spPr>
        <p:txBody>
          <a:bodyPr>
            <a:normAutofit/>
          </a:bodyPr>
          <a:lstStyle>
            <a:lvl1pPr>
              <a:defRPr sz="1600">
                <a:solidFill>
                  <a:schemeClr val="bg2">
                    <a:lumMod val="25000"/>
                  </a:schemeClr>
                </a:solidFill>
                <a:latin typeface="Meiryo UI" panose="020B0604030504040204" pitchFamily="50" charset="-128"/>
                <a:ea typeface="Meiryo UI" panose="020B0604030504040204" pitchFamily="50" charset="-128"/>
              </a:defRPr>
            </a:lvl1pPr>
            <a:lvl2pPr>
              <a:buFont typeface="Wingdings" panose="05000000000000000000" pitchFamily="2" charset="2"/>
              <a:buChar char="Ø"/>
              <a:defRPr sz="1400">
                <a:solidFill>
                  <a:schemeClr val="bg2">
                    <a:lumMod val="25000"/>
                  </a:schemeClr>
                </a:solidFill>
                <a:latin typeface="Meiryo UI" panose="020B0604030504040204" pitchFamily="50" charset="-128"/>
                <a:ea typeface="Meiryo UI" panose="020B0604030504040204" pitchFamily="50" charset="-128"/>
              </a:defRPr>
            </a:lvl2pPr>
          </a:lstStyle>
          <a:p>
            <a:pPr lvl="0"/>
            <a:r>
              <a:rPr kumimoji="1" lang="ja-JP" altLang="en-US" dirty="0"/>
              <a:t>インデント①</a:t>
            </a:r>
            <a:endParaRPr kumimoji="1" lang="en-US" altLang="ja-JP" dirty="0"/>
          </a:p>
          <a:p>
            <a:pPr lvl="1"/>
            <a:r>
              <a:rPr kumimoji="1" lang="ja-JP" altLang="en-US" dirty="0"/>
              <a:t>インデント②</a:t>
            </a:r>
          </a:p>
        </p:txBody>
      </p:sp>
    </p:spTree>
    <p:extLst>
      <p:ext uri="{BB962C8B-B14F-4D97-AF65-F5344CB8AC3E}">
        <p14:creationId xmlns:p14="http://schemas.microsoft.com/office/powerpoint/2010/main" val="34847504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764A8A-05EF-FF45-EC95-3A9C5909D1E2}"/>
              </a:ext>
            </a:extLst>
          </p:cNvPr>
          <p:cNvSpPr>
            <a:spLocks noGrp="1"/>
          </p:cNvSpPr>
          <p:nvPr>
            <p:ph type="title"/>
          </p:nvPr>
        </p:nvSpPr>
        <p:spPr>
          <a:xfrm>
            <a:off x="317241" y="131860"/>
            <a:ext cx="11551298" cy="474630"/>
          </a:xfrm>
          <a:prstGeom prst="rect">
            <a:avLst/>
          </a:prstGeom>
        </p:spPr>
        <p:txBody>
          <a:bodyPr vert="horz" lIns="91440" tIns="45720" rIns="91440" bIns="45720" rtlCol="0" anchor="ctr">
            <a:noAutofit/>
          </a:bodyPr>
          <a:lstStyle/>
          <a:p>
            <a:r>
              <a:rPr kumimoji="1" lang="ja-JP" altLang="en-US" dirty="0"/>
              <a:t>スライドメッセージ</a:t>
            </a:r>
          </a:p>
        </p:txBody>
      </p:sp>
      <p:sp>
        <p:nvSpPr>
          <p:cNvPr id="3" name="テキスト プレースホルダー 2">
            <a:extLst>
              <a:ext uri="{FF2B5EF4-FFF2-40B4-BE49-F238E27FC236}">
                <a16:creationId xmlns:a16="http://schemas.microsoft.com/office/drawing/2014/main" id="{ED3FD47D-708A-7F8E-1E52-F5921F5509E5}"/>
              </a:ext>
            </a:extLst>
          </p:cNvPr>
          <p:cNvSpPr>
            <a:spLocks noGrp="1"/>
          </p:cNvSpPr>
          <p:nvPr>
            <p:ph type="body" idx="1"/>
          </p:nvPr>
        </p:nvSpPr>
        <p:spPr>
          <a:xfrm>
            <a:off x="838200" y="1825625"/>
            <a:ext cx="10515600" cy="2048101"/>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62AE49-EF35-CCB1-26EF-AC9D5131B276}"/>
              </a:ext>
            </a:extLst>
          </p:cNvPr>
          <p:cNvSpPr>
            <a:spLocks noGrp="1"/>
          </p:cNvSpPr>
          <p:nvPr>
            <p:ph type="dt" sz="half" idx="2"/>
          </p:nvPr>
        </p:nvSpPr>
        <p:spPr>
          <a:xfrm>
            <a:off x="838200" y="6356351"/>
            <a:ext cx="2743200" cy="171858"/>
          </a:xfrm>
          <a:prstGeom prst="rect">
            <a:avLst/>
          </a:prstGeom>
        </p:spPr>
        <p:txBody>
          <a:bodyPr vert="horz" lIns="91440" tIns="45720" rIns="91440" bIns="45720" rtlCol="0" anchor="ctr"/>
          <a:lstStyle>
            <a:lvl1pPr algn="l">
              <a:defRPr sz="1200">
                <a:solidFill>
                  <a:schemeClr val="tx1">
                    <a:tint val="82000"/>
                  </a:schemeClr>
                </a:solidFill>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2026/4/15</a:t>
            </a:fld>
            <a:endParaRPr lang="ja-JP" altLang="en-US"/>
          </a:p>
        </p:txBody>
      </p:sp>
      <p:sp>
        <p:nvSpPr>
          <p:cNvPr id="5" name="フッター プレースホルダー 4">
            <a:extLst>
              <a:ext uri="{FF2B5EF4-FFF2-40B4-BE49-F238E27FC236}">
                <a16:creationId xmlns:a16="http://schemas.microsoft.com/office/drawing/2014/main" id="{291A030F-6976-1B52-C3D0-4273BCA10343}"/>
              </a:ext>
            </a:extLst>
          </p:cNvPr>
          <p:cNvSpPr>
            <a:spLocks noGrp="1"/>
          </p:cNvSpPr>
          <p:nvPr>
            <p:ph type="ftr" sz="quarter" idx="3"/>
          </p:nvPr>
        </p:nvSpPr>
        <p:spPr>
          <a:xfrm>
            <a:off x="4038600" y="6356351"/>
            <a:ext cx="4114800" cy="171858"/>
          </a:xfrm>
          <a:prstGeom prst="rect">
            <a:avLst/>
          </a:prstGeom>
        </p:spPr>
        <p:txBody>
          <a:bodyPr vert="horz" lIns="91440" tIns="45720" rIns="91440" bIns="45720" rtlCol="0" anchor="ctr"/>
          <a:lstStyle>
            <a:lvl1pPr algn="ctr">
              <a:defRPr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40836DE0-44E5-50EA-C883-68714F6310E6}"/>
              </a:ext>
            </a:extLst>
          </p:cNvPr>
          <p:cNvSpPr>
            <a:spLocks noGrp="1"/>
          </p:cNvSpPr>
          <p:nvPr>
            <p:ph type="sldNum" sz="quarter" idx="4"/>
          </p:nvPr>
        </p:nvSpPr>
        <p:spPr>
          <a:xfrm>
            <a:off x="8610600" y="6356351"/>
            <a:ext cx="2743200" cy="171858"/>
          </a:xfrm>
          <a:prstGeom prst="rect">
            <a:avLst/>
          </a:prstGeom>
        </p:spPr>
        <p:txBody>
          <a:bodyPr vert="horz" lIns="91440" tIns="45720" rIns="91440" bIns="45720" rtlCol="0" anchor="ctr"/>
          <a:lstStyle>
            <a:lvl1pPr algn="r">
              <a:defRPr sz="1200">
                <a:solidFill>
                  <a:schemeClr val="tx1">
                    <a:tint val="82000"/>
                  </a:schemeClr>
                </a:solidFill>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Tree>
    <p:extLst>
      <p:ext uri="{BB962C8B-B14F-4D97-AF65-F5344CB8AC3E}">
        <p14:creationId xmlns:p14="http://schemas.microsoft.com/office/powerpoint/2010/main" val="36631526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3200" kern="1200">
          <a:solidFill>
            <a:schemeClr val="tx2">
              <a:lumMod val="75000"/>
              <a:lumOff val="25000"/>
            </a:schemeClr>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okama.jp/feature/9401/"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dell.com/ja-jp/shop/deals/pc-gaming-deals?_gl=1*94sa9b*_up*MQ..*_gs*MQ..&amp;gclid=Cj0KCQjwqPLOBhCiARIsAKRMPZrhvFGdT-ECs-NHAIazMnnlGzuBkDLd3S4dxhoLvYDpSxRXSK99_sIaAuQnEALw_wcB&amp;gclsrc=aw.ds&amp;gbraid=0AAAAAD3e9dnKJ48wggafeJj4y1KZETew3" TargetMode="External"/><Relationship Id="rId2" Type="http://schemas.openxmlformats.org/officeDocument/2006/relationships/hyperlink" Target="https://www.dell.com/ja-jp/shop/deals/pc-laptop-deals?_gl=1*8uwrkx*_up*MQ..*_gs*MQ..&amp;gclid=Cj0KCQjwqPLOBhCiARIsAKRMPZrhvFGdT-ECs-NHAIazMnnlGzuBkDLd3S4dxhoLvYDpSxRXSK99_sIaAuQnEALw_wcB&amp;gclsrc=aw.ds&amp;gbraid=0AAAAAD3e9dnKJ48wggafeJj4y1KZETew3" TargetMode="External"/><Relationship Id="rId1" Type="http://schemas.openxmlformats.org/officeDocument/2006/relationships/slideLayout" Target="../slideLayouts/slideLayout1.xml"/><Relationship Id="rId4" Type="http://schemas.openxmlformats.org/officeDocument/2006/relationships/hyperlink" Target="https://www.dell.com/ja-jp/shop/deals/business-pc-deals?_gl=1*8uwrkx*_up*MQ..*_gs*MQ..&amp;gclid=Cj0KCQjwqPLOBhCiARIsAKRMPZrhvFGdT-ECs-NHAIazMnnlGzuBkDLd3S4dxhoLvYDpSxRXSK99_sIaAuQnEALw_wcB&amp;gclsrc=aw.ds&amp;gbraid=0AAAAAD3e9dnKJ48wggafeJj4y1KZETew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70684B-21F8-4757-13A2-8A34A83C797A}"/>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74ADA2A-0DA4-76A6-2AED-770DF3F6ACC4}"/>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57026FFC-C2FF-8412-C82A-590506771FBA}"/>
              </a:ext>
            </a:extLst>
          </p:cNvPr>
          <p:cNvSpPr>
            <a:spLocks noGrp="1"/>
          </p:cNvSpPr>
          <p:nvPr>
            <p:ph sz="quarter" idx="14"/>
          </p:nvPr>
        </p:nvSpPr>
        <p:spPr>
          <a:xfrm>
            <a:off x="317241" y="1455576"/>
            <a:ext cx="11591536" cy="5270564"/>
          </a:xfrm>
        </p:spPr>
        <p:txBody>
          <a:bodyPr>
            <a:normAutofit/>
          </a:bodyPr>
          <a:lstStyle/>
          <a:p>
            <a:pPr marL="0" indent="0">
              <a:buNone/>
            </a:pPr>
            <a:r>
              <a:rPr kumimoji="1" lang="en-US" altLang="ja-JP" dirty="0"/>
              <a:t>Q</a:t>
            </a:r>
            <a:r>
              <a:rPr kumimoji="1" lang="ja-JP" altLang="en-US" dirty="0"/>
              <a:t>：マックでコーヒーだけを飲んでいる人のニーズは？ウォンツは？その客に対するマクドナルドの競合は？</a:t>
            </a:r>
            <a:endParaRPr kumimoji="1" lang="en-US" altLang="ja-JP" dirty="0"/>
          </a:p>
          <a:p>
            <a:r>
              <a:rPr lang="ja-JP" altLang="en-US" dirty="0"/>
              <a:t>ニーズ</a:t>
            </a:r>
            <a:r>
              <a:rPr lang="en-US" altLang="ja-JP" dirty="0"/>
              <a:t>	</a:t>
            </a:r>
            <a:r>
              <a:rPr lang="ja-JP" altLang="en-US" dirty="0"/>
              <a:t>：一息つきたい、予定までの時間調整をしたい。</a:t>
            </a:r>
          </a:p>
          <a:p>
            <a:r>
              <a:rPr lang="ja-JP" altLang="en-US" dirty="0"/>
              <a:t>ウォンツ</a:t>
            </a:r>
            <a:r>
              <a:rPr lang="en-US" altLang="ja-JP" dirty="0"/>
              <a:t>	</a:t>
            </a:r>
            <a:r>
              <a:rPr lang="ja-JP" altLang="en-US" dirty="0"/>
              <a:t>：荷物を置いて座れる自分の席を低価格で確保したい。</a:t>
            </a:r>
          </a:p>
          <a:p>
            <a:r>
              <a:rPr lang="ja-JP" altLang="en-US" dirty="0"/>
              <a:t>競合</a:t>
            </a:r>
            <a:r>
              <a:rPr lang="en-US" altLang="ja-JP" dirty="0"/>
              <a:t>	</a:t>
            </a:r>
            <a:r>
              <a:rPr lang="ja-JP" altLang="en-US" dirty="0"/>
              <a:t>：スタバ等のコーヒーチェーン店、図書館や駅構内のベンチ。</a:t>
            </a:r>
          </a:p>
          <a:p>
            <a:pPr marL="0" indent="0">
              <a:buNone/>
            </a:pPr>
            <a:endParaRPr kumimoji="1" lang="en-US" altLang="ja-JP" dirty="0"/>
          </a:p>
          <a:p>
            <a:pPr marL="0" indent="0">
              <a:buNone/>
            </a:pPr>
            <a:r>
              <a:rPr lang="en-US" altLang="ja-JP" dirty="0"/>
              <a:t>Q</a:t>
            </a:r>
            <a:r>
              <a:rPr lang="ja-JP" altLang="en-US" dirty="0"/>
              <a:t>：劇団四季ミュージカル「美女と野獣」を見に来た人のニーズは？ウォンツは？その客に対するミュージカル以外の競合は？</a:t>
            </a:r>
            <a:endParaRPr lang="en-US" altLang="ja-JP" dirty="0"/>
          </a:p>
          <a:p>
            <a:r>
              <a:rPr lang="ja-JP" altLang="en-US" dirty="0"/>
              <a:t>ニーズ</a:t>
            </a:r>
            <a:r>
              <a:rPr lang="en-US" altLang="ja-JP" dirty="0"/>
              <a:t>	</a:t>
            </a:r>
            <a:r>
              <a:rPr lang="ja-JP" altLang="en-US" dirty="0"/>
              <a:t>：非日常体験をしたい。</a:t>
            </a:r>
          </a:p>
          <a:p>
            <a:r>
              <a:rPr lang="ja-JP" altLang="en-US" dirty="0"/>
              <a:t>ウォンツ</a:t>
            </a:r>
            <a:r>
              <a:rPr lang="en-US" altLang="ja-JP" dirty="0"/>
              <a:t>	</a:t>
            </a:r>
            <a:r>
              <a:rPr lang="ja-JP" altLang="en-US" dirty="0"/>
              <a:t>：芸術に触れたい、感動できる作品を見たい。</a:t>
            </a:r>
          </a:p>
          <a:p>
            <a:r>
              <a:rPr lang="ja-JP" altLang="en-US" dirty="0"/>
              <a:t>競合</a:t>
            </a:r>
            <a:r>
              <a:rPr lang="en-US" altLang="ja-JP" dirty="0"/>
              <a:t>	</a:t>
            </a:r>
            <a:r>
              <a:rPr lang="ja-JP" altLang="en-US" dirty="0"/>
              <a:t>：美術館、映画館、テーマパーク。</a:t>
            </a:r>
          </a:p>
          <a:p>
            <a:pPr marL="0" indent="0">
              <a:buNone/>
            </a:pPr>
            <a:endParaRPr kumimoji="1" lang="en-US" altLang="ja-JP" dirty="0"/>
          </a:p>
          <a:p>
            <a:pPr marL="0" indent="0">
              <a:buNone/>
            </a:pPr>
            <a:r>
              <a:rPr lang="en-US" altLang="ja-JP" dirty="0"/>
              <a:t>Q</a:t>
            </a:r>
            <a:r>
              <a:rPr lang="ja-JP" altLang="en-US" dirty="0"/>
              <a:t>：ドミノ・ピザを注文する人のニーズは？ウォンツは？その客に対するピザ以外の競合は？</a:t>
            </a:r>
            <a:endParaRPr lang="en-US" altLang="ja-JP" dirty="0"/>
          </a:p>
          <a:p>
            <a:r>
              <a:rPr lang="ja-JP" altLang="en-US" dirty="0"/>
              <a:t>ニーズ：複数人で家にいる際に空腹感を感じた。</a:t>
            </a:r>
          </a:p>
          <a:p>
            <a:r>
              <a:rPr lang="ja-JP" altLang="en-US" dirty="0"/>
              <a:t>ウォンツ：家から出る、調理が必要等の手間をかけずに食欲を満たしたい。</a:t>
            </a:r>
          </a:p>
          <a:p>
            <a:r>
              <a:rPr lang="ja-JP" altLang="en-US" dirty="0"/>
              <a:t>競合：</a:t>
            </a:r>
            <a:r>
              <a:rPr lang="en-US" altLang="ja-JP" dirty="0" err="1"/>
              <a:t>UberEats</a:t>
            </a:r>
            <a:r>
              <a:rPr lang="ja-JP" altLang="en-US" dirty="0"/>
              <a:t>、出前館、出前寿司。</a:t>
            </a:r>
          </a:p>
          <a:p>
            <a:pPr marL="0" indent="0">
              <a:buNone/>
            </a:pP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546850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57DA64-CE41-44B4-DC17-64818F562BD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56A2461-FCF8-9ACD-DB69-90925A9E0BAF}"/>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15BDBA53-7759-FEF2-E32F-D7F720CD832C}"/>
              </a:ext>
            </a:extLst>
          </p:cNvPr>
          <p:cNvSpPr>
            <a:spLocks noGrp="1"/>
          </p:cNvSpPr>
          <p:nvPr>
            <p:ph sz="quarter" idx="14"/>
          </p:nvPr>
        </p:nvSpPr>
        <p:spPr/>
        <p:txBody>
          <a:bodyPr>
            <a:normAutofit/>
          </a:bodyPr>
          <a:lstStyle/>
          <a:p>
            <a:pPr marL="0" indent="0">
              <a:buNone/>
            </a:pPr>
            <a:r>
              <a:rPr lang="en-US" altLang="ja-JP" dirty="0"/>
              <a:t>Q</a:t>
            </a:r>
            <a:r>
              <a:rPr lang="ja-JP" altLang="en-US" dirty="0"/>
              <a:t>：鎌倉の豊島屋本店で「鳩サブレー」を購入する人をイメージし、その顧客のジョブが何かを考えよ</a:t>
            </a:r>
            <a:endParaRPr kumimoji="1" lang="en-US" altLang="ja-JP" dirty="0"/>
          </a:p>
          <a:p>
            <a:pPr marL="0" indent="0">
              <a:buNone/>
            </a:pPr>
            <a:r>
              <a:rPr lang="ja-JP" altLang="en-US" b="1" dirty="0"/>
              <a:t>豊島屋に関する調査結果</a:t>
            </a:r>
            <a:endParaRPr lang="en-US" altLang="ja-JP" b="1" dirty="0"/>
          </a:p>
          <a:p>
            <a:r>
              <a:rPr lang="ja-JP" altLang="en-US" dirty="0"/>
              <a:t>鳩サブレーは個包装のクッキーであり、一枚一枚が大きい鳩型である。</a:t>
            </a:r>
            <a:endParaRPr lang="en-US" altLang="ja-JP" dirty="0"/>
          </a:p>
          <a:p>
            <a:r>
              <a:rPr lang="ja-JP" altLang="en-US" dirty="0"/>
              <a:t>鳩サブレーは一種類のみの販売だが、豊島屋では他に羊羹等の和菓子も取り扱っている。</a:t>
            </a:r>
            <a:endParaRPr lang="en-US" altLang="ja-JP" dirty="0"/>
          </a:p>
          <a:p>
            <a:r>
              <a:rPr lang="ja-JP" altLang="en-US" dirty="0"/>
              <a:t>「鎌倉　お土産」で検索した結果、上位表示されたサイトにおいて、鳩サブレーが鎌倉土産の最定番として紹介されていた。</a:t>
            </a:r>
            <a:endParaRPr lang="en-US" altLang="ja-JP" dirty="0"/>
          </a:p>
          <a:p>
            <a:r>
              <a:rPr lang="ja-JP" altLang="en-US" dirty="0"/>
              <a:t>鳩サブレーは</a:t>
            </a:r>
            <a:r>
              <a:rPr lang="en-US" altLang="ja-JP" dirty="0"/>
              <a:t>4</a:t>
            </a:r>
            <a:r>
              <a:rPr lang="ja-JP" altLang="en-US" dirty="0"/>
              <a:t>枚</a:t>
            </a:r>
            <a:r>
              <a:rPr lang="en-US" altLang="ja-JP" dirty="0"/>
              <a:t>〜44</a:t>
            </a:r>
            <a:r>
              <a:rPr lang="ja-JP" altLang="en-US" dirty="0"/>
              <a:t>枚の単位で販売されている。</a:t>
            </a:r>
            <a:endParaRPr lang="en-US" altLang="ja-JP" dirty="0"/>
          </a:p>
          <a:p>
            <a:r>
              <a:rPr lang="ja-JP" altLang="en-US" dirty="0"/>
              <a:t>本店限定で、鳩サブレーをモチーフにした文房具・キーホルダー・玩具等のグッズを販売している</a:t>
            </a:r>
            <a:endParaRPr lang="en-US" altLang="ja-JP" dirty="0"/>
          </a:p>
          <a:p>
            <a:pPr marL="0" indent="0">
              <a:buNone/>
            </a:pPr>
            <a:r>
              <a:rPr lang="ja-JP" altLang="en-US" b="1" dirty="0"/>
              <a:t>顧客のジョブ</a:t>
            </a:r>
          </a:p>
          <a:p>
            <a:pPr marL="342900" indent="-342900">
              <a:buFont typeface="+mj-lt"/>
              <a:buAutoNum type="arabicPeriod"/>
            </a:pPr>
            <a:r>
              <a:rPr lang="ja-JP" altLang="en-US" dirty="0"/>
              <a:t>職場等でお土産を配る際、受け取る側に負担をかけず、かつ気が利いていると思われるお土産を、人数に合わせた枚数で購入したい。</a:t>
            </a:r>
            <a:endParaRPr lang="en-US" altLang="ja-JP" dirty="0"/>
          </a:p>
          <a:p>
            <a:pPr marL="342900" indent="-342900">
              <a:buFont typeface="+mj-lt"/>
              <a:buAutoNum type="arabicPeriod"/>
            </a:pPr>
            <a:r>
              <a:rPr lang="ja-JP" altLang="en-US" dirty="0"/>
              <a:t>鎌倉という代表的な観光地を訪れたことを背景に、訪問先を自然に説明でき、手土産としても申し分ないお土産を購入したい。</a:t>
            </a:r>
            <a:endParaRPr lang="en-US" altLang="ja-JP" dirty="0"/>
          </a:p>
          <a:p>
            <a:pPr marL="342900" indent="-342900">
              <a:buFont typeface="+mj-lt"/>
              <a:buAutoNum type="arabicPeriod"/>
            </a:pPr>
            <a:r>
              <a:rPr lang="ja-JP" altLang="en-US" dirty="0"/>
              <a:t>本店限定グッズの購入や行列に並ぶという体験を通じて、自身の鎌倉訪問の記念として手元に残したい。</a:t>
            </a:r>
            <a:endParaRPr lang="en-US" altLang="ja-JP" dirty="0"/>
          </a:p>
        </p:txBody>
      </p:sp>
      <p:sp>
        <p:nvSpPr>
          <p:cNvPr id="5" name="テキスト ボックス 4">
            <a:extLst>
              <a:ext uri="{FF2B5EF4-FFF2-40B4-BE49-F238E27FC236}">
                <a16:creationId xmlns:a16="http://schemas.microsoft.com/office/drawing/2014/main" id="{4843E520-A28A-BFFF-0A0E-DF79C4F82F02}"/>
              </a:ext>
            </a:extLst>
          </p:cNvPr>
          <p:cNvSpPr txBox="1"/>
          <p:nvPr/>
        </p:nvSpPr>
        <p:spPr>
          <a:xfrm>
            <a:off x="317241" y="6356808"/>
            <a:ext cx="11551298" cy="230832"/>
          </a:xfrm>
          <a:prstGeom prst="rect">
            <a:avLst/>
          </a:prstGeom>
          <a:noFill/>
        </p:spPr>
        <p:txBody>
          <a:bodyPr wrap="square">
            <a:spAutoFit/>
          </a:bodyPr>
          <a:lstStyle/>
          <a:p>
            <a:r>
              <a:rPr lang="ja-JP" altLang="en-US" sz="900" dirty="0">
                <a:latin typeface="Meiryo UI" panose="020B0604030504040204" pitchFamily="50" charset="-128"/>
                <a:ea typeface="Meiryo UI" panose="020B0604030504040204" pitchFamily="50" charset="-128"/>
              </a:rPr>
              <a:t>江ノ島電鉄</a:t>
            </a:r>
            <a:r>
              <a:rPr lang="en-US" altLang="ja-JP" sz="900" dirty="0">
                <a:latin typeface="Meiryo UI" panose="020B0604030504040204" pitchFamily="50" charset="-128"/>
                <a:ea typeface="Meiryo UI" panose="020B0604030504040204" pitchFamily="50" charset="-128"/>
              </a:rPr>
              <a:t>, “</a:t>
            </a:r>
            <a:r>
              <a:rPr lang="ja-JP" altLang="en-US" sz="900" dirty="0">
                <a:latin typeface="Meiryo UI" panose="020B0604030504040204" pitchFamily="50" charset="-128"/>
                <a:ea typeface="Meiryo UI" panose="020B0604030504040204" pitchFamily="50" charset="-128"/>
              </a:rPr>
              <a:t>江の島・鎌倉ナビ</a:t>
            </a:r>
            <a:r>
              <a:rPr lang="en-US" altLang="ja-JP" sz="900" dirty="0">
                <a:latin typeface="Meiryo UI" panose="020B0604030504040204" pitchFamily="50" charset="-128"/>
                <a:ea typeface="Meiryo UI" panose="020B0604030504040204" pitchFamily="50" charset="-128"/>
              </a:rPr>
              <a:t>”, </a:t>
            </a:r>
            <a:r>
              <a:rPr lang="en-US" altLang="ja-JP" sz="900" dirty="0">
                <a:hlinkClick r:id="rId2"/>
              </a:rPr>
              <a:t>https://enokama.jp/feature/9401/</a:t>
            </a:r>
            <a:r>
              <a:rPr lang="en-US" altLang="ja-JP" sz="900" dirty="0">
                <a:latin typeface="Meiryo UI" panose="020B0604030504040204" pitchFamily="50" charset="-128"/>
                <a:ea typeface="Meiryo UI" panose="020B0604030504040204" pitchFamily="50" charset="-128"/>
              </a:rPr>
              <a:t> </a:t>
            </a:r>
            <a:endParaRPr lang="en-US" altLang="ja-JP" sz="900" dirty="0"/>
          </a:p>
        </p:txBody>
      </p:sp>
    </p:spTree>
    <p:extLst>
      <p:ext uri="{BB962C8B-B14F-4D97-AF65-F5344CB8AC3E}">
        <p14:creationId xmlns:p14="http://schemas.microsoft.com/office/powerpoint/2010/main" val="2876312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DBC64-BEB5-9155-F8EE-44223E0E77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11C5E6-6B54-1622-A0E9-7AE527206BC9}"/>
              </a:ext>
            </a:extLst>
          </p:cNvPr>
          <p:cNvSpPr>
            <a:spLocks noGrp="1"/>
          </p:cNvSpPr>
          <p:nvPr>
            <p:ph type="title"/>
          </p:nvPr>
        </p:nvSpPr>
        <p:spPr/>
        <p:txBody>
          <a:bodyPr/>
          <a:lstStyle/>
          <a:p>
            <a:r>
              <a:rPr lang="ja-JP" altLang="en-US" dirty="0"/>
              <a:t>鎌倉らしさのブランド価値の希薄化を防ぐ</a:t>
            </a:r>
            <a:r>
              <a:rPr lang="en-US" altLang="ja-JP" dirty="0"/>
              <a:t>4P</a:t>
            </a:r>
            <a:r>
              <a:rPr lang="ja-JP" altLang="en-US" dirty="0"/>
              <a:t>施策を立案</a:t>
            </a:r>
            <a:endParaRPr kumimoji="1" lang="ja-JP" altLang="en-US" dirty="0"/>
          </a:p>
        </p:txBody>
      </p:sp>
      <p:sp>
        <p:nvSpPr>
          <p:cNvPr id="3" name="コンテンツ プレースホルダー 2">
            <a:extLst>
              <a:ext uri="{FF2B5EF4-FFF2-40B4-BE49-F238E27FC236}">
                <a16:creationId xmlns:a16="http://schemas.microsoft.com/office/drawing/2014/main" id="{3DB37845-6D3C-B97F-5EE3-4D6738B3CD65}"/>
              </a:ext>
            </a:extLst>
          </p:cNvPr>
          <p:cNvSpPr>
            <a:spLocks noGrp="1"/>
          </p:cNvSpPr>
          <p:nvPr>
            <p:ph sz="quarter" idx="13"/>
          </p:nvPr>
        </p:nvSpPr>
        <p:spPr/>
        <p:txBody>
          <a:bodyPr/>
          <a:lstStyle/>
          <a:p>
            <a:r>
              <a:rPr lang="ja-JP" altLang="en-US" dirty="0"/>
              <a:t>豊島屋本店で鳩サブレーを購入する顧客のジョブは、</a:t>
            </a:r>
            <a:r>
              <a:rPr lang="en-US" altLang="ja-JP" dirty="0"/>
              <a:t>“</a:t>
            </a:r>
            <a:r>
              <a:rPr lang="ja-JP" altLang="en-US" dirty="0"/>
              <a:t>鎌倉を代表するお土産を手に入れる</a:t>
            </a:r>
            <a:r>
              <a:rPr lang="en-US" altLang="ja-JP" dirty="0"/>
              <a:t>”</a:t>
            </a:r>
            <a:r>
              <a:rPr lang="ja-JP" altLang="en-US" dirty="0"/>
              <a:t>ことである。</a:t>
            </a:r>
            <a:endParaRPr lang="en-US" altLang="ja-JP" dirty="0"/>
          </a:p>
          <a:p>
            <a:r>
              <a:rPr lang="en-US" altLang="ja-JP" dirty="0"/>
              <a:t>“</a:t>
            </a:r>
            <a:r>
              <a:rPr lang="ja-JP" altLang="en-US" dirty="0"/>
              <a:t>鎌倉土産＝鳩サブレー</a:t>
            </a:r>
            <a:r>
              <a:rPr lang="en-US" altLang="ja-JP" dirty="0"/>
              <a:t>”</a:t>
            </a:r>
            <a:r>
              <a:rPr lang="ja-JP" altLang="en-US" dirty="0"/>
              <a:t>というポジションを死守するため、鎌倉らしさのブランド価値の維持に資する施策を提案する。</a:t>
            </a:r>
          </a:p>
          <a:p>
            <a:endParaRPr kumimoji="1" lang="ja-JP" altLang="en-US" dirty="0"/>
          </a:p>
        </p:txBody>
      </p:sp>
      <p:sp>
        <p:nvSpPr>
          <p:cNvPr id="5" name="四角形: 角を丸くする 4">
            <a:extLst>
              <a:ext uri="{FF2B5EF4-FFF2-40B4-BE49-F238E27FC236}">
                <a16:creationId xmlns:a16="http://schemas.microsoft.com/office/drawing/2014/main" id="{4D6A28DD-D8DB-5B5D-245D-3414A1162DD9}"/>
              </a:ext>
            </a:extLst>
          </p:cNvPr>
          <p:cNvSpPr/>
          <p:nvPr/>
        </p:nvSpPr>
        <p:spPr>
          <a:xfrm>
            <a:off x="489398" y="1819104"/>
            <a:ext cx="334849" cy="4511520"/>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2">
                    <a:lumMod val="25000"/>
                  </a:schemeClr>
                </a:solidFill>
              </a:rPr>
              <a:t>鎌倉らしさのブランド価値維持</a:t>
            </a:r>
            <a:endParaRPr kumimoji="1" lang="ja-JP" altLang="en-US" dirty="0">
              <a:solidFill>
                <a:schemeClr val="bg2">
                  <a:lumMod val="25000"/>
                </a:schemeClr>
              </a:solidFill>
            </a:endParaRPr>
          </a:p>
        </p:txBody>
      </p:sp>
      <p:sp>
        <p:nvSpPr>
          <p:cNvPr id="6" name="四角形: 角を丸くする 5">
            <a:extLst>
              <a:ext uri="{FF2B5EF4-FFF2-40B4-BE49-F238E27FC236}">
                <a16:creationId xmlns:a16="http://schemas.microsoft.com/office/drawing/2014/main" id="{4E42E512-0766-E4D0-DA88-BBD175BD6115}"/>
              </a:ext>
            </a:extLst>
          </p:cNvPr>
          <p:cNvSpPr/>
          <p:nvPr/>
        </p:nvSpPr>
        <p:spPr>
          <a:xfrm>
            <a:off x="2028421" y="1814505"/>
            <a:ext cx="2305319" cy="528033"/>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2">
                    <a:lumMod val="25000"/>
                  </a:schemeClr>
                </a:solidFill>
              </a:rPr>
              <a:t>商品ブランドの管理</a:t>
            </a:r>
          </a:p>
        </p:txBody>
      </p:sp>
      <p:sp>
        <p:nvSpPr>
          <p:cNvPr id="8" name="四角形: 角を丸くする 7">
            <a:extLst>
              <a:ext uri="{FF2B5EF4-FFF2-40B4-BE49-F238E27FC236}">
                <a16:creationId xmlns:a16="http://schemas.microsoft.com/office/drawing/2014/main" id="{700A5266-6522-351D-81FD-D3432DE09EB8}"/>
              </a:ext>
            </a:extLst>
          </p:cNvPr>
          <p:cNvSpPr/>
          <p:nvPr/>
        </p:nvSpPr>
        <p:spPr>
          <a:xfrm>
            <a:off x="2028420" y="3143867"/>
            <a:ext cx="2305319" cy="528033"/>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2">
                    <a:lumMod val="25000"/>
                  </a:schemeClr>
                </a:solidFill>
              </a:rPr>
              <a:t>価格の管理</a:t>
            </a:r>
          </a:p>
        </p:txBody>
      </p:sp>
      <p:sp>
        <p:nvSpPr>
          <p:cNvPr id="9" name="四角形: 角を丸くする 8">
            <a:extLst>
              <a:ext uri="{FF2B5EF4-FFF2-40B4-BE49-F238E27FC236}">
                <a16:creationId xmlns:a16="http://schemas.microsoft.com/office/drawing/2014/main" id="{AD3CD36F-8BAB-AF35-2A3A-8586BF421FA0}"/>
              </a:ext>
            </a:extLst>
          </p:cNvPr>
          <p:cNvSpPr/>
          <p:nvPr/>
        </p:nvSpPr>
        <p:spPr>
          <a:xfrm>
            <a:off x="2028419" y="4473229"/>
            <a:ext cx="2305319" cy="528033"/>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2">
                    <a:lumMod val="25000"/>
                  </a:schemeClr>
                </a:solidFill>
              </a:rPr>
              <a:t>販路</a:t>
            </a:r>
            <a:r>
              <a:rPr kumimoji="1" lang="ja-JP" altLang="en-US" dirty="0">
                <a:solidFill>
                  <a:schemeClr val="bg2">
                    <a:lumMod val="25000"/>
                  </a:schemeClr>
                </a:solidFill>
              </a:rPr>
              <a:t>の管理</a:t>
            </a:r>
          </a:p>
        </p:txBody>
      </p:sp>
      <p:sp>
        <p:nvSpPr>
          <p:cNvPr id="10" name="四角形: 角を丸くする 9">
            <a:extLst>
              <a:ext uri="{FF2B5EF4-FFF2-40B4-BE49-F238E27FC236}">
                <a16:creationId xmlns:a16="http://schemas.microsoft.com/office/drawing/2014/main" id="{6AA198E2-34CB-82CA-55B4-AC2534585A13}"/>
              </a:ext>
            </a:extLst>
          </p:cNvPr>
          <p:cNvSpPr/>
          <p:nvPr/>
        </p:nvSpPr>
        <p:spPr>
          <a:xfrm>
            <a:off x="2028418" y="5802591"/>
            <a:ext cx="2305319" cy="528033"/>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2">
                    <a:lumMod val="25000"/>
                  </a:schemeClr>
                </a:solidFill>
              </a:rPr>
              <a:t>プロモーション</a:t>
            </a:r>
            <a:endParaRPr kumimoji="1" lang="ja-JP" altLang="en-US" dirty="0">
              <a:solidFill>
                <a:schemeClr val="bg2">
                  <a:lumMod val="25000"/>
                </a:schemeClr>
              </a:solidFill>
            </a:endParaRPr>
          </a:p>
        </p:txBody>
      </p:sp>
      <p:cxnSp>
        <p:nvCxnSpPr>
          <p:cNvPr id="13" name="コネクタ: カギ線 12">
            <a:extLst>
              <a:ext uri="{FF2B5EF4-FFF2-40B4-BE49-F238E27FC236}">
                <a16:creationId xmlns:a16="http://schemas.microsoft.com/office/drawing/2014/main" id="{2FF34B52-7A8E-5FB2-5F9D-C2DA981558C2}"/>
              </a:ext>
            </a:extLst>
          </p:cNvPr>
          <p:cNvCxnSpPr>
            <a:cxnSpLocks/>
            <a:stCxn id="5" idx="3"/>
            <a:endCxn id="6" idx="1"/>
          </p:cNvCxnSpPr>
          <p:nvPr/>
        </p:nvCxnSpPr>
        <p:spPr>
          <a:xfrm flipV="1">
            <a:off x="824247" y="2078522"/>
            <a:ext cx="1204174" cy="1996342"/>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4" name="コネクタ: カギ線 13">
            <a:extLst>
              <a:ext uri="{FF2B5EF4-FFF2-40B4-BE49-F238E27FC236}">
                <a16:creationId xmlns:a16="http://schemas.microsoft.com/office/drawing/2014/main" id="{9F740A69-5209-F0B7-2A47-C4ACD27299E6}"/>
              </a:ext>
            </a:extLst>
          </p:cNvPr>
          <p:cNvCxnSpPr>
            <a:cxnSpLocks/>
            <a:stCxn id="5" idx="3"/>
            <a:endCxn id="8" idx="1"/>
          </p:cNvCxnSpPr>
          <p:nvPr/>
        </p:nvCxnSpPr>
        <p:spPr>
          <a:xfrm flipV="1">
            <a:off x="824247" y="3407884"/>
            <a:ext cx="1204173" cy="66698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04F9BA00-DFB9-E19F-46B5-C1F722FCE9BB}"/>
              </a:ext>
            </a:extLst>
          </p:cNvPr>
          <p:cNvCxnSpPr>
            <a:cxnSpLocks/>
            <a:stCxn id="5" idx="3"/>
            <a:endCxn id="9" idx="1"/>
          </p:cNvCxnSpPr>
          <p:nvPr/>
        </p:nvCxnSpPr>
        <p:spPr>
          <a:xfrm>
            <a:off x="824247" y="4074864"/>
            <a:ext cx="1204172" cy="662382"/>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5493BC11-2B34-2170-3451-ED1749B1BA14}"/>
              </a:ext>
            </a:extLst>
          </p:cNvPr>
          <p:cNvCxnSpPr>
            <a:cxnSpLocks/>
            <a:stCxn id="5" idx="3"/>
            <a:endCxn id="10" idx="1"/>
          </p:cNvCxnSpPr>
          <p:nvPr/>
        </p:nvCxnSpPr>
        <p:spPr>
          <a:xfrm>
            <a:off x="824247" y="4074864"/>
            <a:ext cx="1204171" cy="1991744"/>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5" name="コネクタ: カギ線 64">
            <a:extLst>
              <a:ext uri="{FF2B5EF4-FFF2-40B4-BE49-F238E27FC236}">
                <a16:creationId xmlns:a16="http://schemas.microsoft.com/office/drawing/2014/main" id="{90CBAEBE-1DF0-E3C6-FB63-8D3149B9F083}"/>
              </a:ext>
            </a:extLst>
          </p:cNvPr>
          <p:cNvCxnSpPr>
            <a:cxnSpLocks/>
            <a:stCxn id="6" idx="3"/>
            <a:endCxn id="62" idx="1"/>
          </p:cNvCxnSpPr>
          <p:nvPr/>
        </p:nvCxnSpPr>
        <p:spPr>
          <a:xfrm flipV="1">
            <a:off x="4333740" y="1671299"/>
            <a:ext cx="1448873" cy="407223"/>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8" name="コネクタ: カギ線 67">
            <a:extLst>
              <a:ext uri="{FF2B5EF4-FFF2-40B4-BE49-F238E27FC236}">
                <a16:creationId xmlns:a16="http://schemas.microsoft.com/office/drawing/2014/main" id="{728D0CA6-1037-10BB-59D1-205D6E42C10E}"/>
              </a:ext>
            </a:extLst>
          </p:cNvPr>
          <p:cNvCxnSpPr>
            <a:cxnSpLocks/>
            <a:stCxn id="6" idx="3"/>
            <a:endCxn id="63" idx="1"/>
          </p:cNvCxnSpPr>
          <p:nvPr/>
        </p:nvCxnSpPr>
        <p:spPr>
          <a:xfrm>
            <a:off x="4333740" y="2078522"/>
            <a:ext cx="1448873" cy="122732"/>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1" name="コネクタ: カギ線 70">
            <a:extLst>
              <a:ext uri="{FF2B5EF4-FFF2-40B4-BE49-F238E27FC236}">
                <a16:creationId xmlns:a16="http://schemas.microsoft.com/office/drawing/2014/main" id="{5F428571-4AA8-BE4E-A7DB-CA13DEAD9156}"/>
              </a:ext>
            </a:extLst>
          </p:cNvPr>
          <p:cNvCxnSpPr>
            <a:cxnSpLocks/>
            <a:stCxn id="6" idx="3"/>
            <a:endCxn id="64" idx="1"/>
          </p:cNvCxnSpPr>
          <p:nvPr/>
        </p:nvCxnSpPr>
        <p:spPr>
          <a:xfrm>
            <a:off x="4333740" y="2078522"/>
            <a:ext cx="1448873" cy="652687"/>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4" name="コネクタ: カギ線 73">
            <a:extLst>
              <a:ext uri="{FF2B5EF4-FFF2-40B4-BE49-F238E27FC236}">
                <a16:creationId xmlns:a16="http://schemas.microsoft.com/office/drawing/2014/main" id="{5424DC11-D717-50F0-A0AA-853686710D28}"/>
              </a:ext>
            </a:extLst>
          </p:cNvPr>
          <p:cNvCxnSpPr>
            <a:cxnSpLocks/>
            <a:stCxn id="8" idx="3"/>
            <a:endCxn id="60" idx="1"/>
          </p:cNvCxnSpPr>
          <p:nvPr/>
        </p:nvCxnSpPr>
        <p:spPr>
          <a:xfrm flipV="1">
            <a:off x="4333739" y="3261164"/>
            <a:ext cx="1448874" cy="14672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8" name="コネクタ: カギ線 77">
            <a:extLst>
              <a:ext uri="{FF2B5EF4-FFF2-40B4-BE49-F238E27FC236}">
                <a16:creationId xmlns:a16="http://schemas.microsoft.com/office/drawing/2014/main" id="{9FD3F918-8429-9BF1-27B5-A1C80D7F1130}"/>
              </a:ext>
            </a:extLst>
          </p:cNvPr>
          <p:cNvCxnSpPr>
            <a:cxnSpLocks/>
            <a:stCxn id="8" idx="3"/>
            <a:endCxn id="61" idx="1"/>
          </p:cNvCxnSpPr>
          <p:nvPr/>
        </p:nvCxnSpPr>
        <p:spPr>
          <a:xfrm>
            <a:off x="4333739" y="3407884"/>
            <a:ext cx="1448874" cy="383235"/>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81" name="コネクタ: カギ線 80">
            <a:extLst>
              <a:ext uri="{FF2B5EF4-FFF2-40B4-BE49-F238E27FC236}">
                <a16:creationId xmlns:a16="http://schemas.microsoft.com/office/drawing/2014/main" id="{18F51055-21CD-8E01-2A65-606172F8A362}"/>
              </a:ext>
            </a:extLst>
          </p:cNvPr>
          <p:cNvCxnSpPr>
            <a:cxnSpLocks/>
            <a:stCxn id="9" idx="3"/>
            <a:endCxn id="59" idx="1"/>
          </p:cNvCxnSpPr>
          <p:nvPr/>
        </p:nvCxnSpPr>
        <p:spPr>
          <a:xfrm flipV="1">
            <a:off x="4333738" y="4321074"/>
            <a:ext cx="1448873" cy="416172"/>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1" name="四角形: 角を丸くする 10">
            <a:extLst>
              <a:ext uri="{FF2B5EF4-FFF2-40B4-BE49-F238E27FC236}">
                <a16:creationId xmlns:a16="http://schemas.microsoft.com/office/drawing/2014/main" id="{0A3D0950-4215-EDC2-92AF-F49E08C4FFEE}"/>
              </a:ext>
            </a:extLst>
          </p:cNvPr>
          <p:cNvSpPr/>
          <p:nvPr/>
        </p:nvSpPr>
        <p:spPr>
          <a:xfrm>
            <a:off x="5782613" y="5708096"/>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2">
                    <a:lumMod val="25000"/>
                  </a:schemeClr>
                </a:solidFill>
              </a:rPr>
              <a:t>鎌倉本店のランドマーク化</a:t>
            </a:r>
          </a:p>
        </p:txBody>
      </p:sp>
      <p:sp>
        <p:nvSpPr>
          <p:cNvPr id="59" name="四角形: 角を丸くする 58">
            <a:extLst>
              <a:ext uri="{FF2B5EF4-FFF2-40B4-BE49-F238E27FC236}">
                <a16:creationId xmlns:a16="http://schemas.microsoft.com/office/drawing/2014/main" id="{AFA1DEBB-D716-5F7F-DD90-BE00CC78F453}"/>
              </a:ext>
            </a:extLst>
          </p:cNvPr>
          <p:cNvSpPr/>
          <p:nvPr/>
        </p:nvSpPr>
        <p:spPr>
          <a:xfrm>
            <a:off x="5782611" y="4118231"/>
            <a:ext cx="5585142"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2">
                    <a:lumMod val="25000"/>
                  </a:schemeClr>
                </a:solidFill>
              </a:rPr>
              <a:t>鎌倉外の百貨店や</a:t>
            </a:r>
            <a:r>
              <a:rPr kumimoji="1" lang="en-US" altLang="ja-JP" sz="1400" b="1" dirty="0">
                <a:solidFill>
                  <a:schemeClr val="bg2">
                    <a:lumMod val="25000"/>
                  </a:schemeClr>
                </a:solidFill>
              </a:rPr>
              <a:t>EC</a:t>
            </a:r>
            <a:r>
              <a:rPr kumimoji="1" lang="ja-JP" altLang="en-US" sz="1400" b="1" dirty="0">
                <a:solidFill>
                  <a:schemeClr val="bg2">
                    <a:lumMod val="25000"/>
                  </a:schemeClr>
                </a:solidFill>
              </a:rPr>
              <a:t>等での販売抑制</a:t>
            </a:r>
          </a:p>
        </p:txBody>
      </p:sp>
      <p:sp>
        <p:nvSpPr>
          <p:cNvPr id="60" name="四角形: 角を丸くする 59">
            <a:extLst>
              <a:ext uri="{FF2B5EF4-FFF2-40B4-BE49-F238E27FC236}">
                <a16:creationId xmlns:a16="http://schemas.microsoft.com/office/drawing/2014/main" id="{953A944D-B1A3-DF04-3BFA-C69583CD15E1}"/>
              </a:ext>
            </a:extLst>
          </p:cNvPr>
          <p:cNvSpPr/>
          <p:nvPr/>
        </p:nvSpPr>
        <p:spPr>
          <a:xfrm>
            <a:off x="5782613" y="3058321"/>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2">
                    <a:lumMod val="25000"/>
                  </a:schemeClr>
                </a:solidFill>
              </a:rPr>
              <a:t>鳩サブレー自体のプレミアム価格の維持</a:t>
            </a:r>
          </a:p>
        </p:txBody>
      </p:sp>
      <p:sp>
        <p:nvSpPr>
          <p:cNvPr id="61" name="四角形: 角を丸くする 60">
            <a:extLst>
              <a:ext uri="{FF2B5EF4-FFF2-40B4-BE49-F238E27FC236}">
                <a16:creationId xmlns:a16="http://schemas.microsoft.com/office/drawing/2014/main" id="{D2D7F7B3-466D-D86F-8470-6B48043B6C6C}"/>
              </a:ext>
            </a:extLst>
          </p:cNvPr>
          <p:cNvSpPr/>
          <p:nvPr/>
        </p:nvSpPr>
        <p:spPr>
          <a:xfrm>
            <a:off x="5782613" y="3588276"/>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2">
                    <a:lumMod val="25000"/>
                  </a:schemeClr>
                </a:solidFill>
              </a:rPr>
              <a:t>鳩サブレーのパッケージやグッズのプレミアム価格の維持</a:t>
            </a:r>
          </a:p>
        </p:txBody>
      </p:sp>
      <p:sp>
        <p:nvSpPr>
          <p:cNvPr id="62" name="四角形: 角を丸くする 61">
            <a:extLst>
              <a:ext uri="{FF2B5EF4-FFF2-40B4-BE49-F238E27FC236}">
                <a16:creationId xmlns:a16="http://schemas.microsoft.com/office/drawing/2014/main" id="{92D61426-5F4F-D7C8-E105-E07B4F5450AB}"/>
              </a:ext>
            </a:extLst>
          </p:cNvPr>
          <p:cNvSpPr/>
          <p:nvPr/>
        </p:nvSpPr>
        <p:spPr>
          <a:xfrm>
            <a:off x="5782613" y="1468456"/>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2">
                    <a:lumMod val="25000"/>
                  </a:schemeClr>
                </a:solidFill>
              </a:rPr>
              <a:t>パッケージやメッセージカードで</a:t>
            </a:r>
            <a:r>
              <a:rPr kumimoji="1" lang="en-US" altLang="ja-JP" sz="1400" b="1" dirty="0">
                <a:solidFill>
                  <a:schemeClr val="bg2">
                    <a:lumMod val="25000"/>
                  </a:schemeClr>
                </a:solidFill>
              </a:rPr>
              <a:t>”</a:t>
            </a:r>
            <a:r>
              <a:rPr kumimoji="1" lang="ja-JP" altLang="en-US" sz="1400" b="1" dirty="0">
                <a:solidFill>
                  <a:schemeClr val="bg2">
                    <a:lumMod val="25000"/>
                  </a:schemeClr>
                </a:solidFill>
              </a:rPr>
              <a:t>鎌倉銘菓</a:t>
            </a:r>
            <a:r>
              <a:rPr kumimoji="1" lang="en-US" altLang="ja-JP" sz="1400" b="1" dirty="0">
                <a:solidFill>
                  <a:schemeClr val="bg2">
                    <a:lumMod val="25000"/>
                  </a:schemeClr>
                </a:solidFill>
              </a:rPr>
              <a:t>”</a:t>
            </a:r>
            <a:r>
              <a:rPr kumimoji="1" lang="ja-JP" altLang="en-US" sz="1400" b="1" dirty="0">
                <a:solidFill>
                  <a:schemeClr val="bg2">
                    <a:lumMod val="25000"/>
                  </a:schemeClr>
                </a:solidFill>
              </a:rPr>
              <a:t>であることを明示</a:t>
            </a:r>
          </a:p>
        </p:txBody>
      </p:sp>
      <p:sp>
        <p:nvSpPr>
          <p:cNvPr id="63" name="四角形: 角を丸くする 62">
            <a:extLst>
              <a:ext uri="{FF2B5EF4-FFF2-40B4-BE49-F238E27FC236}">
                <a16:creationId xmlns:a16="http://schemas.microsoft.com/office/drawing/2014/main" id="{1D62355F-6A8D-BFE7-3F53-241B277DFF88}"/>
              </a:ext>
            </a:extLst>
          </p:cNvPr>
          <p:cNvSpPr/>
          <p:nvPr/>
        </p:nvSpPr>
        <p:spPr>
          <a:xfrm>
            <a:off x="5782613" y="1998411"/>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2">
                    <a:lumMod val="25000"/>
                  </a:schemeClr>
                </a:solidFill>
              </a:rPr>
              <a:t>本店限定グッズのラインナップ拡充</a:t>
            </a:r>
          </a:p>
        </p:txBody>
      </p:sp>
      <p:sp>
        <p:nvSpPr>
          <p:cNvPr id="64" name="四角形: 角を丸くする 63">
            <a:extLst>
              <a:ext uri="{FF2B5EF4-FFF2-40B4-BE49-F238E27FC236}">
                <a16:creationId xmlns:a16="http://schemas.microsoft.com/office/drawing/2014/main" id="{3791D342-DAD4-5430-ACC9-AF0EC19B689D}"/>
              </a:ext>
            </a:extLst>
          </p:cNvPr>
          <p:cNvSpPr/>
          <p:nvPr/>
        </p:nvSpPr>
        <p:spPr>
          <a:xfrm>
            <a:off x="5782613" y="2528366"/>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bg2">
                    <a:lumMod val="25000"/>
                  </a:schemeClr>
                </a:solidFill>
              </a:rPr>
              <a:t>鳩サブレー自体</a:t>
            </a:r>
            <a:r>
              <a:rPr kumimoji="1" lang="ja-JP" altLang="en-US" sz="1400" dirty="0">
                <a:solidFill>
                  <a:schemeClr val="bg2">
                    <a:lumMod val="25000"/>
                  </a:schemeClr>
                </a:solidFill>
              </a:rPr>
              <a:t>は変えずに、パッケージ等で季節感や特別感を演出</a:t>
            </a:r>
          </a:p>
        </p:txBody>
      </p:sp>
      <p:sp>
        <p:nvSpPr>
          <p:cNvPr id="77" name="四角形: 角を丸くする 76">
            <a:extLst>
              <a:ext uri="{FF2B5EF4-FFF2-40B4-BE49-F238E27FC236}">
                <a16:creationId xmlns:a16="http://schemas.microsoft.com/office/drawing/2014/main" id="{8AAC647A-B724-5E45-C671-1F5D3174B745}"/>
              </a:ext>
            </a:extLst>
          </p:cNvPr>
          <p:cNvSpPr/>
          <p:nvPr/>
        </p:nvSpPr>
        <p:spPr>
          <a:xfrm>
            <a:off x="5782611" y="5178141"/>
            <a:ext cx="5585142"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2">
                    <a:lumMod val="25000"/>
                  </a:schemeClr>
                </a:solidFill>
              </a:rPr>
              <a:t>模造品の取り締まり強化</a:t>
            </a:r>
          </a:p>
        </p:txBody>
      </p:sp>
      <p:sp>
        <p:nvSpPr>
          <p:cNvPr id="85" name="四角形: 角を丸くする 84">
            <a:extLst>
              <a:ext uri="{FF2B5EF4-FFF2-40B4-BE49-F238E27FC236}">
                <a16:creationId xmlns:a16="http://schemas.microsoft.com/office/drawing/2014/main" id="{3FBAE2CE-48AE-1303-CB66-2FBD8D2EAD99}"/>
              </a:ext>
            </a:extLst>
          </p:cNvPr>
          <p:cNvSpPr/>
          <p:nvPr/>
        </p:nvSpPr>
        <p:spPr>
          <a:xfrm>
            <a:off x="5782613" y="6238055"/>
            <a:ext cx="5585138"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bg2">
                    <a:lumMod val="25000"/>
                  </a:schemeClr>
                </a:solidFill>
              </a:rPr>
              <a:t>鎌倉にゆかりのあるキャラ（ご当地ゆるキャラ等）とコラボ</a:t>
            </a:r>
            <a:endParaRPr kumimoji="1" lang="ja-JP" altLang="en-US" sz="1400" dirty="0">
              <a:solidFill>
                <a:schemeClr val="bg2">
                  <a:lumMod val="25000"/>
                </a:schemeClr>
              </a:solidFill>
            </a:endParaRPr>
          </a:p>
        </p:txBody>
      </p:sp>
      <p:cxnSp>
        <p:nvCxnSpPr>
          <p:cNvPr id="146" name="コネクタ: カギ線 145">
            <a:extLst>
              <a:ext uri="{FF2B5EF4-FFF2-40B4-BE49-F238E27FC236}">
                <a16:creationId xmlns:a16="http://schemas.microsoft.com/office/drawing/2014/main" id="{A456EA4A-9303-BDF8-1036-13A885B5202C}"/>
              </a:ext>
            </a:extLst>
          </p:cNvPr>
          <p:cNvCxnSpPr>
            <a:cxnSpLocks/>
            <a:stCxn id="10" idx="3"/>
            <a:endCxn id="77" idx="1"/>
          </p:cNvCxnSpPr>
          <p:nvPr/>
        </p:nvCxnSpPr>
        <p:spPr>
          <a:xfrm flipV="1">
            <a:off x="4333737" y="5380984"/>
            <a:ext cx="1448874" cy="685624"/>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49" name="コネクタ: カギ線 148">
            <a:extLst>
              <a:ext uri="{FF2B5EF4-FFF2-40B4-BE49-F238E27FC236}">
                <a16:creationId xmlns:a16="http://schemas.microsoft.com/office/drawing/2014/main" id="{3756015C-C39E-0224-42F7-CAE41F81AA6B}"/>
              </a:ext>
            </a:extLst>
          </p:cNvPr>
          <p:cNvCxnSpPr>
            <a:cxnSpLocks/>
            <a:stCxn id="10" idx="3"/>
            <a:endCxn id="11" idx="1"/>
          </p:cNvCxnSpPr>
          <p:nvPr/>
        </p:nvCxnSpPr>
        <p:spPr>
          <a:xfrm flipV="1">
            <a:off x="4333737" y="5910939"/>
            <a:ext cx="1448876" cy="155669"/>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52" name="コネクタ: カギ線 151">
            <a:extLst>
              <a:ext uri="{FF2B5EF4-FFF2-40B4-BE49-F238E27FC236}">
                <a16:creationId xmlns:a16="http://schemas.microsoft.com/office/drawing/2014/main" id="{9ECE03AE-1691-BA11-48E2-FD5BB50FB965}"/>
              </a:ext>
            </a:extLst>
          </p:cNvPr>
          <p:cNvCxnSpPr>
            <a:cxnSpLocks/>
            <a:stCxn id="10" idx="3"/>
            <a:endCxn id="85" idx="1"/>
          </p:cNvCxnSpPr>
          <p:nvPr/>
        </p:nvCxnSpPr>
        <p:spPr>
          <a:xfrm>
            <a:off x="4333737" y="6066608"/>
            <a:ext cx="1448876" cy="374290"/>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56" name="四角形: 角を丸くする 155">
            <a:extLst>
              <a:ext uri="{FF2B5EF4-FFF2-40B4-BE49-F238E27FC236}">
                <a16:creationId xmlns:a16="http://schemas.microsoft.com/office/drawing/2014/main" id="{668420CD-AFC3-3BEE-FBA1-282EF1ECD7CA}"/>
              </a:ext>
            </a:extLst>
          </p:cNvPr>
          <p:cNvSpPr/>
          <p:nvPr/>
        </p:nvSpPr>
        <p:spPr>
          <a:xfrm>
            <a:off x="5782611" y="4648186"/>
            <a:ext cx="5585142" cy="405685"/>
          </a:xfrm>
          <a:prstGeom prst="round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2">
                    <a:lumMod val="25000"/>
                  </a:schemeClr>
                </a:solidFill>
              </a:rPr>
              <a:t>購入数量の上限設定</a:t>
            </a:r>
          </a:p>
        </p:txBody>
      </p:sp>
      <p:cxnSp>
        <p:nvCxnSpPr>
          <p:cNvPr id="157" name="コネクタ: カギ線 156">
            <a:extLst>
              <a:ext uri="{FF2B5EF4-FFF2-40B4-BE49-F238E27FC236}">
                <a16:creationId xmlns:a16="http://schemas.microsoft.com/office/drawing/2014/main" id="{C0CA8CB3-6656-D0A5-B431-34197965D3B9}"/>
              </a:ext>
            </a:extLst>
          </p:cNvPr>
          <p:cNvCxnSpPr>
            <a:cxnSpLocks/>
            <a:stCxn id="9" idx="3"/>
            <a:endCxn id="156" idx="1"/>
          </p:cNvCxnSpPr>
          <p:nvPr/>
        </p:nvCxnSpPr>
        <p:spPr>
          <a:xfrm>
            <a:off x="4333738" y="4737246"/>
            <a:ext cx="1448873" cy="113783"/>
          </a:xfrm>
          <a:prstGeom prst="bentConnector3">
            <a:avLst>
              <a:gd name="adj1" fmla="val 50000"/>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430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40429-D1B2-3D04-6BDF-5450C3C724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82F524-6DF5-E9C8-79CB-3B9C01B5F35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2A14DD7A-33FA-BF00-095C-AE5AD8D11DFF}"/>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2009DD11-CD30-9216-D823-B58ED1259848}"/>
              </a:ext>
            </a:extLst>
          </p:cNvPr>
          <p:cNvSpPr>
            <a:spLocks noGrp="1"/>
          </p:cNvSpPr>
          <p:nvPr>
            <p:ph sz="quarter" idx="14"/>
          </p:nvPr>
        </p:nvSpPr>
        <p:spPr/>
        <p:txBody>
          <a:bodyPr/>
          <a:lstStyle/>
          <a:p>
            <a:pPr marL="0" indent="0">
              <a:buNone/>
            </a:pPr>
            <a:r>
              <a:rPr kumimoji="1" lang="en-US" altLang="ja-JP" dirty="0"/>
              <a:t>Q</a:t>
            </a:r>
            <a:r>
              <a:rPr kumimoji="1" lang="ja-JP" altLang="en-US" dirty="0"/>
              <a:t>：個人消費者向けの販売を行っていないデュポン社が、多額の宣伝費を消費者向け広告に費やしている理由とは？</a:t>
            </a:r>
            <a:endParaRPr kumimoji="1" lang="en-US" altLang="ja-JP" dirty="0"/>
          </a:p>
          <a:p>
            <a:r>
              <a:rPr lang="ja-JP" altLang="en-US" dirty="0"/>
              <a:t>世間的な認知度を高めることで、顧客が自社の素材を使う理由になり、</a:t>
            </a:r>
            <a:r>
              <a:rPr lang="en-US" altLang="ja-JP" dirty="0" err="1"/>
              <a:t>toB</a:t>
            </a:r>
            <a:r>
              <a:rPr lang="ja-JP" altLang="en-US" dirty="0"/>
              <a:t>企業への取引力向上を見込めるため。</a:t>
            </a:r>
          </a:p>
          <a:p>
            <a:r>
              <a:rPr lang="ja-JP" altLang="en-US" dirty="0"/>
              <a:t>世間的に人気企業になることで、採用活動を楽にするため。</a:t>
            </a:r>
            <a:endParaRPr lang="en-US" altLang="ja-JP" dirty="0"/>
          </a:p>
          <a:p>
            <a:endParaRPr kumimoji="1" lang="en-US" altLang="ja-JP" dirty="0"/>
          </a:p>
          <a:p>
            <a:pPr marL="0" indent="0">
              <a:buNone/>
            </a:pPr>
            <a:r>
              <a:rPr lang="en-US" altLang="ja-JP" dirty="0"/>
              <a:t>Q</a:t>
            </a:r>
            <a:r>
              <a:rPr lang="ja-JP" altLang="en-US" dirty="0"/>
              <a:t>：似たような例を挙げよ。</a:t>
            </a:r>
            <a:endParaRPr lang="en-US" altLang="ja-JP" dirty="0"/>
          </a:p>
          <a:p>
            <a:r>
              <a:rPr kumimoji="1" lang="ja-JP" altLang="en-US" dirty="0"/>
              <a:t>ユニクロが使用している東レの化学繊維の広告。</a:t>
            </a:r>
          </a:p>
          <a:p>
            <a:r>
              <a:rPr kumimoji="1" lang="en-US" altLang="ja-JP" dirty="0"/>
              <a:t>YKK</a:t>
            </a:r>
            <a:r>
              <a:rPr kumimoji="1" lang="ja-JP" altLang="en-US" dirty="0"/>
              <a:t>製のチャックの信頼性を高めるための広告。</a:t>
            </a:r>
          </a:p>
          <a:p>
            <a:r>
              <a:rPr kumimoji="1" lang="ja-JP" altLang="en-US" dirty="0"/>
              <a:t>特定の産地で生産された果物や海産物をアピールするための広告。</a:t>
            </a:r>
          </a:p>
        </p:txBody>
      </p:sp>
    </p:spTree>
    <p:extLst>
      <p:ext uri="{BB962C8B-B14F-4D97-AF65-F5344CB8AC3E}">
        <p14:creationId xmlns:p14="http://schemas.microsoft.com/office/powerpoint/2010/main" val="4185312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D581-6448-884A-2D28-F9A8B03C4E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71C133-1C18-3F46-050F-45B567865B55}"/>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CD51A39-0D05-CE9F-FECB-19A94F139714}"/>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A1A02629-87C7-5B84-C354-13057D115D2B}"/>
              </a:ext>
            </a:extLst>
          </p:cNvPr>
          <p:cNvSpPr>
            <a:spLocks noGrp="1"/>
          </p:cNvSpPr>
          <p:nvPr>
            <p:ph sz="quarter" idx="14"/>
          </p:nvPr>
        </p:nvSpPr>
        <p:spPr/>
        <p:txBody>
          <a:bodyPr>
            <a:normAutofit lnSpcReduction="10000"/>
          </a:bodyPr>
          <a:lstStyle/>
          <a:p>
            <a:pPr marL="0" indent="0">
              <a:buNone/>
            </a:pPr>
            <a:r>
              <a:rPr lang="en-US" altLang="ja-JP" dirty="0"/>
              <a:t>Q</a:t>
            </a:r>
            <a:r>
              <a:rPr lang="ja-JP" altLang="en-US" dirty="0"/>
              <a:t>：自分の家での洗濯機の購入</a:t>
            </a:r>
            <a:r>
              <a:rPr lang="en-US" altLang="ja-JP" dirty="0"/>
              <a:t>(15~20</a:t>
            </a:r>
            <a:r>
              <a:rPr lang="ja-JP" altLang="en-US" dirty="0"/>
              <a:t>万円</a:t>
            </a:r>
            <a:r>
              <a:rPr lang="en-US" altLang="ja-JP" dirty="0"/>
              <a:t>)</a:t>
            </a:r>
            <a:r>
              <a:rPr lang="ja-JP" altLang="en-US" dirty="0"/>
              <a:t>での</a:t>
            </a:r>
            <a:r>
              <a:rPr lang="en-US" altLang="ja-JP" dirty="0"/>
              <a:t>DMP</a:t>
            </a:r>
            <a:r>
              <a:rPr lang="ja-JP" altLang="en-US" dirty="0"/>
              <a:t>・</a:t>
            </a:r>
            <a:r>
              <a:rPr lang="en-US" altLang="ja-JP" dirty="0"/>
              <a:t>DMU</a:t>
            </a:r>
            <a:r>
              <a:rPr lang="ja-JP" altLang="en-US" dirty="0"/>
              <a:t>・</a:t>
            </a:r>
            <a:r>
              <a:rPr lang="en-US" altLang="ja-JP" dirty="0"/>
              <a:t>DMF</a:t>
            </a:r>
            <a:r>
              <a:rPr lang="ja-JP" altLang="en-US" dirty="0"/>
              <a:t>はどうなるか？</a:t>
            </a:r>
            <a:endParaRPr kumimoji="1" lang="en-US" altLang="ja-JP" dirty="0"/>
          </a:p>
          <a:p>
            <a:r>
              <a:rPr lang="en-US" altLang="ja-JP" dirty="0"/>
              <a:t>DMP	</a:t>
            </a:r>
            <a:r>
              <a:rPr lang="ja-JP" altLang="en-US" dirty="0"/>
              <a:t>：洗濯機への不満や故障が発生、理想スペックと予算を決定、ネット</a:t>
            </a:r>
            <a:r>
              <a:rPr lang="en-US" altLang="ja-JP" dirty="0"/>
              <a:t>or</a:t>
            </a:r>
            <a:r>
              <a:rPr lang="ja-JP" altLang="en-US" dirty="0"/>
              <a:t>家電量販店で比較、</a:t>
            </a:r>
            <a:r>
              <a:rPr lang="en-US" altLang="ja-JP" dirty="0"/>
              <a:t>EC or </a:t>
            </a:r>
            <a:r>
              <a:rPr lang="ja-JP" altLang="en-US" dirty="0"/>
              <a:t>店頭で購入</a:t>
            </a:r>
          </a:p>
          <a:p>
            <a:r>
              <a:rPr lang="en-US" altLang="ja-JP" dirty="0"/>
              <a:t>DMU	</a:t>
            </a:r>
            <a:r>
              <a:rPr lang="ja-JP" altLang="en-US" dirty="0"/>
              <a:t>：洗濯機を日常的に使用する人。</a:t>
            </a:r>
            <a:endParaRPr lang="en-US" altLang="ja-JP" dirty="0"/>
          </a:p>
          <a:p>
            <a:r>
              <a:rPr lang="en-US" altLang="ja-JP" dirty="0"/>
              <a:t>DMF	</a:t>
            </a:r>
            <a:r>
              <a:rPr lang="ja-JP" altLang="en-US" dirty="0"/>
              <a:t>：価格、サイズ、機能</a:t>
            </a:r>
            <a:r>
              <a:rPr lang="en-US" altLang="ja-JP" dirty="0"/>
              <a:t>(</a:t>
            </a:r>
            <a:r>
              <a:rPr lang="ja-JP" altLang="en-US" dirty="0"/>
              <a:t>洗剤自動投入やドラム式等</a:t>
            </a:r>
            <a:r>
              <a:rPr lang="en-US" altLang="ja-JP" dirty="0"/>
              <a:t>)</a:t>
            </a:r>
          </a:p>
          <a:p>
            <a:endParaRPr kumimoji="1" lang="en-US" altLang="ja-JP" dirty="0"/>
          </a:p>
          <a:p>
            <a:pPr marL="0" indent="0">
              <a:buNone/>
            </a:pPr>
            <a:r>
              <a:rPr lang="en-US" altLang="ja-JP" dirty="0"/>
              <a:t>Q</a:t>
            </a:r>
            <a:r>
              <a:rPr lang="ja-JP" altLang="en-US" dirty="0"/>
              <a:t>：自分の家での乗用車の購入</a:t>
            </a:r>
            <a:r>
              <a:rPr lang="en-US" altLang="ja-JP" dirty="0"/>
              <a:t>(300</a:t>
            </a:r>
            <a:r>
              <a:rPr lang="ja-JP" altLang="en-US" dirty="0"/>
              <a:t>万円</a:t>
            </a:r>
            <a:r>
              <a:rPr lang="en-US" altLang="ja-JP" dirty="0"/>
              <a:t>)</a:t>
            </a:r>
            <a:r>
              <a:rPr lang="ja-JP" altLang="en-US" dirty="0"/>
              <a:t>での</a:t>
            </a:r>
            <a:r>
              <a:rPr lang="en-US" altLang="ja-JP" dirty="0"/>
              <a:t>DMP</a:t>
            </a:r>
            <a:r>
              <a:rPr lang="ja-JP" altLang="en-US" dirty="0"/>
              <a:t>・</a:t>
            </a:r>
            <a:r>
              <a:rPr lang="en-US" altLang="ja-JP" dirty="0"/>
              <a:t>DMU</a:t>
            </a:r>
            <a:r>
              <a:rPr lang="ja-JP" altLang="en-US" dirty="0"/>
              <a:t>・</a:t>
            </a:r>
            <a:r>
              <a:rPr lang="en-US" altLang="ja-JP" dirty="0"/>
              <a:t>DMF</a:t>
            </a:r>
            <a:r>
              <a:rPr lang="ja-JP" altLang="en-US" dirty="0"/>
              <a:t>はどうなるか？</a:t>
            </a:r>
            <a:endParaRPr lang="en-US" altLang="ja-JP" dirty="0"/>
          </a:p>
          <a:p>
            <a:r>
              <a:rPr lang="en-US" altLang="ja-JP" dirty="0"/>
              <a:t>DMP	</a:t>
            </a:r>
            <a:r>
              <a:rPr lang="ja-JP" altLang="en-US" dirty="0"/>
              <a:t>：乗用車への不満や故障が発生、家族構成や用途によって車種を決定、複数ディーラーを訪問、試乗、見積もり、店頭で購入</a:t>
            </a:r>
          </a:p>
          <a:p>
            <a:r>
              <a:rPr lang="en-US" altLang="ja-JP" dirty="0"/>
              <a:t>DMU	</a:t>
            </a:r>
            <a:r>
              <a:rPr lang="ja-JP" altLang="en-US" dirty="0"/>
              <a:t>：家計の管理者、日常的に運転する人</a:t>
            </a:r>
          </a:p>
          <a:p>
            <a:r>
              <a:rPr lang="en-US" altLang="ja-JP" dirty="0"/>
              <a:t>DMF	</a:t>
            </a:r>
            <a:r>
              <a:rPr lang="ja-JP" altLang="en-US" dirty="0"/>
              <a:t>：価格、デザイン、燃費、車種、ブランド、</a:t>
            </a:r>
            <a:r>
              <a:rPr lang="en-US" altLang="ja-JP" dirty="0"/>
              <a:t>EV or </a:t>
            </a:r>
            <a:r>
              <a:rPr lang="ja-JP" altLang="en-US" dirty="0"/>
              <a:t>ガソリン</a:t>
            </a:r>
            <a:endParaRPr lang="en-US" altLang="ja-JP" dirty="0"/>
          </a:p>
          <a:p>
            <a:endParaRPr lang="en-US" altLang="ja-JP" dirty="0"/>
          </a:p>
          <a:p>
            <a:pPr marL="0" indent="0">
              <a:buNone/>
            </a:pPr>
            <a:r>
              <a:rPr kumimoji="1" lang="en-US" altLang="ja-JP" dirty="0"/>
              <a:t>Q</a:t>
            </a:r>
            <a:r>
              <a:rPr kumimoji="1" lang="ja-JP" altLang="en-US" dirty="0"/>
              <a:t>：自分の家での家族海外旅行</a:t>
            </a:r>
            <a:r>
              <a:rPr kumimoji="1" lang="en-US" altLang="ja-JP" dirty="0"/>
              <a:t>(100</a:t>
            </a:r>
            <a:r>
              <a:rPr kumimoji="1" lang="ja-JP" altLang="en-US" dirty="0"/>
              <a:t>万円</a:t>
            </a:r>
            <a:r>
              <a:rPr kumimoji="1" lang="en-US" altLang="ja-JP" dirty="0"/>
              <a:t>)	</a:t>
            </a:r>
            <a:r>
              <a:rPr lang="ja-JP" altLang="en-US" dirty="0"/>
              <a:t>での</a:t>
            </a:r>
            <a:r>
              <a:rPr lang="en-US" altLang="ja-JP" dirty="0"/>
              <a:t>DMP</a:t>
            </a:r>
            <a:r>
              <a:rPr lang="ja-JP" altLang="en-US" dirty="0"/>
              <a:t>・</a:t>
            </a:r>
            <a:r>
              <a:rPr lang="en-US" altLang="ja-JP" dirty="0"/>
              <a:t>DMU</a:t>
            </a:r>
            <a:r>
              <a:rPr lang="ja-JP" altLang="en-US" dirty="0"/>
              <a:t>・</a:t>
            </a:r>
            <a:r>
              <a:rPr lang="en-US" altLang="ja-JP" dirty="0"/>
              <a:t>DMF</a:t>
            </a:r>
            <a:r>
              <a:rPr lang="ja-JP" altLang="en-US" dirty="0"/>
              <a:t>はどうなるか？</a:t>
            </a:r>
            <a:endParaRPr lang="en-US" altLang="ja-JP" dirty="0"/>
          </a:p>
          <a:p>
            <a:r>
              <a:rPr kumimoji="1" lang="en-US" altLang="ja-JP" dirty="0"/>
              <a:t>DMP	</a:t>
            </a:r>
            <a:r>
              <a:rPr kumimoji="1" lang="ja-JP" altLang="en-US" dirty="0"/>
              <a:t>：旅行に行きたい欲求が発現、旅行先の決定、旅行会社・プランを比較、プランを予約</a:t>
            </a:r>
          </a:p>
          <a:p>
            <a:r>
              <a:rPr kumimoji="1" lang="en-US" altLang="ja-JP" dirty="0"/>
              <a:t>DMU	</a:t>
            </a:r>
            <a:r>
              <a:rPr kumimoji="1" lang="ja-JP" altLang="en-US" dirty="0"/>
              <a:t>：家計管理者</a:t>
            </a:r>
          </a:p>
          <a:p>
            <a:r>
              <a:rPr kumimoji="1" lang="en-US" altLang="ja-JP" dirty="0"/>
              <a:t>DMF	</a:t>
            </a:r>
            <a:r>
              <a:rPr kumimoji="1" lang="ja-JP" altLang="en-US" dirty="0"/>
              <a:t>：旅行先でできること、旅行先への距離と交通手段、プラン価格、宿泊先のグレード</a:t>
            </a: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77960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FBDA-5959-1F89-B5E7-C157FC2DE2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E6D47C-FB85-CA8B-2961-B2EA9533226F}"/>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6826F5C0-1490-2132-8D50-D62CDEB2AB98}"/>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379DF6F9-5D4E-1444-2CFA-D50AFA6507B0}"/>
              </a:ext>
            </a:extLst>
          </p:cNvPr>
          <p:cNvSpPr>
            <a:spLocks noGrp="1"/>
          </p:cNvSpPr>
          <p:nvPr>
            <p:ph sz="quarter" idx="14"/>
          </p:nvPr>
        </p:nvSpPr>
        <p:spPr>
          <a:xfrm>
            <a:off x="317241" y="1455576"/>
            <a:ext cx="11591536" cy="5402424"/>
          </a:xfrm>
        </p:spPr>
        <p:txBody>
          <a:bodyPr>
            <a:normAutofit/>
          </a:bodyPr>
          <a:lstStyle/>
          <a:p>
            <a:pPr marL="0" indent="0">
              <a:buNone/>
            </a:pPr>
            <a:r>
              <a:rPr lang="en-US" altLang="ja-JP" dirty="0"/>
              <a:t>Q</a:t>
            </a:r>
            <a:r>
              <a:rPr lang="ja-JP" altLang="en-US" dirty="0"/>
              <a:t>：</a:t>
            </a:r>
            <a:r>
              <a:rPr kumimoji="1" lang="ja-JP" altLang="en-US" dirty="0"/>
              <a:t>経営コンサルティング起用に際して、経営者の</a:t>
            </a:r>
            <a:r>
              <a:rPr kumimoji="1" lang="en-US" altLang="ja-JP" dirty="0"/>
              <a:t>DMP</a:t>
            </a:r>
            <a:r>
              <a:rPr kumimoji="1" lang="ja-JP" altLang="en-US" dirty="0"/>
              <a:t>、</a:t>
            </a:r>
            <a:r>
              <a:rPr kumimoji="1" lang="en-US" altLang="ja-JP" dirty="0"/>
              <a:t>DMU</a:t>
            </a:r>
            <a:r>
              <a:rPr kumimoji="1" lang="ja-JP" altLang="en-US" dirty="0"/>
              <a:t>、</a:t>
            </a:r>
            <a:r>
              <a:rPr kumimoji="1" lang="en-US" altLang="ja-JP" dirty="0"/>
              <a:t>DMF</a:t>
            </a:r>
            <a:r>
              <a:rPr kumimoji="1" lang="ja-JP" altLang="en-US" dirty="0"/>
              <a:t>がどうなるか？特に、目に見える商品を購入する場合と比較して、</a:t>
            </a:r>
            <a:r>
              <a:rPr kumimoji="1" lang="en-US" altLang="ja-JP" dirty="0"/>
              <a:t>DMP/DMU/DMF</a:t>
            </a:r>
            <a:r>
              <a:rPr kumimoji="1" lang="ja-JP" altLang="en-US" dirty="0"/>
              <a:t>にどのような違いがあるか？</a:t>
            </a:r>
          </a:p>
          <a:p>
            <a:r>
              <a:rPr kumimoji="1" lang="en-US" altLang="ja-JP" dirty="0"/>
              <a:t>DMP	</a:t>
            </a:r>
            <a:r>
              <a:rPr kumimoji="1" lang="ja-JP" altLang="en-US" dirty="0"/>
              <a:t>：売り上げ不振という危機を認識、解決手段としてコンサルを使用することを決定、コンサルについて情報収集、複数ファームを比較、</a:t>
            </a:r>
            <a:r>
              <a:rPr kumimoji="1" lang="en-US" altLang="ja-JP" dirty="0"/>
              <a:t>	</a:t>
            </a:r>
            <a:r>
              <a:rPr kumimoji="1" lang="ja-JP" altLang="en-US" dirty="0"/>
              <a:t>コンサルによる提案を評価、契約</a:t>
            </a:r>
          </a:p>
          <a:p>
            <a:r>
              <a:rPr kumimoji="1" lang="en-US" altLang="ja-JP" dirty="0"/>
              <a:t>DMU	</a:t>
            </a:r>
            <a:r>
              <a:rPr kumimoji="1" lang="ja-JP" altLang="en-US" dirty="0"/>
              <a:t>：オーナー、経営幹部</a:t>
            </a:r>
          </a:p>
          <a:p>
            <a:r>
              <a:rPr kumimoji="1" lang="en-US" altLang="ja-JP" dirty="0"/>
              <a:t>DMF	</a:t>
            </a:r>
            <a:r>
              <a:rPr kumimoji="1" lang="ja-JP" altLang="en-US" dirty="0"/>
              <a:t>：提案内容の納得感、ファーム・担当者のブランド、担当者の実績、担当者との人間関係</a:t>
            </a:r>
          </a:p>
          <a:p>
            <a:r>
              <a:rPr kumimoji="1" lang="ja-JP" altLang="en-US" dirty="0"/>
              <a:t>違い</a:t>
            </a:r>
            <a:r>
              <a:rPr kumimoji="1" lang="en-US" altLang="ja-JP" dirty="0"/>
              <a:t>	</a:t>
            </a:r>
            <a:r>
              <a:rPr lang="ja-JP" altLang="en-US" dirty="0"/>
              <a:t>：</a:t>
            </a:r>
            <a:r>
              <a:rPr kumimoji="1" lang="en-US" altLang="ja-JP" dirty="0"/>
              <a:t>(</a:t>
            </a:r>
            <a:r>
              <a:rPr kumimoji="1" lang="ja-JP" altLang="en-US" dirty="0"/>
              <a:t>コンサル目線</a:t>
            </a:r>
            <a:r>
              <a:rPr kumimoji="1" lang="en-US" altLang="ja-JP" dirty="0"/>
              <a:t>)</a:t>
            </a:r>
            <a:r>
              <a:rPr kumimoji="1" lang="ja-JP" altLang="en-US" dirty="0"/>
              <a:t>商品によって得られる成果が事前に確定しないため、商品の期待値やリスクを説明しにくく、具体的な判断材料を</a:t>
            </a:r>
            <a:r>
              <a:rPr kumimoji="1" lang="en-US" altLang="ja-JP" dirty="0"/>
              <a:t>	</a:t>
            </a:r>
            <a:r>
              <a:rPr kumimoji="1" lang="ja-JP" altLang="en-US" dirty="0"/>
              <a:t>提供しにくい。</a:t>
            </a:r>
            <a:endParaRPr kumimoji="1" lang="en-US" altLang="ja-JP" dirty="0"/>
          </a:p>
          <a:p>
            <a:pPr marL="0" indent="0">
              <a:buNone/>
            </a:pPr>
            <a:r>
              <a:rPr lang="en-US" altLang="ja-JP" dirty="0"/>
              <a:t>	</a:t>
            </a:r>
            <a:r>
              <a:rPr lang="ja-JP" altLang="en-US" dirty="0"/>
              <a:t>：</a:t>
            </a:r>
            <a:r>
              <a:rPr kumimoji="1" lang="en-US" altLang="ja-JP" dirty="0"/>
              <a:t>(</a:t>
            </a:r>
            <a:r>
              <a:rPr kumimoji="1" lang="ja-JP" altLang="en-US" dirty="0"/>
              <a:t>オーナー目線</a:t>
            </a:r>
            <a:r>
              <a:rPr kumimoji="1" lang="en-US" altLang="ja-JP" dirty="0"/>
              <a:t>)</a:t>
            </a:r>
            <a:r>
              <a:rPr kumimoji="1" lang="ja-JP" altLang="en-US" dirty="0"/>
              <a:t>価格や商品を定量的に評価しにくく、契約者同士の人間的な関係が評価に入る余地がある。また、失敗した時の</a:t>
            </a:r>
            <a:r>
              <a:rPr kumimoji="1" lang="en-US" altLang="ja-JP" dirty="0"/>
              <a:t>	</a:t>
            </a:r>
            <a:r>
              <a:rPr kumimoji="1" lang="ja-JP" altLang="en-US" dirty="0"/>
              <a:t>リスクが大きい。</a:t>
            </a:r>
          </a:p>
          <a:p>
            <a:pPr marL="0" indent="0">
              <a:buNone/>
            </a:pPr>
            <a:endParaRPr kumimoji="1" lang="en-US" altLang="ja-JP" dirty="0"/>
          </a:p>
          <a:p>
            <a:pPr marL="0" indent="0">
              <a:buNone/>
            </a:pPr>
            <a:r>
              <a:rPr kumimoji="1" lang="en-US" altLang="ja-JP" dirty="0"/>
              <a:t>Q</a:t>
            </a:r>
            <a:r>
              <a:rPr kumimoji="1" lang="ja-JP" altLang="en-US" dirty="0"/>
              <a:t>：長期的な視点から、このような顧客開拓のために経営コンサルティング会社にとってどのようなことが必要になるか？</a:t>
            </a:r>
          </a:p>
          <a:p>
            <a:r>
              <a:rPr kumimoji="1" lang="ja-JP" altLang="en-US" dirty="0"/>
              <a:t>類似案件の実績や成功事例を体系的に整理し、業界特化の知見として顧客に提案できるようナレッジを蓄積・活用する。</a:t>
            </a:r>
          </a:p>
          <a:p>
            <a:r>
              <a:rPr kumimoji="1" lang="ja-JP" altLang="en-US" dirty="0"/>
              <a:t>提供価値の源泉であるコンサルタントの質を高めるため、業界知見やネットワークを有する人材の獲得に加え、顧客との信頼関係構築や課題解決力を強化するための育成・研修を実施する。</a:t>
            </a:r>
          </a:p>
          <a:p>
            <a:r>
              <a:rPr kumimoji="1" lang="ja-JP" altLang="en-US" dirty="0"/>
              <a:t>担当コンサルタントとして、単発案件にとどまらず継続的な価値提供を通じて経営層との信頼関係を構築し、顧問化や経営者ネットワーク内での紹介につながる長期的なパートナーシップを形成する。</a:t>
            </a:r>
          </a:p>
        </p:txBody>
      </p:sp>
    </p:spTree>
    <p:extLst>
      <p:ext uri="{BB962C8B-B14F-4D97-AF65-F5344CB8AC3E}">
        <p14:creationId xmlns:p14="http://schemas.microsoft.com/office/powerpoint/2010/main" val="1918660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6D6E-D5FD-01CD-B7D0-3AFA2A09F4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A8920A-D1E4-AC54-7CA0-84C425733843}"/>
              </a:ext>
            </a:extLst>
          </p:cNvPr>
          <p:cNvSpPr>
            <a:spLocks noGrp="1"/>
          </p:cNvSpPr>
          <p:nvPr>
            <p:ph type="title"/>
          </p:nvPr>
        </p:nvSpPr>
        <p:spPr/>
        <p:txBody>
          <a:bodyPr/>
          <a:lstStyle/>
          <a:p>
            <a:r>
              <a:rPr kumimoji="1" lang="ja-JP" altLang="en-US" dirty="0"/>
              <a:t>モビール石油の利益率向上のため、主ターゲットに道路戦士と保守本流を設定する</a:t>
            </a:r>
          </a:p>
        </p:txBody>
      </p:sp>
      <p:sp>
        <p:nvSpPr>
          <p:cNvPr id="3" name="コンテンツ プレースホルダー 2">
            <a:extLst>
              <a:ext uri="{FF2B5EF4-FFF2-40B4-BE49-F238E27FC236}">
                <a16:creationId xmlns:a16="http://schemas.microsoft.com/office/drawing/2014/main" id="{42029337-8FE5-8FD5-3F8E-2C1CB0625626}"/>
              </a:ext>
            </a:extLst>
          </p:cNvPr>
          <p:cNvSpPr>
            <a:spLocks noGrp="1"/>
          </p:cNvSpPr>
          <p:nvPr>
            <p:ph sz="quarter" idx="13"/>
          </p:nvPr>
        </p:nvSpPr>
        <p:spPr>
          <a:xfrm>
            <a:off x="317241" y="672225"/>
            <a:ext cx="11591536" cy="937634"/>
          </a:xfrm>
        </p:spPr>
        <p:txBody>
          <a:bodyPr>
            <a:normAutofit lnSpcReduction="10000"/>
          </a:bodyPr>
          <a:lstStyle/>
          <a:p>
            <a:r>
              <a:rPr lang="ja-JP" altLang="en-US" dirty="0"/>
              <a:t>道路戦士・保守本流に、プレミアムガソリンの性能優位性およびモービル石油のブランド価値を訴求することで、来客数の増加とプレミアムガソリン選択率の向上を同時に実現し、ガソリン事業の利益率を改善する。</a:t>
            </a:r>
          </a:p>
          <a:p>
            <a:r>
              <a:rPr lang="ja-JP" altLang="en-US" dirty="0"/>
              <a:t>副ターゲットとして</a:t>
            </a:r>
            <a:r>
              <a:rPr lang="en-US" altLang="ja-JP" dirty="0"/>
              <a:t>F3</a:t>
            </a:r>
            <a:r>
              <a:rPr lang="ja-JP" altLang="en-US" dirty="0"/>
              <a:t>世代を設定し、スナックの品揃え拡充により、売店事業の売上増加を図る。</a:t>
            </a:r>
          </a:p>
          <a:p>
            <a:endParaRPr kumimoji="1" lang="ja-JP" altLang="en-US" dirty="0"/>
          </a:p>
        </p:txBody>
      </p:sp>
      <p:sp>
        <p:nvSpPr>
          <p:cNvPr id="4" name="コンテンツ プレースホルダー 3">
            <a:extLst>
              <a:ext uri="{FF2B5EF4-FFF2-40B4-BE49-F238E27FC236}">
                <a16:creationId xmlns:a16="http://schemas.microsoft.com/office/drawing/2014/main" id="{81B926C5-AFD7-77DA-5DB1-EE03C4810B73}"/>
              </a:ext>
            </a:extLst>
          </p:cNvPr>
          <p:cNvSpPr>
            <a:spLocks noGrp="1"/>
          </p:cNvSpPr>
          <p:nvPr>
            <p:ph sz="quarter" idx="14"/>
          </p:nvPr>
        </p:nvSpPr>
        <p:spPr>
          <a:xfrm>
            <a:off x="317241" y="1609858"/>
            <a:ext cx="11591536" cy="5248142"/>
          </a:xfrm>
        </p:spPr>
        <p:txBody>
          <a:bodyPr>
            <a:normAutofit/>
          </a:bodyPr>
          <a:lstStyle/>
          <a:p>
            <a:pPr marL="0" indent="0">
              <a:buNone/>
            </a:pPr>
            <a:r>
              <a:rPr kumimoji="1" lang="ja-JP" altLang="en-US" b="1" dirty="0"/>
              <a:t>モビール石油の利益率向上に資する施策の方向性</a:t>
            </a:r>
            <a:endParaRPr kumimoji="1" lang="en-US" altLang="ja-JP" b="1" dirty="0"/>
          </a:p>
          <a:p>
            <a:pPr marL="342900" indent="-342900">
              <a:buAutoNum type="arabicPeriod"/>
            </a:pPr>
            <a:r>
              <a:rPr lang="ja-JP" altLang="en-US" dirty="0"/>
              <a:t>ガソリンスタンドへの来客数を増加させ、レギュラーガソリンの販売数量を拡大することで、ガソリン事業の売上高を引き上げる。</a:t>
            </a:r>
            <a:endParaRPr lang="en-US" altLang="ja-JP" dirty="0"/>
          </a:p>
          <a:p>
            <a:pPr marL="342900" indent="-342900">
              <a:buAutoNum type="arabicPeriod"/>
            </a:pPr>
            <a:r>
              <a:rPr lang="ja-JP" altLang="en-US" dirty="0"/>
              <a:t>高所得層の来客比率を増加させ、単位量当たりの利益率が高いプレミアムガソリンの販売数量を増加させることで、ガソリン事業の利益率を改善する。</a:t>
            </a:r>
            <a:endParaRPr lang="en-US" altLang="ja-JP" dirty="0"/>
          </a:p>
          <a:p>
            <a:pPr marL="342900" indent="-342900">
              <a:buAutoNum type="arabicPeriod"/>
            </a:pPr>
            <a:r>
              <a:rPr lang="ja-JP" altLang="en-US" dirty="0"/>
              <a:t>洗車・売店等のガソリン以外の収益源を強化する。</a:t>
            </a:r>
          </a:p>
          <a:p>
            <a:pPr marL="0" indent="0">
              <a:buNone/>
            </a:pPr>
            <a:endParaRPr kumimoji="1" lang="en-US" altLang="ja-JP" dirty="0"/>
          </a:p>
          <a:p>
            <a:pPr marL="0" indent="0">
              <a:buNone/>
            </a:pPr>
            <a:r>
              <a:rPr lang="ja-JP" altLang="en-US" b="1" dirty="0"/>
              <a:t>各セグメントと</a:t>
            </a:r>
            <a:r>
              <a:rPr lang="en-US" altLang="ja-JP" b="1" dirty="0"/>
              <a:t>3</a:t>
            </a:r>
            <a:r>
              <a:rPr lang="ja-JP" altLang="en-US" b="1" dirty="0"/>
              <a:t>つの施策の親和性</a:t>
            </a:r>
            <a:endParaRPr kumimoji="1" lang="en-US" altLang="ja-JP" b="1" dirty="0"/>
          </a:p>
          <a:p>
            <a:endParaRPr lang="en-US" altLang="ja-JP" dirty="0"/>
          </a:p>
          <a:p>
            <a:endParaRPr kumimoji="1" lang="en-US" altLang="ja-JP" dirty="0"/>
          </a:p>
          <a:p>
            <a:endParaRPr kumimoji="1" lang="en-US" altLang="ja-JP" dirty="0"/>
          </a:p>
          <a:p>
            <a:endParaRPr lang="en-US" altLang="ja-JP" dirty="0"/>
          </a:p>
          <a:p>
            <a:pPr marL="0" indent="0">
              <a:buNone/>
            </a:pPr>
            <a:endParaRPr kumimoji="1" lang="en-US" altLang="ja-JP" dirty="0"/>
          </a:p>
          <a:p>
            <a:pPr marL="0" indent="0">
              <a:buNone/>
            </a:pPr>
            <a:r>
              <a:rPr kumimoji="1" lang="ja-JP" altLang="en-US" b="1" dirty="0"/>
              <a:t>結論</a:t>
            </a:r>
            <a:endParaRPr kumimoji="1" lang="en-US" altLang="ja-JP" b="1" dirty="0"/>
          </a:p>
          <a:p>
            <a:r>
              <a:rPr kumimoji="1" lang="ja-JP" altLang="en-US" dirty="0"/>
              <a:t>ガソリン事業の売上げと利益率の向上を同時に達成する施策を道路戦士と保守本流をターゲットに実施する。</a:t>
            </a:r>
            <a:endParaRPr kumimoji="1" lang="en-US" altLang="ja-JP" dirty="0"/>
          </a:p>
          <a:p>
            <a:r>
              <a:rPr lang="ja-JP" altLang="en-US" dirty="0"/>
              <a:t>ガソリン事業以外の強化を達成するため、多量のスナックを購入する</a:t>
            </a:r>
            <a:r>
              <a:rPr lang="en-US" altLang="ja-JP" dirty="0"/>
              <a:t>F3</a:t>
            </a:r>
            <a:r>
              <a:rPr lang="ja-JP" altLang="en-US" dirty="0"/>
              <a:t>世代向けに売店の品ぞろえを工夫する。</a:t>
            </a:r>
            <a:endParaRPr kumimoji="1" lang="ja-JP" altLang="en-US" dirty="0"/>
          </a:p>
        </p:txBody>
      </p:sp>
      <p:graphicFrame>
        <p:nvGraphicFramePr>
          <p:cNvPr id="5" name="表 4">
            <a:extLst>
              <a:ext uri="{FF2B5EF4-FFF2-40B4-BE49-F238E27FC236}">
                <a16:creationId xmlns:a16="http://schemas.microsoft.com/office/drawing/2014/main" id="{58E4EE19-CD54-8D1B-2568-27C23F29AF9B}"/>
              </a:ext>
            </a:extLst>
          </p:cNvPr>
          <p:cNvGraphicFramePr>
            <a:graphicFrameLocks noGrp="1"/>
          </p:cNvGraphicFramePr>
          <p:nvPr>
            <p:extLst>
              <p:ext uri="{D42A27DB-BD31-4B8C-83A1-F6EECF244321}">
                <p14:modId xmlns:p14="http://schemas.microsoft.com/office/powerpoint/2010/main" val="3205451745"/>
              </p:ext>
            </p:extLst>
          </p:nvPr>
        </p:nvGraphicFramePr>
        <p:xfrm>
          <a:off x="317241" y="3962210"/>
          <a:ext cx="11551294" cy="1287408"/>
        </p:xfrm>
        <a:graphic>
          <a:graphicData uri="http://schemas.openxmlformats.org/drawingml/2006/table">
            <a:tbl>
              <a:tblPr firstRow="1" bandRow="1">
                <a:tableStyleId>{5C22544A-7EE6-4342-B048-85BDC9FD1C3A}</a:tableStyleId>
              </a:tblPr>
              <a:tblGrid>
                <a:gridCol w="1910804">
                  <a:extLst>
                    <a:ext uri="{9D8B030D-6E8A-4147-A177-3AD203B41FA5}">
                      <a16:colId xmlns:a16="http://schemas.microsoft.com/office/drawing/2014/main" val="4130275257"/>
                    </a:ext>
                  </a:extLst>
                </a:gridCol>
                <a:gridCol w="1928098">
                  <a:extLst>
                    <a:ext uri="{9D8B030D-6E8A-4147-A177-3AD203B41FA5}">
                      <a16:colId xmlns:a16="http://schemas.microsoft.com/office/drawing/2014/main" val="1306854065"/>
                    </a:ext>
                  </a:extLst>
                </a:gridCol>
                <a:gridCol w="1928098">
                  <a:extLst>
                    <a:ext uri="{9D8B030D-6E8A-4147-A177-3AD203B41FA5}">
                      <a16:colId xmlns:a16="http://schemas.microsoft.com/office/drawing/2014/main" val="340861972"/>
                    </a:ext>
                  </a:extLst>
                </a:gridCol>
                <a:gridCol w="1928098">
                  <a:extLst>
                    <a:ext uri="{9D8B030D-6E8A-4147-A177-3AD203B41FA5}">
                      <a16:colId xmlns:a16="http://schemas.microsoft.com/office/drawing/2014/main" val="3009118910"/>
                    </a:ext>
                  </a:extLst>
                </a:gridCol>
                <a:gridCol w="1928098">
                  <a:extLst>
                    <a:ext uri="{9D8B030D-6E8A-4147-A177-3AD203B41FA5}">
                      <a16:colId xmlns:a16="http://schemas.microsoft.com/office/drawing/2014/main" val="46647523"/>
                    </a:ext>
                  </a:extLst>
                </a:gridCol>
                <a:gridCol w="1928098">
                  <a:extLst>
                    <a:ext uri="{9D8B030D-6E8A-4147-A177-3AD203B41FA5}">
                      <a16:colId xmlns:a16="http://schemas.microsoft.com/office/drawing/2014/main" val="313375808"/>
                    </a:ext>
                  </a:extLst>
                </a:gridCol>
              </a:tblGrid>
              <a:tr h="321852">
                <a:tc>
                  <a:txBody>
                    <a:bodyPr/>
                    <a:lstStyle/>
                    <a:p>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施策</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道路戦士</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保守本流</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F3</a:t>
                      </a: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世代</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家庭人</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価格ショッパー</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973352"/>
                  </a:ext>
                </a:extLst>
              </a:tr>
              <a:tr h="321852">
                <a:tc>
                  <a:txBody>
                    <a:bodyPr/>
                    <a:lstStyle/>
                    <a:p>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①ガソリン売上げの向上</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〇</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〇</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〇</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5960493"/>
                  </a:ext>
                </a:extLst>
              </a:tr>
              <a:tr h="321852">
                <a:tc>
                  <a:txBody>
                    <a:bodyPr/>
                    <a:lstStyle/>
                    <a:p>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②ガソリン利益率の向上</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〇</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〇</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7357404"/>
                  </a:ext>
                </a:extLst>
              </a:tr>
              <a:tr h="321852">
                <a:tc>
                  <a:txBody>
                    <a:bodyPr/>
                    <a:lstStyle/>
                    <a:p>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③ガソリン以外の強化</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7553643"/>
                  </a:ext>
                </a:extLst>
              </a:tr>
            </a:tbl>
          </a:graphicData>
        </a:graphic>
      </p:graphicFrame>
    </p:spTree>
    <p:extLst>
      <p:ext uri="{BB962C8B-B14F-4D97-AF65-F5344CB8AC3E}">
        <p14:creationId xmlns:p14="http://schemas.microsoft.com/office/powerpoint/2010/main" val="1755818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AC751-CD78-B2BA-226F-8D77CE5047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8E97C3-C0A7-3F61-4F7D-87FD73EEF513}"/>
              </a:ext>
            </a:extLst>
          </p:cNvPr>
          <p:cNvSpPr>
            <a:spLocks noGrp="1"/>
          </p:cNvSpPr>
          <p:nvPr>
            <p:ph type="title"/>
          </p:nvPr>
        </p:nvSpPr>
        <p:spPr/>
        <p:txBody>
          <a:bodyPr/>
          <a:lstStyle/>
          <a:p>
            <a:r>
              <a:rPr kumimoji="1" lang="ja-JP" altLang="en-US" dirty="0"/>
              <a:t>（</a:t>
            </a:r>
            <a:r>
              <a:rPr kumimoji="1" lang="en-US" altLang="ja-JP" dirty="0"/>
              <a:t>FYI</a:t>
            </a:r>
            <a:r>
              <a:rPr kumimoji="1" lang="ja-JP" altLang="en-US" dirty="0"/>
              <a:t>）各施策とセグメントの親和性の詳細</a:t>
            </a:r>
          </a:p>
        </p:txBody>
      </p:sp>
      <p:sp>
        <p:nvSpPr>
          <p:cNvPr id="4" name="コンテンツ プレースホルダー 3">
            <a:extLst>
              <a:ext uri="{FF2B5EF4-FFF2-40B4-BE49-F238E27FC236}">
                <a16:creationId xmlns:a16="http://schemas.microsoft.com/office/drawing/2014/main" id="{D248BFCB-D9F3-9A6A-1007-E8A0C1662947}"/>
              </a:ext>
            </a:extLst>
          </p:cNvPr>
          <p:cNvSpPr>
            <a:spLocks noGrp="1"/>
          </p:cNvSpPr>
          <p:nvPr>
            <p:ph sz="quarter" idx="14"/>
          </p:nvPr>
        </p:nvSpPr>
        <p:spPr>
          <a:xfrm>
            <a:off x="317241" y="746975"/>
            <a:ext cx="11591536" cy="6111025"/>
          </a:xfrm>
        </p:spPr>
        <p:txBody>
          <a:bodyPr>
            <a:normAutofit/>
          </a:bodyPr>
          <a:lstStyle/>
          <a:p>
            <a:pPr marL="0" indent="0">
              <a:buNone/>
            </a:pPr>
            <a:r>
              <a:rPr lang="ja-JP" altLang="en-US" dirty="0"/>
              <a:t>道路戦士</a:t>
            </a:r>
            <a:r>
              <a:rPr lang="en-US" altLang="ja-JP" dirty="0"/>
              <a:t>(16%)</a:t>
            </a:r>
            <a:r>
              <a:rPr lang="ja-JP" altLang="en-US" dirty="0"/>
              <a:t>：</a:t>
            </a:r>
          </a:p>
          <a:p>
            <a:pPr marL="800100" lvl="1" indent="-342900">
              <a:buFont typeface="+mj-lt"/>
              <a:buAutoNum type="arabicPeriod"/>
            </a:pPr>
            <a:r>
              <a:rPr lang="ja-JP" altLang="en-US" dirty="0"/>
              <a:t> セグメント規模は小さいが、走行距離が長くガソリン購入量も多いと推察されるため、投資対効果は総じて大きい。</a:t>
            </a:r>
            <a:endParaRPr lang="en-US" altLang="ja-JP" dirty="0"/>
          </a:p>
          <a:p>
            <a:pPr marL="800100" lvl="1" indent="-342900">
              <a:buFont typeface="+mj-lt"/>
              <a:buAutoNum type="arabicPeriod"/>
            </a:pPr>
            <a:r>
              <a:rPr lang="ja-JP" altLang="en-US" dirty="0"/>
              <a:t>プレミアムガソリンへの抵抗感がもともと低く、投資対効果は大きい。</a:t>
            </a:r>
            <a:endParaRPr lang="en-US" altLang="ja-JP" dirty="0"/>
          </a:p>
          <a:p>
            <a:pPr marL="800100" lvl="1" indent="-342900">
              <a:buFont typeface="+mj-lt"/>
              <a:buAutoNum type="arabicPeriod"/>
            </a:pPr>
            <a:r>
              <a:rPr lang="ja-JP" altLang="en-US" dirty="0"/>
              <a:t>購入する食料品の単価が低く、投資対効果は小さい。</a:t>
            </a:r>
          </a:p>
          <a:p>
            <a:pPr marL="0" indent="0">
              <a:buNone/>
            </a:pPr>
            <a:r>
              <a:rPr lang="ja-JP" altLang="en-US" dirty="0"/>
              <a:t>保守本流</a:t>
            </a:r>
            <a:r>
              <a:rPr lang="en-US" altLang="ja-JP" dirty="0"/>
              <a:t>(16%)</a:t>
            </a:r>
            <a:r>
              <a:rPr lang="ja-JP" altLang="en-US" dirty="0"/>
              <a:t>：</a:t>
            </a:r>
            <a:endParaRPr lang="en-US" altLang="ja-JP" dirty="0"/>
          </a:p>
          <a:p>
            <a:pPr marL="800100" lvl="1" indent="-342900">
              <a:buFont typeface="+mj-lt"/>
              <a:buAutoNum type="arabicPeriod"/>
            </a:pPr>
            <a:r>
              <a:rPr lang="ja-JP" altLang="en-US" dirty="0"/>
              <a:t>セグメント規模は小さいが、特定スタンドへの固定利用者を自社に取り込めれば安定的な顧客基盤を形成できるため、投資対効果は大きい。</a:t>
            </a:r>
            <a:endParaRPr lang="en-US" altLang="ja-JP" dirty="0"/>
          </a:p>
          <a:p>
            <a:pPr marL="800100" lvl="1" indent="-342900">
              <a:buFont typeface="+mj-lt"/>
              <a:buAutoNum type="arabicPeriod"/>
            </a:pPr>
            <a:r>
              <a:rPr lang="ja-JP" altLang="en-US" dirty="0"/>
              <a:t>プレミアムガソリンへの抵抗感がもともと低く、投資対効果は大きい。</a:t>
            </a:r>
            <a:endParaRPr lang="en-US" altLang="ja-JP" dirty="0"/>
          </a:p>
          <a:p>
            <a:pPr marL="800100" lvl="1" indent="-342900">
              <a:buFont typeface="+mj-lt"/>
              <a:buAutoNum type="arabicPeriod"/>
            </a:pPr>
            <a:r>
              <a:rPr lang="ja-JP" altLang="en-US" dirty="0"/>
              <a:t>購入する食料品の単価が低く、投資対効果は小さい。</a:t>
            </a:r>
          </a:p>
          <a:p>
            <a:pPr marL="0" indent="0">
              <a:buNone/>
            </a:pPr>
            <a:r>
              <a:rPr lang="en-US" altLang="ja-JP" dirty="0"/>
              <a:t>F3</a:t>
            </a:r>
            <a:r>
              <a:rPr lang="ja-JP" altLang="en-US" dirty="0"/>
              <a:t>世代</a:t>
            </a:r>
            <a:r>
              <a:rPr lang="en-US" altLang="ja-JP" dirty="0"/>
              <a:t>(27%)</a:t>
            </a:r>
            <a:r>
              <a:rPr lang="ja-JP" altLang="en-US" dirty="0"/>
              <a:t>：</a:t>
            </a:r>
            <a:endParaRPr lang="en-US" altLang="ja-JP" dirty="0"/>
          </a:p>
          <a:p>
            <a:pPr marL="800100" lvl="1" indent="-342900">
              <a:buFont typeface="+mj-lt"/>
              <a:buAutoNum type="arabicPeriod"/>
            </a:pPr>
            <a:r>
              <a:rPr lang="ja-JP" altLang="en-US" dirty="0"/>
              <a:t>セグメント規模が大きく、ガソリン購入量も多いと推察されるため、投資対効果は大きい。</a:t>
            </a:r>
            <a:endParaRPr lang="en-US" altLang="ja-JP" dirty="0"/>
          </a:p>
          <a:p>
            <a:pPr marL="800100" lvl="1" indent="-342900">
              <a:buFont typeface="+mj-lt"/>
              <a:buAutoNum type="arabicPeriod"/>
            </a:pPr>
            <a:r>
              <a:rPr lang="ja-JP" altLang="en-US" dirty="0"/>
              <a:t>若年層中心であることからプレミアムガソリンへの心理的・経済的ハードルが高いと見込まれ、投資対効果は小さい。</a:t>
            </a:r>
            <a:endParaRPr lang="en-US" altLang="ja-JP" dirty="0"/>
          </a:p>
          <a:p>
            <a:pPr marL="800100" lvl="1" indent="-342900">
              <a:buFont typeface="+mj-lt"/>
              <a:buAutoNum type="arabicPeriod"/>
            </a:pPr>
            <a:r>
              <a:rPr lang="ja-JP" altLang="en-US" dirty="0"/>
              <a:t>他のセグメントと比較して単価が高く購入頻度も高いと考えられるため、投資対効果は大きい。</a:t>
            </a:r>
          </a:p>
          <a:p>
            <a:pPr marL="0" indent="0">
              <a:buNone/>
            </a:pPr>
            <a:r>
              <a:rPr lang="ja-JP" altLang="en-US" dirty="0"/>
              <a:t>家庭人</a:t>
            </a:r>
            <a:r>
              <a:rPr lang="en-US" altLang="ja-JP" dirty="0"/>
              <a:t>(21%)</a:t>
            </a:r>
            <a:r>
              <a:rPr lang="ja-JP" altLang="en-US" dirty="0"/>
              <a:t>：</a:t>
            </a:r>
            <a:endParaRPr lang="en-US" altLang="ja-JP" dirty="0"/>
          </a:p>
          <a:p>
            <a:pPr marL="800100" lvl="1" indent="-342900">
              <a:buFont typeface="+mj-lt"/>
              <a:buAutoNum type="arabicPeriod"/>
            </a:pPr>
            <a:r>
              <a:rPr lang="ja-JP" altLang="en-US" dirty="0"/>
              <a:t>セグメント規模は相応にあるが、日常的な短距離移動が中心であるためガソリン購入量は限定的であり、投資対効果は小さい。</a:t>
            </a:r>
            <a:endParaRPr lang="en-US" altLang="ja-JP" dirty="0"/>
          </a:p>
          <a:p>
            <a:pPr marL="800100" lvl="1" indent="-342900">
              <a:buFont typeface="+mj-lt"/>
              <a:buAutoNum type="arabicPeriod"/>
            </a:pPr>
            <a:r>
              <a:rPr lang="ja-JP" altLang="en-US" dirty="0"/>
              <a:t>プレミアムガソリンを積極的に選好する層とは言い難く、投資対効果は小さい。</a:t>
            </a:r>
            <a:endParaRPr lang="en-US" altLang="ja-JP" dirty="0"/>
          </a:p>
          <a:p>
            <a:pPr marL="800100" lvl="1" indent="-342900">
              <a:buFont typeface="+mj-lt"/>
              <a:buAutoNum type="arabicPeriod"/>
            </a:pPr>
            <a:r>
              <a:rPr lang="ja-JP" altLang="en-US" dirty="0"/>
              <a:t>洗車・売店を利用するモチベーションが低く、投資対効果は小さい。</a:t>
            </a:r>
          </a:p>
          <a:p>
            <a:pPr marL="0" indent="0">
              <a:buNone/>
            </a:pPr>
            <a:r>
              <a:rPr lang="ja-JP" altLang="en-US" dirty="0"/>
              <a:t>価格ショッパ</a:t>
            </a:r>
            <a:r>
              <a:rPr lang="en-US" altLang="ja-JP" dirty="0"/>
              <a:t>(20%)</a:t>
            </a:r>
            <a:r>
              <a:rPr lang="ja-JP" altLang="en-US" dirty="0"/>
              <a:t> </a:t>
            </a:r>
            <a:endParaRPr lang="en-US" altLang="ja-JP" dirty="0"/>
          </a:p>
          <a:p>
            <a:pPr marL="800100" lvl="1" indent="-342900">
              <a:buFont typeface="+mj-lt"/>
              <a:buAutoNum type="arabicPeriod"/>
            </a:pPr>
            <a:r>
              <a:rPr lang="ja-JP" altLang="en-US" dirty="0"/>
              <a:t>セグメント規模は相応にあるが、ロイヤルティの欠如と高い価格感度が低価格競争を誘発するリスクがあり、利益率改善とは相反するため投資対効果は小さい。</a:t>
            </a:r>
            <a:endParaRPr lang="en-US" altLang="ja-JP" dirty="0"/>
          </a:p>
          <a:p>
            <a:pPr marL="800100" lvl="1" indent="-342900">
              <a:buFont typeface="+mj-lt"/>
              <a:buAutoNum type="arabicPeriod"/>
            </a:pPr>
            <a:r>
              <a:rPr lang="ja-JP" altLang="en-US" dirty="0"/>
              <a:t>予算に厳しいことから、プレミアムガソリンへの移行が見込めないため、投資対効果は小さい。</a:t>
            </a:r>
            <a:endParaRPr lang="en-US" altLang="ja-JP" dirty="0"/>
          </a:p>
          <a:p>
            <a:pPr marL="800100" lvl="1" indent="-342900">
              <a:buFont typeface="+mj-lt"/>
              <a:buAutoNum type="arabicPeriod"/>
            </a:pPr>
            <a:r>
              <a:rPr lang="ja-JP" altLang="en-US" dirty="0"/>
              <a:t>購入する食料品の単価が低く、投資対効果は小さい。</a:t>
            </a:r>
          </a:p>
        </p:txBody>
      </p:sp>
    </p:spTree>
    <p:extLst>
      <p:ext uri="{BB962C8B-B14F-4D97-AF65-F5344CB8AC3E}">
        <p14:creationId xmlns:p14="http://schemas.microsoft.com/office/powerpoint/2010/main" val="4241230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38CE7-CEA2-DAD1-54B5-0790DEFE245B}"/>
              </a:ext>
            </a:extLst>
          </p:cNvPr>
          <p:cNvSpPr>
            <a:spLocks noGrp="1"/>
          </p:cNvSpPr>
          <p:nvPr>
            <p:ph type="title"/>
          </p:nvPr>
        </p:nvSpPr>
        <p:spPr/>
        <p:txBody>
          <a:bodyPr/>
          <a:lstStyle/>
          <a:p>
            <a:endParaRPr kumimoji="1" lang="ja-JP" altLang="en-US"/>
          </a:p>
        </p:txBody>
      </p:sp>
      <p:graphicFrame>
        <p:nvGraphicFramePr>
          <p:cNvPr id="5" name="コンテンツ プレースホルダー 4">
            <a:extLst>
              <a:ext uri="{FF2B5EF4-FFF2-40B4-BE49-F238E27FC236}">
                <a16:creationId xmlns:a16="http://schemas.microsoft.com/office/drawing/2014/main" id="{09989933-4151-C7A8-884F-75033B0AAA4A}"/>
              </a:ext>
            </a:extLst>
          </p:cNvPr>
          <p:cNvGraphicFramePr>
            <a:graphicFrameLocks noGrp="1"/>
          </p:cNvGraphicFramePr>
          <p:nvPr>
            <p:ph sz="quarter" idx="13"/>
            <p:extLst>
              <p:ext uri="{D42A27DB-BD31-4B8C-83A1-F6EECF244321}">
                <p14:modId xmlns:p14="http://schemas.microsoft.com/office/powerpoint/2010/main" val="4161970909"/>
              </p:ext>
            </p:extLst>
          </p:nvPr>
        </p:nvGraphicFramePr>
        <p:xfrm>
          <a:off x="103031" y="1177458"/>
          <a:ext cx="11925839" cy="5625569"/>
        </p:xfrm>
        <a:graphic>
          <a:graphicData uri="http://schemas.openxmlformats.org/drawingml/2006/table">
            <a:tbl>
              <a:tblPr firstRow="1" bandRow="1">
                <a:tableStyleId>{5C22544A-7EE6-4342-B048-85BDC9FD1C3A}</a:tableStyleId>
              </a:tblPr>
              <a:tblGrid>
                <a:gridCol w="2158909">
                  <a:extLst>
                    <a:ext uri="{9D8B030D-6E8A-4147-A177-3AD203B41FA5}">
                      <a16:colId xmlns:a16="http://schemas.microsoft.com/office/drawing/2014/main" val="1448828218"/>
                    </a:ext>
                  </a:extLst>
                </a:gridCol>
                <a:gridCol w="1953386">
                  <a:extLst>
                    <a:ext uri="{9D8B030D-6E8A-4147-A177-3AD203B41FA5}">
                      <a16:colId xmlns:a16="http://schemas.microsoft.com/office/drawing/2014/main" val="1155957924"/>
                    </a:ext>
                  </a:extLst>
                </a:gridCol>
                <a:gridCol w="2455930">
                  <a:extLst>
                    <a:ext uri="{9D8B030D-6E8A-4147-A177-3AD203B41FA5}">
                      <a16:colId xmlns:a16="http://schemas.microsoft.com/office/drawing/2014/main" val="3356434079"/>
                    </a:ext>
                  </a:extLst>
                </a:gridCol>
                <a:gridCol w="1450842">
                  <a:extLst>
                    <a:ext uri="{9D8B030D-6E8A-4147-A177-3AD203B41FA5}">
                      <a16:colId xmlns:a16="http://schemas.microsoft.com/office/drawing/2014/main" val="2186660112"/>
                    </a:ext>
                  </a:extLst>
                </a:gridCol>
                <a:gridCol w="1953386">
                  <a:extLst>
                    <a:ext uri="{9D8B030D-6E8A-4147-A177-3AD203B41FA5}">
                      <a16:colId xmlns:a16="http://schemas.microsoft.com/office/drawing/2014/main" val="406864089"/>
                    </a:ext>
                  </a:extLst>
                </a:gridCol>
                <a:gridCol w="1953386">
                  <a:extLst>
                    <a:ext uri="{9D8B030D-6E8A-4147-A177-3AD203B41FA5}">
                      <a16:colId xmlns:a16="http://schemas.microsoft.com/office/drawing/2014/main" val="3108649241"/>
                    </a:ext>
                  </a:extLst>
                </a:gridCol>
              </a:tblGrid>
              <a:tr h="244405">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ユーザー・セグメント</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セグメントの特徴</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6601854"/>
                  </a:ext>
                </a:extLst>
              </a:tr>
              <a:tr h="244405">
                <a:tc>
                  <a:txBody>
                    <a:bodyPr/>
                    <a:lstStyle/>
                    <a:p>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ニーズ</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DMP</a:t>
                      </a:r>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DMU</a:t>
                      </a:r>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DMF</a:t>
                      </a:r>
                      <a:endParaRPr kumimoji="1" lang="ja-JP" altLang="en-US"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その他</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0376682"/>
                  </a:ext>
                </a:extLst>
              </a:tr>
              <a:tr h="1035127">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個人用・家庭用</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ゲームや動画編集に特化した高性能機種</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カスタマイズ性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直観的な操作性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充実したサポート体制</a:t>
                      </a: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デザイン・軽量性</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28600" indent="-228600">
                        <a:buFont typeface="+mj-lt"/>
                        <a:buAutoNum type="arabicPeriod"/>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でやりたいことがある</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SNS</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や口コミで情報収集</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店頭や</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EC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サイトで機種を比較</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クーポンやキャンペーンを狙って購入（例外アリ）</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を使う人本人</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学生用の場合は保護者</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価格</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理想スペックへの対応</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ブランドイメージ</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SNS</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評価</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クーポン等の有無</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サポート体制の有無</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買い換え期間が短い</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購入候補機種が多い</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手厚いサポート体制が好まれる</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購入者本人が使用用途に合った</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を選ぶ必要あり</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7535618"/>
                  </a:ext>
                </a:extLst>
              </a:tr>
              <a:tr h="1193271">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法人（従業員</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500</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人未満）</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低コスト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容易なセットアップ</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手厚いセキュリティ保証</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新規従業員用の</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が必要</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販売代理店による提案（機種は決定済み？）</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管理職または総務等が購入する</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を決定</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代理店経由で</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を購入</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経営者</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総務</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情シス</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従業者本人</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親会社（？）</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所有する</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の総コスト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セットアップの容易さ（操作性・機種への慣れ）</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サポート体制の豊富さ</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耐久性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セキュリティ要件</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IT</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専任である情シス担当を保有していない可能性あり</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超小規模事業者は個人用</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を使いまわす、または個人が予算内で自由に仕事用</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を購入する場合もあり。</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購入決定までの期間が短い</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9246"/>
                  </a:ext>
                </a:extLst>
              </a:tr>
              <a:tr h="1193271">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法人（従業員</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500</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人以上）</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低コスト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容易なセットアップ</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手厚いセキュリティ保証</a:t>
                      </a: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納期厳守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同じ機種を使い続けたい（標準化）</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新規従業員用の</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が大量に必要</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販売代理店またはメーカーによる入札</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購買や情シスが合同で購入する</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を選択、経営層が購入を承認</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代理店またはメーカーから一括購入</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情シス部門</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購買部門</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経営層</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所有する</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の総コスト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セットアップの容易さ（操作性・機種への慣れ）</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情シス部門との連携</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耐久性・信頼性（ブランド）</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運用中の環境との親和性（管理ソフトへの対応等）</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情シス担当が機種を選択</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大量の</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を一括購入する場合が多い</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購入決定までの期間が長い</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57499"/>
                  </a:ext>
                </a:extLst>
              </a:tr>
              <a:tr h="1480289">
                <a:tc>
                  <a:txBody>
                    <a:bodyPr/>
                    <a:lstStyle/>
                    <a:p>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公共機関</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l"/>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官公庁、自治体</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l"/>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大学、研究機関</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l"/>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小中高</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l"/>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医療機関</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0" indent="0">
                        <a:buFont typeface="Wingdings" panose="05000000000000000000" pitchFamily="2" charset="2"/>
                        <a:buNone/>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 </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小学校と中学校に対して分類</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児童向けの操作性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耐久性の高さ</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GIGA</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スクール構想へのスペック対応</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教職員による端末管理機能への対応</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国の補助金対象であること</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文部科学省・デジタル庁が</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GIGA</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スクール構想のガイドラインと補助金に関する仕様を策定</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市区町村教育委員会による入札公告、ガイドラインや補助金に適した価格・スペックの</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を入札業者が選定</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業者選定、契約</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毎年四月に合わせて</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PC</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を納品</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文部科学省</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デジタル庁</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市区町村教育員会</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価格（補助金制度によって大きく左右される）</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耐久性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直観的な操作性</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ガイドラインへの対応状況</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児童の管理や勉強用ソフト</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サポート体制の豊富さ</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低価格の</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Chromebook</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が</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GIGA</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スクール構想のガイドラインで指定されている。</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セキュリティや</a:t>
                      </a:r>
                      <a:r>
                        <a:rPr kumimoji="1" lang="en-US" altLang="ja-JP" sz="1100" b="0" dirty="0">
                          <a:solidFill>
                            <a:schemeClr val="bg2">
                              <a:lumMod val="25000"/>
                            </a:schemeClr>
                          </a:solidFill>
                          <a:latin typeface="Meiryo UI" panose="020B0604030504040204" pitchFamily="50" charset="-128"/>
                          <a:ea typeface="Meiryo UI" panose="020B0604030504040204" pitchFamily="50" charset="-128"/>
                        </a:rPr>
                        <a:t>SNS</a:t>
                      </a: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悪用への懸念から、クラウドを用いない環境の需要増</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b="0" dirty="0">
                          <a:solidFill>
                            <a:schemeClr val="bg2">
                              <a:lumMod val="25000"/>
                            </a:schemeClr>
                          </a:solidFill>
                          <a:latin typeface="Meiryo UI" panose="020B0604030504040204" pitchFamily="50" charset="-128"/>
                          <a:ea typeface="Meiryo UI" panose="020B0604030504040204" pitchFamily="50" charset="-128"/>
                        </a:rPr>
                        <a:t>代理店・メーカー共に契約締結時のメリットが大きい</a:t>
                      </a:r>
                      <a:endParaRPr kumimoji="1" lang="en-US" altLang="ja-JP" sz="1100" b="0" dirty="0">
                        <a:solidFill>
                          <a:schemeClr val="bg2">
                            <a:lumMod val="25000"/>
                          </a:schemeClr>
                        </a:solidFill>
                        <a:latin typeface="Meiryo UI" panose="020B0604030504040204" pitchFamily="50" charset="-128"/>
                        <a:ea typeface="Meiryo UI" panose="020B0604030504040204" pitchFamily="50" charset="-128"/>
                      </a:endParaRP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3381578"/>
                  </a:ext>
                </a:extLst>
              </a:tr>
            </a:tbl>
          </a:graphicData>
        </a:graphic>
      </p:graphicFrame>
      <p:sp>
        <p:nvSpPr>
          <p:cNvPr id="4" name="コンテンツ プレースホルダー 3">
            <a:extLst>
              <a:ext uri="{FF2B5EF4-FFF2-40B4-BE49-F238E27FC236}">
                <a16:creationId xmlns:a16="http://schemas.microsoft.com/office/drawing/2014/main" id="{8E2CE919-845B-CF20-1BD9-D4247070CCB2}"/>
              </a:ext>
            </a:extLst>
          </p:cNvPr>
          <p:cNvSpPr>
            <a:spLocks noGrp="1"/>
          </p:cNvSpPr>
          <p:nvPr>
            <p:ph sz="quarter" idx="14"/>
          </p:nvPr>
        </p:nvSpPr>
        <p:spPr>
          <a:xfrm>
            <a:off x="317241" y="785874"/>
            <a:ext cx="11591536" cy="4730198"/>
          </a:xfrm>
        </p:spPr>
        <p:txBody>
          <a:bodyPr/>
          <a:lstStyle/>
          <a:p>
            <a:pPr marL="0" indent="0">
              <a:buNone/>
            </a:pPr>
            <a:r>
              <a:rPr lang="en-US" altLang="ja-JP" dirty="0"/>
              <a:t>Q</a:t>
            </a:r>
            <a:r>
              <a:rPr lang="ja-JP" altLang="en-US" dirty="0"/>
              <a:t>：デル日本の</a:t>
            </a:r>
            <a:r>
              <a:rPr lang="en-US" altLang="ja-JP" dirty="0"/>
              <a:t>PC</a:t>
            </a:r>
            <a:r>
              <a:rPr lang="ja-JP" altLang="en-US" dirty="0"/>
              <a:t>市場セグメンテーションにおける、セグメントごとの特徴とニーズを明らかにせよ</a:t>
            </a:r>
            <a:endParaRPr kumimoji="1" lang="ja-JP" altLang="en-US" dirty="0"/>
          </a:p>
        </p:txBody>
      </p:sp>
    </p:spTree>
    <p:extLst>
      <p:ext uri="{BB962C8B-B14F-4D97-AF65-F5344CB8AC3E}">
        <p14:creationId xmlns:p14="http://schemas.microsoft.com/office/powerpoint/2010/main" val="1205341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633957-3BB5-4913-E056-A8ADCA874063}"/>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F89D92A-51DF-58FE-663A-4D623279DB96}"/>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9856D166-5D82-0B20-B115-2A020594BD92}"/>
              </a:ext>
            </a:extLst>
          </p:cNvPr>
          <p:cNvSpPr>
            <a:spLocks noGrp="1"/>
          </p:cNvSpPr>
          <p:nvPr>
            <p:ph sz="quarter" idx="14"/>
          </p:nvPr>
        </p:nvSpPr>
        <p:spPr/>
        <p:txBody>
          <a:bodyPr/>
          <a:lstStyle/>
          <a:p>
            <a:pPr marL="0" indent="0">
              <a:buNone/>
            </a:pPr>
            <a:r>
              <a:rPr lang="en-US" altLang="ja-JP" dirty="0"/>
              <a:t>Q</a:t>
            </a:r>
            <a:r>
              <a:rPr lang="ja-JP" altLang="en-US" dirty="0"/>
              <a:t>：</a:t>
            </a:r>
            <a:r>
              <a:rPr kumimoji="1" lang="ja-JP" altLang="en-US" dirty="0"/>
              <a:t>デルのマーケティングにおいて、顧客セグメントを絞り込んでいない理由とは？</a:t>
            </a:r>
            <a:endParaRPr kumimoji="1" lang="en-US" altLang="ja-JP" dirty="0"/>
          </a:p>
          <a:p>
            <a:r>
              <a:rPr kumimoji="1" lang="en-US" altLang="ja-JP" dirty="0"/>
              <a:t>Dell</a:t>
            </a:r>
            <a:r>
              <a:rPr kumimoji="1" lang="ja-JP" altLang="en-US" dirty="0"/>
              <a:t>のノート</a:t>
            </a:r>
            <a:r>
              <a:rPr kumimoji="1" lang="en-US" altLang="ja-JP" dirty="0"/>
              <a:t>PC</a:t>
            </a:r>
            <a:r>
              <a:rPr kumimoji="1" lang="ja-JP" altLang="en-US" dirty="0"/>
              <a:t>販売サイトを確認すると、個人用パソコンは</a:t>
            </a:r>
            <a:r>
              <a:rPr kumimoji="1" lang="en-US" altLang="ja-JP" dirty="0"/>
              <a:t>”</a:t>
            </a:r>
            <a:r>
              <a:rPr kumimoji="1" lang="ja-JP" altLang="en-US" dirty="0">
                <a:hlinkClick r:id="rId2"/>
              </a:rPr>
              <a:t>ノートパソコン</a:t>
            </a:r>
            <a:r>
              <a:rPr kumimoji="1" lang="en-US" altLang="ja-JP" dirty="0"/>
              <a:t>”</a:t>
            </a:r>
            <a:r>
              <a:rPr kumimoji="1" lang="ja-JP" altLang="en-US" dirty="0"/>
              <a:t>や</a:t>
            </a:r>
            <a:r>
              <a:rPr kumimoji="1" lang="en-US" altLang="ja-JP" dirty="0"/>
              <a:t>”</a:t>
            </a:r>
            <a:r>
              <a:rPr kumimoji="1" lang="ja-JP" altLang="en-US" dirty="0">
                <a:hlinkClick r:id="rId3"/>
              </a:rPr>
              <a:t>ゲーミングパソコン</a:t>
            </a:r>
            <a:r>
              <a:rPr kumimoji="1" lang="en-US" altLang="ja-JP" dirty="0"/>
              <a:t>”</a:t>
            </a:r>
            <a:r>
              <a:rPr kumimoji="1" lang="ja-JP" altLang="en-US" dirty="0"/>
              <a:t>、法人用パソコンは</a:t>
            </a:r>
            <a:r>
              <a:rPr kumimoji="1" lang="en-US" altLang="ja-JP" dirty="0"/>
              <a:t>”</a:t>
            </a:r>
            <a:r>
              <a:rPr kumimoji="1" lang="ja-JP" altLang="en-US" dirty="0">
                <a:hlinkClick r:id="rId4"/>
              </a:rPr>
              <a:t>ビジネスパソコン</a:t>
            </a:r>
            <a:r>
              <a:rPr kumimoji="1" lang="en-US" altLang="ja-JP" dirty="0"/>
              <a:t>”</a:t>
            </a:r>
            <a:r>
              <a:rPr lang="ja-JP" altLang="en-US" dirty="0"/>
              <a:t>で製品紹介ページが分けられていた。</a:t>
            </a:r>
            <a:endParaRPr lang="en-US" altLang="ja-JP" dirty="0"/>
          </a:p>
          <a:p>
            <a:r>
              <a:rPr lang="ja-JP" altLang="en-US" dirty="0"/>
              <a:t>各ページ内では、スペック（</a:t>
            </a:r>
            <a:r>
              <a:rPr lang="en-US" altLang="ja-JP" dirty="0"/>
              <a:t>CPU</a:t>
            </a:r>
            <a:r>
              <a:rPr lang="ja-JP" altLang="en-US" dirty="0"/>
              <a:t>・</a:t>
            </a:r>
            <a:r>
              <a:rPr lang="en-US" altLang="ja-JP" dirty="0"/>
              <a:t>OS</a:t>
            </a:r>
            <a:r>
              <a:rPr lang="ja-JP" altLang="en-US" dirty="0"/>
              <a:t>・重量・</a:t>
            </a:r>
            <a:r>
              <a:rPr lang="en-US" altLang="ja-JP" dirty="0"/>
              <a:t>AI</a:t>
            </a:r>
            <a:r>
              <a:rPr lang="ja-JP" altLang="en-US" dirty="0"/>
              <a:t>対応状況等）、納期、製品ライン（個人向けページでは「個人／プロフェッショナル」、法人向けページでは「プロフェッショナル／ワークステーション」）によるカテゴリ分けが行われていた。</a:t>
            </a:r>
            <a:endParaRPr lang="en-US" altLang="ja-JP" dirty="0"/>
          </a:p>
          <a:p>
            <a:r>
              <a:rPr lang="ja-JP" altLang="en-US" dirty="0"/>
              <a:t>顧客セグメント別に特定製品を推奨する設計は採用されていないが、スペック（</a:t>
            </a:r>
            <a:r>
              <a:rPr lang="en-US" altLang="ja-JP" dirty="0"/>
              <a:t>CPU</a:t>
            </a:r>
            <a:r>
              <a:rPr lang="ja-JP" altLang="en-US" dirty="0"/>
              <a:t>や</a:t>
            </a:r>
            <a:r>
              <a:rPr lang="en-US" altLang="ja-JP" dirty="0"/>
              <a:t>OS</a:t>
            </a:r>
            <a:r>
              <a:rPr lang="ja-JP" altLang="en-US" dirty="0"/>
              <a:t>、重量、</a:t>
            </a:r>
            <a:r>
              <a:rPr lang="en-US" altLang="ja-JP" dirty="0"/>
              <a:t>AI</a:t>
            </a:r>
            <a:r>
              <a:rPr lang="ja-JP" altLang="en-US" dirty="0"/>
              <a:t>への対応状況等）で顧客自身が</a:t>
            </a:r>
            <a:r>
              <a:rPr lang="en-US" altLang="ja-JP" dirty="0"/>
              <a:t>PC</a:t>
            </a:r>
            <a:r>
              <a:rPr lang="ja-JP" altLang="en-US" dirty="0"/>
              <a:t>を絞り込める構造となっていた。</a:t>
            </a:r>
            <a:endParaRPr lang="en-US" altLang="ja-JP" dirty="0"/>
          </a:p>
          <a:p>
            <a:endParaRPr kumimoji="1" lang="en-US" altLang="ja-JP" dirty="0"/>
          </a:p>
          <a:p>
            <a:r>
              <a:rPr lang="ja-JP" altLang="en-US" dirty="0"/>
              <a:t>この販売サイトの設計思想は、以下の認識に基づくものと考えられる。</a:t>
            </a:r>
            <a:endParaRPr lang="en-US" altLang="ja-JP" dirty="0"/>
          </a:p>
          <a:p>
            <a:pPr marL="342900" indent="-342900">
              <a:buFont typeface="+mj-lt"/>
              <a:buAutoNum type="arabicPeriod"/>
            </a:pPr>
            <a:r>
              <a:rPr lang="en-US" altLang="ja-JP" dirty="0"/>
              <a:t>PC</a:t>
            </a:r>
            <a:r>
              <a:rPr lang="ja-JP" altLang="en-US" dirty="0"/>
              <a:t>に関する情報が広く普及し、用途に適したスペックを顧客自身が容易に調査・判断できる環境が整った現在、購入要件の定義主体は顧客側に移行している。この状況において、メーカーが事前に顧客をセグメント分類し特定製品へ誘導する手法は、顧客の自由な選択を妨げるノイズになりかねない。</a:t>
            </a:r>
            <a:endParaRPr lang="en-US" altLang="ja-JP" dirty="0"/>
          </a:p>
          <a:p>
            <a:pPr marL="342900" indent="-342900">
              <a:buFont typeface="+mj-lt"/>
              <a:buAutoNum type="arabicPeriod"/>
            </a:pPr>
            <a:r>
              <a:rPr lang="ja-JP" altLang="en-US" dirty="0"/>
              <a:t>したがって、セグメンテーションによる「顧客への製品の割り当て」ではなく、顧客が自ら定義した要件に合致する製品を即座に探し出せるフィルタリング環境の整備をサイト設計の中心に据えている。</a:t>
            </a:r>
            <a:endParaRPr kumimoji="1" lang="en-US" altLang="ja-JP" dirty="0"/>
          </a:p>
        </p:txBody>
      </p:sp>
    </p:spTree>
    <p:extLst>
      <p:ext uri="{BB962C8B-B14F-4D97-AF65-F5344CB8AC3E}">
        <p14:creationId xmlns:p14="http://schemas.microsoft.com/office/powerpoint/2010/main" val="623055326"/>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8486</TotalTime>
  <Words>2902</Words>
  <Application>Microsoft Office PowerPoint</Application>
  <PresentationFormat>ワイド画面</PresentationFormat>
  <Paragraphs>260</Paragraphs>
  <Slides>10</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Meiryo UI</vt:lpstr>
      <vt:lpstr>游ゴシック</vt:lpstr>
      <vt:lpstr>Arial</vt:lpstr>
      <vt:lpstr>Wingdings</vt:lpstr>
      <vt:lpstr>デザインの設定</vt:lpstr>
      <vt:lpstr>PowerPoint プレゼンテーション</vt:lpstr>
      <vt:lpstr>PowerPoint プレゼンテーション</vt:lpstr>
      <vt:lpstr>鎌倉らしさのブランド価値の希薄化を防ぐ4P施策を立案</vt:lpstr>
      <vt:lpstr>PowerPoint プレゼンテーション</vt:lpstr>
      <vt:lpstr>PowerPoint プレゼンテーション</vt:lpstr>
      <vt:lpstr>PowerPoint プレゼンテーション</vt:lpstr>
      <vt:lpstr>モビール石油の利益率向上のため、主ターゲットに道路戦士と保守本流を設定する</vt:lpstr>
      <vt:lpstr>（FYI）各施策とセグメントの親和性の詳細</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64</cp:revision>
  <dcterms:created xsi:type="dcterms:W3CDTF">2026-04-07T13:27:17Z</dcterms:created>
  <dcterms:modified xsi:type="dcterms:W3CDTF">2026-04-15T10:17:52Z</dcterms:modified>
</cp:coreProperties>
</file>