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4" r:id="rId4"/>
    <p:sldId id="266" r:id="rId5"/>
    <p:sldId id="267" r:id="rId6"/>
    <p:sldId id="262" r:id="rId7"/>
    <p:sldId id="263" r:id="rId8"/>
    <p:sldId id="268" r:id="rId9"/>
    <p:sldId id="270"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26"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FEB6A0-80CE-1252-7317-C47A68F02DD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838A961-2C27-C608-F238-AFDC24A5F8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4F1E85-1664-EC0C-707E-54F173DD2E7C}"/>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5" name="フッター プレースホルダー 4">
            <a:extLst>
              <a:ext uri="{FF2B5EF4-FFF2-40B4-BE49-F238E27FC236}">
                <a16:creationId xmlns:a16="http://schemas.microsoft.com/office/drawing/2014/main" id="{46E1F7C7-773E-F7F7-C336-0D1F77BEFBC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88D8D5-1AF4-D87F-CE6A-4F6293439231}"/>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3774959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8A43C1-E368-E1C3-F763-57FD79B030D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BDA36C-5891-702B-84A0-A36B5788D7B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E1FA4F-C3E5-E2CB-535C-C7FBF95E44C9}"/>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5" name="フッター プレースホルダー 4">
            <a:extLst>
              <a:ext uri="{FF2B5EF4-FFF2-40B4-BE49-F238E27FC236}">
                <a16:creationId xmlns:a16="http://schemas.microsoft.com/office/drawing/2014/main" id="{7E3B4AB9-DA45-7381-9AFA-D2AA6158D3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9F6DD1-DB72-B541-87D2-F21A4A371216}"/>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882522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B4F5E-6CF4-41F9-8054-D137C98E395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E8FD168-9E79-C649-676C-D345D97FDE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3F1548D-6DE9-5C99-2A9E-D7A79C5C0A23}"/>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5" name="フッター プレースホルダー 4">
            <a:extLst>
              <a:ext uri="{FF2B5EF4-FFF2-40B4-BE49-F238E27FC236}">
                <a16:creationId xmlns:a16="http://schemas.microsoft.com/office/drawing/2014/main" id="{2DAD7E3D-5284-E4D3-A78C-55BC4FF4EA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E3F267-1205-6CD5-19CB-EEE474757FA4}"/>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709699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9D4C99-CB3E-B962-EF30-104D485AD3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1BD3CD-F015-4EBA-B841-8C0CA9A744D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56772EE-20CC-DF0D-10D8-5CA77458AC6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186DB27-A511-93E5-733C-A077CDF1F172}"/>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6" name="フッター プレースホルダー 5">
            <a:extLst>
              <a:ext uri="{FF2B5EF4-FFF2-40B4-BE49-F238E27FC236}">
                <a16:creationId xmlns:a16="http://schemas.microsoft.com/office/drawing/2014/main" id="{A85C7686-3483-456A-6097-F978EC3B101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9E9E64B-94F2-4AB7-FB70-A6C7B484ABBC}"/>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207307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FC9871-4485-B7E7-FB49-94B985AD69D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BBBE64A-F314-DF85-8025-EE8D1B41CB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DF3E021-CD29-456C-0AC9-0D50E518D86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4C6B304-B649-9D6A-E2D5-A0D40E6363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5157155-DCC5-DF47-AB75-5F7D98DE4D3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EDF1280-92A8-47DF-BAD4-6EFE88E63CF3}"/>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8" name="フッター プレースホルダー 7">
            <a:extLst>
              <a:ext uri="{FF2B5EF4-FFF2-40B4-BE49-F238E27FC236}">
                <a16:creationId xmlns:a16="http://schemas.microsoft.com/office/drawing/2014/main" id="{08641873-3026-DBDB-5FD8-1E47F135881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07972B4-3758-C0DE-E4B8-73E918E75508}"/>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4039231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F5877E-3BEB-7C09-61E6-9B94B3CE56C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D1AF26-3EBC-1548-471F-13AFCD792447}"/>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4" name="フッター プレースホルダー 3">
            <a:extLst>
              <a:ext uri="{FF2B5EF4-FFF2-40B4-BE49-F238E27FC236}">
                <a16:creationId xmlns:a16="http://schemas.microsoft.com/office/drawing/2014/main" id="{58FF6C7B-6279-FFA7-C10E-32159D803BD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2884E92-11D9-6674-79C8-7252632510B5}"/>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633372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5235B0D-9F67-5F65-CC66-A70EEF46E69E}"/>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3" name="フッター プレースホルダー 2">
            <a:extLst>
              <a:ext uri="{FF2B5EF4-FFF2-40B4-BE49-F238E27FC236}">
                <a16:creationId xmlns:a16="http://schemas.microsoft.com/office/drawing/2014/main" id="{42641AA8-68B4-8699-C54A-D7180A2B5E4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0DBC2A6-83E1-00F8-A81C-F2B6E93B1FA2}"/>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2847889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573E3D-FF35-1217-4D1A-73C493ED67C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8C0DCD7-2989-A52E-06C2-17C6A5E77B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DCB0E61-1BC5-3303-DC1E-98961085F1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5FA02E7-8F55-5155-0C34-C107ABBA9B0D}"/>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6" name="フッター プレースホルダー 5">
            <a:extLst>
              <a:ext uri="{FF2B5EF4-FFF2-40B4-BE49-F238E27FC236}">
                <a16:creationId xmlns:a16="http://schemas.microsoft.com/office/drawing/2014/main" id="{CDC7E6FA-3B26-E946-D9E2-0F4A311CBE8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B78B6BD-39A3-B33D-90D8-0CEE793E9C7D}"/>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170267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B5F2EB-9F1A-1FD4-BC36-76E3BD942F1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7DB21A9-4DB9-C0D3-157D-E290651306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52599BB-8CB8-DBB0-3731-B432CB926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B25728A-BB68-4200-3F20-11667C415B53}"/>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6" name="フッター プレースホルダー 5">
            <a:extLst>
              <a:ext uri="{FF2B5EF4-FFF2-40B4-BE49-F238E27FC236}">
                <a16:creationId xmlns:a16="http://schemas.microsoft.com/office/drawing/2014/main" id="{A1AB303F-4936-0326-CACE-2E39E54123D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19821EF-18D8-FC96-5D8D-1D06CB3E0CE6}"/>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50284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3CD56C-38DF-6588-B7B8-F563FF5D7B1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1ED6A96-2719-603C-9CB5-DA4ABEC5B6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E74A3E-6BFB-4C14-D758-334814FB255C}"/>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5" name="フッター プレースホルダー 4">
            <a:extLst>
              <a:ext uri="{FF2B5EF4-FFF2-40B4-BE49-F238E27FC236}">
                <a16:creationId xmlns:a16="http://schemas.microsoft.com/office/drawing/2014/main" id="{7210DA3B-CC70-7D6A-FC1B-3DDCB2B28B5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7883FEE-C8D5-9CA5-959B-2C2C94D4A612}"/>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209243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A679CD2-E229-BE65-533B-527E82D923A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1AC32C0-81DF-3F83-FFC8-42AA12D59D0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EB3D7B-39D6-836E-12E0-27DF50BF8DE6}"/>
              </a:ext>
            </a:extLst>
          </p:cNvPr>
          <p:cNvSpPr>
            <a:spLocks noGrp="1"/>
          </p:cNvSpPr>
          <p:nvPr>
            <p:ph type="dt" sz="half" idx="10"/>
          </p:nvPr>
        </p:nvSpPr>
        <p:spPr/>
        <p:txBody>
          <a:bodyPr/>
          <a:lstStyle/>
          <a:p>
            <a:fld id="{11452BF2-670F-40BC-8CEF-7DF0FF7AD925}" type="datetimeFigureOut">
              <a:rPr kumimoji="1" lang="ja-JP" altLang="en-US" smtClean="0"/>
              <a:t>2026/6/28</a:t>
            </a:fld>
            <a:endParaRPr kumimoji="1" lang="ja-JP" altLang="en-US"/>
          </a:p>
        </p:txBody>
      </p:sp>
      <p:sp>
        <p:nvSpPr>
          <p:cNvPr id="5" name="フッター プレースホルダー 4">
            <a:extLst>
              <a:ext uri="{FF2B5EF4-FFF2-40B4-BE49-F238E27FC236}">
                <a16:creationId xmlns:a16="http://schemas.microsoft.com/office/drawing/2014/main" id="{FACDD10E-1090-762C-6C47-6280F30146F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F2B5BB-65B4-F688-8A04-2638DFAA2EA1}"/>
              </a:ext>
            </a:extLst>
          </p:cNvPr>
          <p:cNvSpPr>
            <a:spLocks noGrp="1"/>
          </p:cNvSpPr>
          <p:nvPr>
            <p:ph type="sldNum" sz="quarter" idx="12"/>
          </p:nvPr>
        </p:nvSpPr>
        <p:spPr/>
        <p:txBody>
          <a:body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774586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AD6A204-C1BD-7280-68DE-1C2666F196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B11758E-C769-D5CD-3F98-15ADD59212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D6C7F5-714A-170E-FDE5-A251752879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452BF2-670F-40BC-8CEF-7DF0FF7AD925}" type="datetimeFigureOut">
              <a:rPr kumimoji="1" lang="ja-JP" altLang="en-US" smtClean="0"/>
              <a:t>2026/6/28</a:t>
            </a:fld>
            <a:endParaRPr kumimoji="1" lang="ja-JP" altLang="en-US"/>
          </a:p>
        </p:txBody>
      </p:sp>
      <p:sp>
        <p:nvSpPr>
          <p:cNvPr id="5" name="フッター プレースホルダー 4">
            <a:extLst>
              <a:ext uri="{FF2B5EF4-FFF2-40B4-BE49-F238E27FC236}">
                <a16:creationId xmlns:a16="http://schemas.microsoft.com/office/drawing/2014/main" id="{5FB5F6C3-AF20-DEE7-39ED-32C4329F5C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5BF0203-A1B7-7475-0343-0588066C09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8264BE-4F97-4474-BA10-9DE09B29F1E9}" type="slidenum">
              <a:rPr kumimoji="1" lang="ja-JP" altLang="en-US" smtClean="0"/>
              <a:t>‹#›</a:t>
            </a:fld>
            <a:endParaRPr kumimoji="1" lang="ja-JP" altLang="en-US"/>
          </a:p>
        </p:txBody>
      </p:sp>
    </p:spTree>
    <p:extLst>
      <p:ext uri="{BB962C8B-B14F-4D97-AF65-F5344CB8AC3E}">
        <p14:creationId xmlns:p14="http://schemas.microsoft.com/office/powerpoint/2010/main" val="1519697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4D43A-E3A0-A316-FCA7-CF2E2150222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1003FF5-DB04-0FF0-7AD6-8D32891D3EE3}"/>
              </a:ext>
            </a:extLst>
          </p:cNvPr>
          <p:cNvSpPr/>
          <p:nvPr/>
        </p:nvSpPr>
        <p:spPr>
          <a:xfrm>
            <a:off x="148733" y="135925"/>
            <a:ext cx="5815463" cy="194613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65000"/>
                    <a:lumOff val="35000"/>
                  </a:schemeClr>
                </a:solidFill>
              </a:rPr>
              <a:t>今までの経緯</a:t>
            </a:r>
            <a:endParaRPr lang="en-US" altLang="ja-JP" sz="1100" b="1" dirty="0">
              <a:solidFill>
                <a:schemeClr val="tx1">
                  <a:lumMod val="65000"/>
                  <a:lumOff val="35000"/>
                </a:schemeClr>
              </a:solidFill>
            </a:endParaRPr>
          </a:p>
          <a:p>
            <a:r>
              <a:rPr kumimoji="1" lang="en-US" altLang="ja-JP" sz="1100" dirty="0">
                <a:solidFill>
                  <a:schemeClr val="tx1">
                    <a:lumMod val="65000"/>
                    <a:lumOff val="35000"/>
                  </a:schemeClr>
                </a:solidFill>
              </a:rPr>
              <a:t>BC</a:t>
            </a:r>
            <a:r>
              <a:rPr kumimoji="1" lang="ja-JP" altLang="en-US" sz="1100" dirty="0">
                <a:solidFill>
                  <a:schemeClr val="tx1">
                    <a:lumMod val="65000"/>
                    <a:lumOff val="35000"/>
                  </a:schemeClr>
                </a:solidFill>
              </a:rPr>
              <a:t>社は、</a:t>
            </a:r>
            <a:r>
              <a:rPr kumimoji="1" lang="en-US" altLang="ja-JP" sz="1100" dirty="0">
                <a:solidFill>
                  <a:schemeClr val="tx1">
                    <a:lumMod val="65000"/>
                    <a:lumOff val="35000"/>
                  </a:schemeClr>
                </a:solidFill>
              </a:rPr>
              <a:t>LNG</a:t>
            </a:r>
            <a:r>
              <a:rPr kumimoji="1" lang="ja-JP" altLang="en-US" sz="1100" dirty="0">
                <a:solidFill>
                  <a:schemeClr val="tx1">
                    <a:lumMod val="65000"/>
                    <a:lumOff val="35000"/>
                  </a:schemeClr>
                </a:solidFill>
              </a:rPr>
              <a:t>タンク用断熱材で米国ナンバーワンのシェアを持つ。生産ラインの組み替えを受け、今後は</a:t>
            </a:r>
            <a:r>
              <a:rPr kumimoji="1" lang="en-US" altLang="ja-JP" sz="1100" dirty="0">
                <a:solidFill>
                  <a:schemeClr val="tx1">
                    <a:lumMod val="65000"/>
                    <a:lumOff val="35000"/>
                  </a:schemeClr>
                </a:solidFill>
              </a:rPr>
              <a:t>LPG</a:t>
            </a:r>
            <a:r>
              <a:rPr kumimoji="1" lang="ja-JP" altLang="en-US" sz="1100" dirty="0">
                <a:solidFill>
                  <a:schemeClr val="tx1">
                    <a:lumMod val="65000"/>
                    <a:lumOff val="35000"/>
                  </a:schemeClr>
                </a:solidFill>
              </a:rPr>
              <a:t>タンク用断熱材にも注力する方針を固めた。最大ターゲットは北米陸上の</a:t>
            </a:r>
            <a:r>
              <a:rPr kumimoji="1" lang="en-US" altLang="ja-JP" sz="1100" dirty="0">
                <a:solidFill>
                  <a:schemeClr val="tx1">
                    <a:lumMod val="65000"/>
                    <a:lumOff val="35000"/>
                  </a:schemeClr>
                </a:solidFill>
              </a:rPr>
              <a:t>LPG</a:t>
            </a:r>
            <a:r>
              <a:rPr kumimoji="1" lang="ja-JP" altLang="en-US" sz="1100" dirty="0">
                <a:solidFill>
                  <a:schemeClr val="tx1">
                    <a:lumMod val="65000"/>
                    <a:lumOff val="35000"/>
                  </a:schemeClr>
                </a:solidFill>
              </a:rPr>
              <a:t>タンクだが、ボスは世界の</a:t>
            </a:r>
            <a:r>
              <a:rPr kumimoji="1" lang="en-US" altLang="ja-JP" sz="1100" dirty="0">
                <a:solidFill>
                  <a:schemeClr val="tx1">
                    <a:lumMod val="65000"/>
                    <a:lumOff val="35000"/>
                  </a:schemeClr>
                </a:solidFill>
              </a:rPr>
              <a:t>LPG</a:t>
            </a:r>
            <a:r>
              <a:rPr kumimoji="1" lang="ja-JP" altLang="en-US" sz="1100" dirty="0">
                <a:solidFill>
                  <a:schemeClr val="tx1">
                    <a:lumMod val="65000"/>
                    <a:lumOff val="35000"/>
                  </a:schemeClr>
                </a:solidFill>
              </a:rPr>
              <a:t>タンカーの大半を生産する日本の造船市場にも関心を持っている。一方、ボスは日本の造船市場には知見がなく、明日のミーティングの最後に、山本のプレリミナリーな見解を聞きたいとの依頼を受けた。</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O</a:t>
            </a:r>
            <a:r>
              <a:rPr kumimoji="1" lang="ja-JP" altLang="en-US" sz="1100" dirty="0">
                <a:solidFill>
                  <a:schemeClr val="tx1">
                    <a:lumMod val="65000"/>
                    <a:lumOff val="35000"/>
                  </a:schemeClr>
                </a:solidFill>
              </a:rPr>
              <a:t>：日本の</a:t>
            </a:r>
            <a:r>
              <a:rPr kumimoji="1" lang="en-US" altLang="ja-JP" sz="1100" dirty="0">
                <a:solidFill>
                  <a:schemeClr val="tx1">
                    <a:lumMod val="65000"/>
                    <a:lumOff val="35000"/>
                  </a:schemeClr>
                </a:solidFill>
              </a:rPr>
              <a:t>LPG</a:t>
            </a:r>
            <a:r>
              <a:rPr kumimoji="1" lang="ja-JP" altLang="en-US" sz="1100" dirty="0">
                <a:solidFill>
                  <a:schemeClr val="tx1">
                    <a:lumMod val="65000"/>
                    <a:lumOff val="35000"/>
                  </a:schemeClr>
                </a:solidFill>
              </a:rPr>
              <a:t>タンカー市場への参入機会の有無を見極め、詳細調査に進むべきかどうかの判断材料を得る。</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P</a:t>
            </a:r>
            <a:r>
              <a:rPr kumimoji="1" lang="ja-JP" altLang="en-US" sz="1100" dirty="0">
                <a:solidFill>
                  <a:schemeClr val="tx1">
                    <a:lumMod val="65000"/>
                    <a:lumOff val="35000"/>
                  </a:schemeClr>
                </a:solidFill>
              </a:rPr>
              <a:t>：日本の</a:t>
            </a:r>
            <a:r>
              <a:rPr kumimoji="1" lang="en-US" altLang="ja-JP" sz="1100" dirty="0">
                <a:solidFill>
                  <a:schemeClr val="tx1">
                    <a:lumMod val="65000"/>
                    <a:lumOff val="35000"/>
                  </a:schemeClr>
                </a:solidFill>
              </a:rPr>
              <a:t>LPG</a:t>
            </a:r>
            <a:r>
              <a:rPr kumimoji="1" lang="ja-JP" altLang="en-US" sz="1100" dirty="0">
                <a:solidFill>
                  <a:schemeClr val="tx1">
                    <a:lumMod val="65000"/>
                    <a:lumOff val="35000"/>
                  </a:schemeClr>
                </a:solidFill>
              </a:rPr>
              <a:t>タンカー建造市場の動向や競争構造についての情報を持たず、</a:t>
            </a:r>
            <a:r>
              <a:rPr kumimoji="1" lang="en-US" altLang="ja-JP" sz="1100" dirty="0">
                <a:solidFill>
                  <a:schemeClr val="tx1">
                    <a:lumMod val="65000"/>
                    <a:lumOff val="35000"/>
                  </a:schemeClr>
                </a:solidFill>
              </a:rPr>
              <a:t>ABC</a:t>
            </a:r>
            <a:r>
              <a:rPr kumimoji="1" lang="ja-JP" altLang="en-US" sz="1100" dirty="0">
                <a:solidFill>
                  <a:schemeClr val="tx1">
                    <a:lumMod val="65000"/>
                    <a:lumOff val="35000"/>
                  </a:schemeClr>
                </a:solidFill>
              </a:rPr>
              <a:t>社の断熱材事業にとって有望な市場かどうかを判断できていない。</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Q</a:t>
            </a:r>
            <a:r>
              <a:rPr kumimoji="1" lang="ja-JP" altLang="en-US" sz="1100" dirty="0">
                <a:solidFill>
                  <a:schemeClr val="tx1">
                    <a:lumMod val="65000"/>
                    <a:lumOff val="35000"/>
                  </a:schemeClr>
                </a:solidFill>
              </a:rPr>
              <a:t>：日本の</a:t>
            </a:r>
            <a:r>
              <a:rPr kumimoji="1" lang="en-US" altLang="ja-JP" sz="1100" dirty="0">
                <a:solidFill>
                  <a:schemeClr val="tx1">
                    <a:lumMod val="65000"/>
                    <a:lumOff val="35000"/>
                  </a:schemeClr>
                </a:solidFill>
              </a:rPr>
              <a:t>LPG</a:t>
            </a:r>
            <a:r>
              <a:rPr kumimoji="1" lang="ja-JP" altLang="en-US" sz="1100" dirty="0">
                <a:solidFill>
                  <a:schemeClr val="tx1">
                    <a:lumMod val="65000"/>
                    <a:lumOff val="35000"/>
                  </a:schemeClr>
                </a:solidFill>
              </a:rPr>
              <a:t>タンカー市場は、</a:t>
            </a:r>
            <a:r>
              <a:rPr kumimoji="1" lang="en-US" altLang="ja-JP" sz="1100" dirty="0">
                <a:solidFill>
                  <a:schemeClr val="tx1">
                    <a:lumMod val="65000"/>
                    <a:lumOff val="35000"/>
                  </a:schemeClr>
                </a:solidFill>
              </a:rPr>
              <a:t>ABC</a:t>
            </a:r>
            <a:r>
              <a:rPr kumimoji="1" lang="ja-JP" altLang="en-US" sz="1100" dirty="0">
                <a:solidFill>
                  <a:schemeClr val="tx1">
                    <a:lumMod val="65000"/>
                    <a:lumOff val="35000"/>
                  </a:schemeClr>
                </a:solidFill>
              </a:rPr>
              <a:t>社の断熱材事業にとって有望な参入機会となるか。</a:t>
            </a:r>
          </a:p>
        </p:txBody>
      </p:sp>
      <p:grpSp>
        <p:nvGrpSpPr>
          <p:cNvPr id="15" name="グループ化 14">
            <a:extLst>
              <a:ext uri="{FF2B5EF4-FFF2-40B4-BE49-F238E27FC236}">
                <a16:creationId xmlns:a16="http://schemas.microsoft.com/office/drawing/2014/main" id="{D132FC7D-A9DC-295E-5344-E0D53E600A85}"/>
              </a:ext>
            </a:extLst>
          </p:cNvPr>
          <p:cNvGrpSpPr/>
          <p:nvPr/>
        </p:nvGrpSpPr>
        <p:grpSpPr>
          <a:xfrm>
            <a:off x="731505" y="3070681"/>
            <a:ext cx="2692441" cy="3651394"/>
            <a:chOff x="731505" y="2680284"/>
            <a:chExt cx="2692441" cy="3856440"/>
          </a:xfrm>
        </p:grpSpPr>
        <p:grpSp>
          <p:nvGrpSpPr>
            <p:cNvPr id="14" name="グループ化 13">
              <a:extLst>
                <a:ext uri="{FF2B5EF4-FFF2-40B4-BE49-F238E27FC236}">
                  <a16:creationId xmlns:a16="http://schemas.microsoft.com/office/drawing/2014/main" id="{B80C9B8A-8609-1E09-3666-C1C5F9D6EBF9}"/>
                </a:ext>
              </a:extLst>
            </p:cNvPr>
            <p:cNvGrpSpPr/>
            <p:nvPr/>
          </p:nvGrpSpPr>
          <p:grpSpPr>
            <a:xfrm>
              <a:off x="731505" y="3002692"/>
              <a:ext cx="2692441" cy="3534032"/>
              <a:chOff x="701507" y="3002692"/>
              <a:chExt cx="2692441" cy="3534032"/>
            </a:xfrm>
          </p:grpSpPr>
          <p:sp>
            <p:nvSpPr>
              <p:cNvPr id="8" name="テキスト ボックス 7">
                <a:extLst>
                  <a:ext uri="{FF2B5EF4-FFF2-40B4-BE49-F238E27FC236}">
                    <a16:creationId xmlns:a16="http://schemas.microsoft.com/office/drawing/2014/main" id="{18CBB072-C660-0074-7FC5-0D39B863AD3B}"/>
                  </a:ext>
                </a:extLst>
              </p:cNvPr>
              <p:cNvSpPr txBox="1"/>
              <p:nvPr/>
            </p:nvSpPr>
            <p:spPr>
              <a:xfrm>
                <a:off x="701507" y="3002692"/>
                <a:ext cx="830997" cy="3534032"/>
              </a:xfrm>
              <a:prstGeom prst="rect">
                <a:avLst/>
              </a:prstGeom>
              <a:noFill/>
              <a:ln>
                <a:solidFill>
                  <a:schemeClr val="accent1"/>
                </a:solidFill>
              </a:ln>
            </p:spPr>
            <p:txBody>
              <a:bodyPr vert="eaVert" wrap="square" rtlCol="0" anchor="ctr">
                <a:spAutoFit/>
              </a:bodyPr>
              <a:lstStyle/>
              <a:p>
                <a:r>
                  <a:rPr lang="ja-JP" altLang="ja-JP" sz="1400" dirty="0"/>
                  <a:t>アジアを中心にLPG需要が急増しており、現存</a:t>
                </a:r>
                <a:r>
                  <a:rPr lang="ja-JP" altLang="en-US" sz="1400" dirty="0"/>
                  <a:t>８９</a:t>
                </a:r>
                <a:r>
                  <a:rPr lang="ja-JP" altLang="ja-JP" sz="1400" dirty="0"/>
                  <a:t>隻の更新需要に加え新規受注も期待されている。</a:t>
                </a:r>
                <a:endParaRPr lang="ja-JP" altLang="en-US" sz="1400" dirty="0"/>
              </a:p>
            </p:txBody>
          </p:sp>
          <p:sp>
            <p:nvSpPr>
              <p:cNvPr id="9" name="テキスト ボックス 8">
                <a:extLst>
                  <a:ext uri="{FF2B5EF4-FFF2-40B4-BE49-F238E27FC236}">
                    <a16:creationId xmlns:a16="http://schemas.microsoft.com/office/drawing/2014/main" id="{A9299AEB-A652-172E-74E5-06575D4F3D8A}"/>
                  </a:ext>
                </a:extLst>
              </p:cNvPr>
              <p:cNvSpPr txBox="1"/>
              <p:nvPr/>
            </p:nvSpPr>
            <p:spPr>
              <a:xfrm>
                <a:off x="2562951" y="3002692"/>
                <a:ext cx="830997" cy="3534032"/>
              </a:xfrm>
              <a:prstGeom prst="rect">
                <a:avLst/>
              </a:prstGeom>
              <a:noFill/>
              <a:ln>
                <a:solidFill>
                  <a:schemeClr val="accent1"/>
                </a:solidFill>
              </a:ln>
            </p:spPr>
            <p:txBody>
              <a:bodyPr vert="eaVert" wrap="square" rtlCol="0" anchor="ctr">
                <a:spAutoFit/>
              </a:bodyPr>
              <a:lstStyle/>
              <a:p>
                <a:r>
                  <a:rPr lang="ja-JP" altLang="ja-JP" sz="1400" dirty="0"/>
                  <a:t>エネルギー経済研究所は</a:t>
                </a:r>
                <a:r>
                  <a:rPr lang="ja-JP" altLang="en-US" sz="1400" dirty="0"/>
                  <a:t>２０１０</a:t>
                </a:r>
                <a:r>
                  <a:rPr lang="ja-JP" altLang="ja-JP" sz="1400" dirty="0"/>
                  <a:t>年にかけてLPG需給がひっ迫するとの見方を示している。</a:t>
                </a:r>
                <a:endParaRPr lang="ja-JP" altLang="en-US" sz="1400" dirty="0"/>
              </a:p>
            </p:txBody>
          </p:sp>
        </p:grpSp>
        <p:cxnSp>
          <p:nvCxnSpPr>
            <p:cNvPr id="25" name="コネクタ: カギ線 24">
              <a:extLst>
                <a:ext uri="{FF2B5EF4-FFF2-40B4-BE49-F238E27FC236}">
                  <a16:creationId xmlns:a16="http://schemas.microsoft.com/office/drawing/2014/main" id="{71335C26-1F65-4C6F-E82A-150D1FEE2ED1}"/>
                </a:ext>
              </a:extLst>
            </p:cNvPr>
            <p:cNvCxnSpPr>
              <a:cxnSpLocks/>
              <a:stCxn id="6" idx="2"/>
              <a:endCxn id="8" idx="0"/>
            </p:cNvCxnSpPr>
            <p:nvPr/>
          </p:nvCxnSpPr>
          <p:spPr>
            <a:xfrm rot="5400000">
              <a:off x="1451162" y="2376127"/>
              <a:ext cx="322408" cy="930723"/>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C4C02839-B5F0-2C01-AED3-68E829A9DB05}"/>
                </a:ext>
              </a:extLst>
            </p:cNvPr>
            <p:cNvCxnSpPr>
              <a:cxnSpLocks/>
              <a:stCxn id="6" idx="2"/>
              <a:endCxn id="9" idx="0"/>
            </p:cNvCxnSpPr>
            <p:nvPr/>
          </p:nvCxnSpPr>
          <p:spPr>
            <a:xfrm rot="16200000" flipH="1">
              <a:off x="2381883" y="2376127"/>
              <a:ext cx="322408" cy="930721"/>
            </a:xfrm>
            <a:prstGeom prst="bentConnector3">
              <a:avLst/>
            </a:prstGeom>
          </p:spPr>
          <p:style>
            <a:lnRef idx="2">
              <a:schemeClr val="accent1"/>
            </a:lnRef>
            <a:fillRef idx="0">
              <a:schemeClr val="accent1"/>
            </a:fillRef>
            <a:effectRef idx="1">
              <a:schemeClr val="accent1"/>
            </a:effectRef>
            <a:fontRef idx="minor">
              <a:schemeClr val="tx1"/>
            </a:fontRef>
          </p:style>
        </p:cxnSp>
      </p:grpSp>
      <p:grpSp>
        <p:nvGrpSpPr>
          <p:cNvPr id="18" name="グループ化 17">
            <a:extLst>
              <a:ext uri="{FF2B5EF4-FFF2-40B4-BE49-F238E27FC236}">
                <a16:creationId xmlns:a16="http://schemas.microsoft.com/office/drawing/2014/main" id="{87B7CF50-016E-86F4-F85C-3924CABF866C}"/>
              </a:ext>
            </a:extLst>
          </p:cNvPr>
          <p:cNvGrpSpPr/>
          <p:nvPr/>
        </p:nvGrpSpPr>
        <p:grpSpPr>
          <a:xfrm>
            <a:off x="4845928" y="3375947"/>
            <a:ext cx="2584719" cy="3346128"/>
            <a:chOff x="809229" y="3002692"/>
            <a:chExt cx="2584719" cy="3534032"/>
          </a:xfrm>
        </p:grpSpPr>
        <p:sp>
          <p:nvSpPr>
            <p:cNvPr id="21" name="テキスト ボックス 20">
              <a:extLst>
                <a:ext uri="{FF2B5EF4-FFF2-40B4-BE49-F238E27FC236}">
                  <a16:creationId xmlns:a16="http://schemas.microsoft.com/office/drawing/2014/main" id="{4322BCA0-884A-09C1-E08E-4996F347117F}"/>
                </a:ext>
              </a:extLst>
            </p:cNvPr>
            <p:cNvSpPr txBox="1"/>
            <p:nvPr/>
          </p:nvSpPr>
          <p:spPr>
            <a:xfrm>
              <a:off x="809229" y="3002692"/>
              <a:ext cx="615553" cy="3534032"/>
            </a:xfrm>
            <a:prstGeom prst="rect">
              <a:avLst/>
            </a:prstGeom>
            <a:noFill/>
            <a:ln>
              <a:solidFill>
                <a:schemeClr val="accent1"/>
              </a:solidFill>
            </a:ln>
          </p:spPr>
          <p:txBody>
            <a:bodyPr vert="eaVert" wrap="square" rtlCol="0" anchor="ctr">
              <a:spAutoFit/>
            </a:bodyPr>
            <a:lstStyle/>
            <a:p>
              <a:r>
                <a:rPr lang="ja-JP" altLang="ja-JP" sz="1400" dirty="0"/>
                <a:t>日立造船は輸入品を多用してコストダウンを図る方針を示している。</a:t>
              </a:r>
              <a:endParaRPr lang="ja-JP" altLang="en-US" sz="1400" dirty="0"/>
            </a:p>
          </p:txBody>
        </p:sp>
        <p:sp>
          <p:nvSpPr>
            <p:cNvPr id="22" name="テキスト ボックス 21">
              <a:extLst>
                <a:ext uri="{FF2B5EF4-FFF2-40B4-BE49-F238E27FC236}">
                  <a16:creationId xmlns:a16="http://schemas.microsoft.com/office/drawing/2014/main" id="{A835B673-248A-41DB-1F58-22A5672EE31C}"/>
                </a:ext>
              </a:extLst>
            </p:cNvPr>
            <p:cNvSpPr txBox="1"/>
            <p:nvPr/>
          </p:nvSpPr>
          <p:spPr>
            <a:xfrm>
              <a:off x="2562951" y="3002692"/>
              <a:ext cx="830997" cy="3534032"/>
            </a:xfrm>
            <a:prstGeom prst="rect">
              <a:avLst/>
            </a:prstGeom>
            <a:noFill/>
            <a:ln>
              <a:solidFill>
                <a:schemeClr val="accent1"/>
              </a:solidFill>
            </a:ln>
          </p:spPr>
          <p:txBody>
            <a:bodyPr vert="eaVert" wrap="square" rtlCol="0" anchor="ctr">
              <a:spAutoFit/>
            </a:bodyPr>
            <a:lstStyle/>
            <a:p>
              <a:r>
                <a:rPr lang="ja-JP" altLang="ja-JP" sz="1400" dirty="0"/>
                <a:t>現在の円高傾向は、米国製を含む輸入品の調達コストを日本の造船会社にとって相対的に下げる効果を持つ。</a:t>
              </a:r>
              <a:endParaRPr lang="ja-JP" altLang="en-US" sz="1400" dirty="0"/>
            </a:p>
          </p:txBody>
        </p:sp>
      </p:grpSp>
      <p:grpSp>
        <p:nvGrpSpPr>
          <p:cNvPr id="26" name="グループ化 25">
            <a:extLst>
              <a:ext uri="{FF2B5EF4-FFF2-40B4-BE49-F238E27FC236}">
                <a16:creationId xmlns:a16="http://schemas.microsoft.com/office/drawing/2014/main" id="{EB912375-BE29-F7CF-DB77-5C8AE3BF1A49}"/>
              </a:ext>
            </a:extLst>
          </p:cNvPr>
          <p:cNvGrpSpPr/>
          <p:nvPr/>
        </p:nvGrpSpPr>
        <p:grpSpPr>
          <a:xfrm>
            <a:off x="8768053" y="3375947"/>
            <a:ext cx="2692440" cy="3346128"/>
            <a:chOff x="701507" y="3002692"/>
            <a:chExt cx="2692440" cy="3534032"/>
          </a:xfrm>
        </p:grpSpPr>
        <p:sp>
          <p:nvSpPr>
            <p:cNvPr id="27" name="テキスト ボックス 26">
              <a:extLst>
                <a:ext uri="{FF2B5EF4-FFF2-40B4-BE49-F238E27FC236}">
                  <a16:creationId xmlns:a16="http://schemas.microsoft.com/office/drawing/2014/main" id="{58E37D11-30F8-9F1F-B61F-20F3914AB675}"/>
                </a:ext>
              </a:extLst>
            </p:cNvPr>
            <p:cNvSpPr txBox="1"/>
            <p:nvPr/>
          </p:nvSpPr>
          <p:spPr>
            <a:xfrm>
              <a:off x="701507" y="3002692"/>
              <a:ext cx="830997" cy="3534032"/>
            </a:xfrm>
            <a:prstGeom prst="rect">
              <a:avLst/>
            </a:prstGeom>
            <a:noFill/>
            <a:ln>
              <a:solidFill>
                <a:schemeClr val="accent1"/>
              </a:solidFill>
            </a:ln>
          </p:spPr>
          <p:txBody>
            <a:bodyPr vert="eaVert" wrap="square" rtlCol="0" anchor="ctr">
              <a:spAutoFit/>
            </a:bodyPr>
            <a:lstStyle/>
            <a:p>
              <a:r>
                <a:rPr lang="ja-JP" altLang="en-US" sz="1400" dirty="0"/>
                <a:t>８９</a:t>
              </a:r>
              <a:r>
                <a:rPr lang="ja-JP" altLang="ja-JP" sz="1400" dirty="0"/>
                <a:t>隻の更新需要が年</a:t>
              </a:r>
              <a:r>
                <a:rPr lang="ja-JP" altLang="en-US" sz="1400" dirty="0"/>
                <a:t>４</a:t>
              </a:r>
              <a:r>
                <a:rPr lang="ja-JP" altLang="ja-JP" sz="1400" dirty="0"/>
                <a:t>隻程度であるのに対し、川重・重工の</a:t>
              </a:r>
              <a:r>
                <a:rPr lang="ja-JP" altLang="en-US" sz="1400" dirty="0"/>
                <a:t>２</a:t>
              </a:r>
              <a:r>
                <a:rPr lang="ja-JP" altLang="ja-JP" sz="1400" dirty="0"/>
                <a:t>社だけで年</a:t>
              </a:r>
              <a:r>
                <a:rPr lang="ja-JP" altLang="en-US" sz="1400" dirty="0"/>
                <a:t>７</a:t>
              </a:r>
              <a:r>
                <a:rPr lang="ja-JP" altLang="ja-JP" sz="1400" dirty="0"/>
                <a:t>隻の建造能力を持つ</a:t>
              </a:r>
              <a:endParaRPr lang="ja-JP" altLang="en-US" sz="1400" dirty="0"/>
            </a:p>
          </p:txBody>
        </p:sp>
        <p:sp>
          <p:nvSpPr>
            <p:cNvPr id="28" name="テキスト ボックス 27">
              <a:extLst>
                <a:ext uri="{FF2B5EF4-FFF2-40B4-BE49-F238E27FC236}">
                  <a16:creationId xmlns:a16="http://schemas.microsoft.com/office/drawing/2014/main" id="{22330577-D5F1-7D4A-61C9-2FF8EFCAAF83}"/>
                </a:ext>
              </a:extLst>
            </p:cNvPr>
            <p:cNvSpPr txBox="1"/>
            <p:nvPr/>
          </p:nvSpPr>
          <p:spPr>
            <a:xfrm>
              <a:off x="2562950" y="3002692"/>
              <a:ext cx="830997" cy="3534032"/>
            </a:xfrm>
            <a:prstGeom prst="rect">
              <a:avLst/>
            </a:prstGeom>
            <a:noFill/>
            <a:ln>
              <a:solidFill>
                <a:schemeClr val="accent1"/>
              </a:solidFill>
            </a:ln>
          </p:spPr>
          <p:txBody>
            <a:bodyPr vert="eaVert" wrap="square" rtlCol="0" anchor="ctr">
              <a:spAutoFit/>
            </a:bodyPr>
            <a:lstStyle/>
            <a:p>
              <a:r>
                <a:rPr lang="ja-JP" altLang="ja-JP" sz="1400" dirty="0"/>
                <a:t>韓国の現代重工業・三星グループも新規参入の機会をうかがっており、供給側の競争はさらに強まる可能性がある。</a:t>
              </a:r>
              <a:endParaRPr lang="ja-JP" altLang="en-US" sz="1400" dirty="0"/>
            </a:p>
          </p:txBody>
        </p:sp>
      </p:grpSp>
      <p:sp>
        <p:nvSpPr>
          <p:cNvPr id="4" name="正方形/長方形 3">
            <a:extLst>
              <a:ext uri="{FF2B5EF4-FFF2-40B4-BE49-F238E27FC236}">
                <a16:creationId xmlns:a16="http://schemas.microsoft.com/office/drawing/2014/main" id="{DD37DCE2-3F8C-A0B8-9455-8D74825C2811}"/>
              </a:ext>
            </a:extLst>
          </p:cNvPr>
          <p:cNvSpPr/>
          <p:nvPr/>
        </p:nvSpPr>
        <p:spPr>
          <a:xfrm>
            <a:off x="6289724" y="1037968"/>
            <a:ext cx="5387546" cy="86252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日本の</a:t>
            </a:r>
            <a:r>
              <a:rPr lang="en-US" altLang="ja-JP" sz="1200" dirty="0">
                <a:solidFill>
                  <a:schemeClr val="tx1"/>
                </a:solidFill>
              </a:rPr>
              <a:t>LPG</a:t>
            </a:r>
            <a:r>
              <a:rPr lang="ja-JP" altLang="en-US" sz="1200" dirty="0">
                <a:solidFill>
                  <a:schemeClr val="tx1"/>
                </a:solidFill>
              </a:rPr>
              <a:t>タンカー市場は、</a:t>
            </a:r>
            <a:r>
              <a:rPr lang="en-US" altLang="ja-JP" sz="1200" dirty="0">
                <a:solidFill>
                  <a:schemeClr val="tx1"/>
                </a:solidFill>
              </a:rPr>
              <a:t>ABC</a:t>
            </a:r>
            <a:r>
              <a:rPr lang="ja-JP" altLang="en-US" sz="1200" dirty="0">
                <a:solidFill>
                  <a:schemeClr val="tx1"/>
                </a:solidFill>
              </a:rPr>
              <a:t>社の断熱材事業にとって</a:t>
            </a:r>
            <a:endParaRPr lang="en-US" altLang="ja-JP" sz="1200" dirty="0">
              <a:solidFill>
                <a:schemeClr val="tx1"/>
              </a:solidFill>
            </a:endParaRPr>
          </a:p>
          <a:p>
            <a:pPr algn="ctr"/>
            <a:r>
              <a:rPr lang="ja-JP" altLang="en-US" sz="1200" dirty="0">
                <a:solidFill>
                  <a:schemeClr val="tx1"/>
                </a:solidFill>
              </a:rPr>
              <a:t>有望な参入機会になり得る。</a:t>
            </a:r>
            <a:endParaRPr lang="ja-JP" altLang="ja-JP" sz="1200" dirty="0">
              <a:solidFill>
                <a:schemeClr val="tx1"/>
              </a:solidFill>
            </a:endParaRPr>
          </a:p>
        </p:txBody>
      </p:sp>
      <p:sp>
        <p:nvSpPr>
          <p:cNvPr id="5" name="正方形/長方形 4">
            <a:extLst>
              <a:ext uri="{FF2B5EF4-FFF2-40B4-BE49-F238E27FC236}">
                <a16:creationId xmlns:a16="http://schemas.microsoft.com/office/drawing/2014/main" id="{6DDBC73E-0C9C-F019-F963-2D1488F2DAA8}"/>
              </a:ext>
            </a:extLst>
          </p:cNvPr>
          <p:cNvSpPr/>
          <p:nvPr/>
        </p:nvSpPr>
        <p:spPr>
          <a:xfrm>
            <a:off x="4318149"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なぜならば、新規参入の造船会社が、主要部材の調達において輸入品の活用を明確に打ち出しているから。</a:t>
            </a:r>
            <a:endParaRPr lang="ja-JP" altLang="ja-JP" sz="1200" dirty="0">
              <a:solidFill>
                <a:schemeClr val="tx1"/>
              </a:solidFill>
            </a:endParaRPr>
          </a:p>
        </p:txBody>
      </p:sp>
      <p:sp>
        <p:nvSpPr>
          <p:cNvPr id="6" name="正方形/長方形 5">
            <a:extLst>
              <a:ext uri="{FF2B5EF4-FFF2-40B4-BE49-F238E27FC236}">
                <a16:creationId xmlns:a16="http://schemas.microsoft.com/office/drawing/2014/main" id="{7F6CB1CB-315B-7556-AAAD-235C0E04DCCE}"/>
              </a:ext>
            </a:extLst>
          </p:cNvPr>
          <p:cNvSpPr/>
          <p:nvPr/>
        </p:nvSpPr>
        <p:spPr>
          <a:xfrm>
            <a:off x="299876"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なぜならば、世界的な</a:t>
            </a:r>
            <a:r>
              <a:rPr lang="en-US" altLang="ja-JP" sz="1200" dirty="0">
                <a:solidFill>
                  <a:schemeClr val="tx1"/>
                </a:solidFill>
              </a:rPr>
              <a:t>LPG</a:t>
            </a:r>
            <a:r>
              <a:rPr lang="ja-JP" altLang="en-US" sz="1200" dirty="0">
                <a:solidFill>
                  <a:schemeClr val="tx1"/>
                </a:solidFill>
              </a:rPr>
              <a:t>需要の高まりを背景に、</a:t>
            </a:r>
            <a:r>
              <a:rPr lang="en-US" altLang="ja-JP" sz="1200" dirty="0">
                <a:solidFill>
                  <a:schemeClr val="tx1"/>
                </a:solidFill>
              </a:rPr>
              <a:t>LPG</a:t>
            </a:r>
            <a:r>
              <a:rPr lang="ja-JP" altLang="en-US" sz="1200" dirty="0">
                <a:solidFill>
                  <a:schemeClr val="tx1"/>
                </a:solidFill>
              </a:rPr>
              <a:t>タンカーの建造需要が中長期的に拡大する見込みであるから。</a:t>
            </a:r>
            <a:endParaRPr lang="ja-JP" altLang="ja-JP" sz="1200" dirty="0">
              <a:solidFill>
                <a:schemeClr val="tx1"/>
              </a:solidFill>
            </a:endParaRPr>
          </a:p>
        </p:txBody>
      </p:sp>
      <p:sp>
        <p:nvSpPr>
          <p:cNvPr id="7" name="正方形/長方形 6">
            <a:extLst>
              <a:ext uri="{FF2B5EF4-FFF2-40B4-BE49-F238E27FC236}">
                <a16:creationId xmlns:a16="http://schemas.microsoft.com/office/drawing/2014/main" id="{ECA7D98C-3055-6BC9-37B7-EF47F6C4C12D}"/>
              </a:ext>
            </a:extLst>
          </p:cNvPr>
          <p:cNvSpPr/>
          <p:nvPr/>
        </p:nvSpPr>
        <p:spPr>
          <a:xfrm>
            <a:off x="8336423"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なぜならば、既存大手</a:t>
            </a:r>
            <a:r>
              <a:rPr lang="en-US" altLang="ja-JP" sz="1200" dirty="0">
                <a:solidFill>
                  <a:schemeClr val="tx1"/>
                </a:solidFill>
              </a:rPr>
              <a:t>2</a:t>
            </a:r>
            <a:r>
              <a:rPr lang="ja-JP" altLang="en-US" sz="1200" dirty="0">
                <a:solidFill>
                  <a:schemeClr val="tx1"/>
                </a:solidFill>
              </a:rPr>
              <a:t>社による供給過剰と、新規参入企業の値引き受注により、価格競争のリスクが存在するから。</a:t>
            </a:r>
            <a:endParaRPr lang="ja-JP" altLang="ja-JP" sz="1200" dirty="0">
              <a:solidFill>
                <a:schemeClr val="tx1"/>
              </a:solidFill>
            </a:endParaRPr>
          </a:p>
        </p:txBody>
      </p:sp>
      <p:cxnSp>
        <p:nvCxnSpPr>
          <p:cNvPr id="51" name="コネクタ: カギ線 50">
            <a:extLst>
              <a:ext uri="{FF2B5EF4-FFF2-40B4-BE49-F238E27FC236}">
                <a16:creationId xmlns:a16="http://schemas.microsoft.com/office/drawing/2014/main" id="{AFF092D5-1B61-AC03-EEF5-81F3D6C2BF9F}"/>
              </a:ext>
            </a:extLst>
          </p:cNvPr>
          <p:cNvCxnSpPr>
            <a:cxnSpLocks/>
            <a:stCxn id="4" idx="2"/>
            <a:endCxn id="6" idx="0"/>
          </p:cNvCxnSpPr>
          <p:nvPr/>
        </p:nvCxnSpPr>
        <p:spPr>
          <a:xfrm rot="5400000">
            <a:off x="5284703" y="-1306486"/>
            <a:ext cx="491819" cy="690577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4" name="コネクタ: カギ線 53">
            <a:extLst>
              <a:ext uri="{FF2B5EF4-FFF2-40B4-BE49-F238E27FC236}">
                <a16:creationId xmlns:a16="http://schemas.microsoft.com/office/drawing/2014/main" id="{81619033-841B-3DAC-DEDB-7760F906D70C}"/>
              </a:ext>
            </a:extLst>
          </p:cNvPr>
          <p:cNvCxnSpPr>
            <a:cxnSpLocks/>
            <a:stCxn id="4" idx="2"/>
            <a:endCxn id="5" idx="0"/>
          </p:cNvCxnSpPr>
          <p:nvPr/>
        </p:nvCxnSpPr>
        <p:spPr>
          <a:xfrm rot="5400000">
            <a:off x="7293840" y="702651"/>
            <a:ext cx="491819" cy="288749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ECB901D8-84B4-2668-F296-1FEF272551E8}"/>
              </a:ext>
            </a:extLst>
          </p:cNvPr>
          <p:cNvCxnSpPr>
            <a:cxnSpLocks/>
            <a:stCxn id="4" idx="2"/>
            <a:endCxn id="7" idx="0"/>
          </p:cNvCxnSpPr>
          <p:nvPr/>
        </p:nvCxnSpPr>
        <p:spPr>
          <a:xfrm rot="16200000" flipH="1">
            <a:off x="9302976" y="1581010"/>
            <a:ext cx="491819" cy="113077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9" name="コネクタ: カギ線 18">
            <a:extLst>
              <a:ext uri="{FF2B5EF4-FFF2-40B4-BE49-F238E27FC236}">
                <a16:creationId xmlns:a16="http://schemas.microsoft.com/office/drawing/2014/main" id="{456D50B0-E49F-245E-E393-C31AFD685668}"/>
              </a:ext>
            </a:extLst>
          </p:cNvPr>
          <p:cNvCxnSpPr>
            <a:cxnSpLocks/>
            <a:stCxn id="5" idx="2"/>
            <a:endCxn id="21" idx="0"/>
          </p:cNvCxnSpPr>
          <p:nvPr/>
        </p:nvCxnSpPr>
        <p:spPr>
          <a:xfrm rot="5400000">
            <a:off x="5472220" y="2752167"/>
            <a:ext cx="305266" cy="94229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0" name="コネクタ: カギ線 19">
            <a:extLst>
              <a:ext uri="{FF2B5EF4-FFF2-40B4-BE49-F238E27FC236}">
                <a16:creationId xmlns:a16="http://schemas.microsoft.com/office/drawing/2014/main" id="{24D3740E-4F2F-40D1-E38A-0FAA46577E27}"/>
              </a:ext>
            </a:extLst>
          </p:cNvPr>
          <p:cNvCxnSpPr>
            <a:cxnSpLocks/>
            <a:stCxn id="5" idx="2"/>
            <a:endCxn id="22" idx="0"/>
          </p:cNvCxnSpPr>
          <p:nvPr/>
        </p:nvCxnSpPr>
        <p:spPr>
          <a:xfrm rot="16200000" flipH="1">
            <a:off x="6402941" y="2763739"/>
            <a:ext cx="305266" cy="919149"/>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0" name="コネクタ: カギ線 29">
            <a:extLst>
              <a:ext uri="{FF2B5EF4-FFF2-40B4-BE49-F238E27FC236}">
                <a16:creationId xmlns:a16="http://schemas.microsoft.com/office/drawing/2014/main" id="{E10A62D9-6B36-926C-CB21-67F26DA5D77D}"/>
              </a:ext>
            </a:extLst>
          </p:cNvPr>
          <p:cNvCxnSpPr>
            <a:cxnSpLocks/>
            <a:stCxn id="7" idx="2"/>
            <a:endCxn id="27" idx="0"/>
          </p:cNvCxnSpPr>
          <p:nvPr/>
        </p:nvCxnSpPr>
        <p:spPr>
          <a:xfrm rot="5400000">
            <a:off x="9496280" y="2757953"/>
            <a:ext cx="305266" cy="930722"/>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2" name="コネクタ: カギ線 31">
            <a:extLst>
              <a:ext uri="{FF2B5EF4-FFF2-40B4-BE49-F238E27FC236}">
                <a16:creationId xmlns:a16="http://schemas.microsoft.com/office/drawing/2014/main" id="{9C2D2B15-B8A1-85CD-87CA-991D2743668D}"/>
              </a:ext>
            </a:extLst>
          </p:cNvPr>
          <p:cNvCxnSpPr>
            <a:cxnSpLocks/>
            <a:stCxn id="7" idx="2"/>
            <a:endCxn id="28" idx="0"/>
          </p:cNvCxnSpPr>
          <p:nvPr/>
        </p:nvCxnSpPr>
        <p:spPr>
          <a:xfrm rot="16200000" flipH="1">
            <a:off x="10427001" y="2757953"/>
            <a:ext cx="305266" cy="930721"/>
          </a:xfrm>
          <a:prstGeom prst="bentConnector3">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2050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D94D09-5DCC-865E-B1C2-FFE2F9A19EF5}"/>
              </a:ext>
            </a:extLst>
          </p:cNvPr>
          <p:cNvSpPr>
            <a:spLocks noGrp="1"/>
          </p:cNvSpPr>
          <p:nvPr>
            <p:ph type="title"/>
          </p:nvPr>
        </p:nvSpPr>
        <p:spPr>
          <a:xfrm>
            <a:off x="838200" y="365126"/>
            <a:ext cx="10515600" cy="722270"/>
          </a:xfrm>
        </p:spPr>
        <p:txBody>
          <a:bodyPr>
            <a:normAutofit/>
          </a:bodyPr>
          <a:lstStyle/>
          <a:p>
            <a:r>
              <a:rPr kumimoji="1" lang="ja-JP" altLang="en-US" sz="2400" dirty="0"/>
              <a:t>経営資源の再配分</a:t>
            </a:r>
          </a:p>
        </p:txBody>
      </p:sp>
      <p:sp>
        <p:nvSpPr>
          <p:cNvPr id="3" name="コンテンツ プレースホルダー 2">
            <a:extLst>
              <a:ext uri="{FF2B5EF4-FFF2-40B4-BE49-F238E27FC236}">
                <a16:creationId xmlns:a16="http://schemas.microsoft.com/office/drawing/2014/main" id="{02B8B0D5-2883-0767-49FA-1D15BA9C3442}"/>
              </a:ext>
            </a:extLst>
          </p:cNvPr>
          <p:cNvSpPr>
            <a:spLocks noGrp="1"/>
          </p:cNvSpPr>
          <p:nvPr>
            <p:ph idx="1"/>
          </p:nvPr>
        </p:nvSpPr>
        <p:spPr>
          <a:xfrm>
            <a:off x="838200" y="1186249"/>
            <a:ext cx="10515600" cy="4990714"/>
          </a:xfrm>
        </p:spPr>
        <p:txBody>
          <a:bodyPr>
            <a:normAutofit/>
          </a:bodyPr>
          <a:lstStyle/>
          <a:p>
            <a:pPr marL="0" indent="0">
              <a:buNone/>
            </a:pPr>
            <a:r>
              <a:rPr lang="en-US" altLang="ja-JP" sz="2000" dirty="0"/>
              <a:t>A</a:t>
            </a:r>
            <a:r>
              <a:rPr lang="ja-JP" altLang="en-US" sz="2000" dirty="0"/>
              <a:t>事業</a:t>
            </a:r>
            <a:endParaRPr lang="en-US" altLang="ja-JP" sz="2000" dirty="0"/>
          </a:p>
          <a:p>
            <a:pPr marL="457200" indent="-457200">
              <a:buAutoNum type="arabicPeriod"/>
            </a:pPr>
            <a:r>
              <a:rPr kumimoji="1" lang="en-US" altLang="ja-JP" sz="2000" dirty="0"/>
              <a:t>A</a:t>
            </a:r>
            <a:r>
              <a:rPr kumimoji="1" lang="ja-JP" altLang="en-US" sz="2000" dirty="0"/>
              <a:t>事業は、市場の急成長という好機を迎えている中、早めのブランド確立が必要である。しかし、</a:t>
            </a:r>
            <a:r>
              <a:rPr lang="ja-JP" altLang="ja-JP" sz="2000" dirty="0"/>
              <a:t>それに見合う人材・資金を欠いている状況である。</a:t>
            </a:r>
            <a:endParaRPr kumimoji="1" lang="en-US" altLang="ja-JP" sz="2000" dirty="0"/>
          </a:p>
          <a:p>
            <a:pPr marL="457200" indent="-457200">
              <a:buAutoNum type="arabicPeriod"/>
            </a:pPr>
            <a:r>
              <a:rPr lang="ja-JP" altLang="ja-JP" sz="2000" dirty="0"/>
              <a:t>A事業には、3年後の市場倍増という好機を逃さぬよう、早期のブランドイメージ確立に向けた人材・資金の優先的な投入を行うべき</a:t>
            </a:r>
            <a:r>
              <a:rPr lang="ja-JP" altLang="en-US" sz="2000" dirty="0"/>
              <a:t>。</a:t>
            </a:r>
            <a:endParaRPr lang="en-US" altLang="ja-JP" sz="2000" dirty="0"/>
          </a:p>
          <a:p>
            <a:pPr marL="0" indent="0">
              <a:buNone/>
            </a:pPr>
            <a:r>
              <a:rPr kumimoji="1" lang="en-US" altLang="ja-JP" sz="2000" dirty="0"/>
              <a:t>B</a:t>
            </a:r>
            <a:r>
              <a:rPr kumimoji="1" lang="ja-JP" altLang="en-US" sz="2000" dirty="0"/>
              <a:t>事業</a:t>
            </a:r>
            <a:endParaRPr kumimoji="1" lang="en-US" altLang="ja-JP" sz="2000" dirty="0"/>
          </a:p>
          <a:p>
            <a:pPr marL="457200" indent="-457200">
              <a:buAutoNum type="arabicPeriod"/>
            </a:pPr>
            <a:r>
              <a:rPr lang="ja-JP" altLang="ja-JP" sz="2000" dirty="0"/>
              <a:t>B事業は、売上倍増が見込めず固定費削減も3割程度にとどまるため、黒字化が見込めない状況である。</a:t>
            </a:r>
            <a:endParaRPr lang="en-US" altLang="ja-JP" sz="2000" dirty="0"/>
          </a:p>
          <a:p>
            <a:pPr marL="457200" indent="-457200">
              <a:buFont typeface="Arial" panose="020B0604020202020204" pitchFamily="34" charset="0"/>
              <a:buAutoNum type="arabicPeriod"/>
            </a:pPr>
            <a:r>
              <a:rPr lang="ja-JP" altLang="ja-JP" sz="2000" dirty="0"/>
              <a:t>B事業は、黒字化が見込めない以上、事業の継続自体を見直すべきである。</a:t>
            </a:r>
            <a:endParaRPr lang="en-US" altLang="ja-JP" sz="2000" dirty="0"/>
          </a:p>
          <a:p>
            <a:pPr marL="0" indent="0">
              <a:buNone/>
            </a:pPr>
            <a:r>
              <a:rPr lang="en-US" altLang="ja-JP" sz="2000" dirty="0"/>
              <a:t>C</a:t>
            </a:r>
            <a:r>
              <a:rPr lang="ja-JP" altLang="en-US" sz="2000" dirty="0"/>
              <a:t>事業</a:t>
            </a:r>
            <a:endParaRPr lang="en-US" altLang="ja-JP" sz="2000" dirty="0"/>
          </a:p>
          <a:p>
            <a:pPr marL="457200" indent="-457200">
              <a:buFont typeface="Arial" panose="020B0604020202020204" pitchFamily="34" charset="0"/>
              <a:buAutoNum type="arabicPeriod"/>
            </a:pPr>
            <a:r>
              <a:rPr lang="ja-JP" altLang="ja-JP" sz="2000" dirty="0"/>
              <a:t>C事業はABC社最大の事業でありながら、主要顧客セグメントの市場飽和により売上伸長率が鈍化し</a:t>
            </a:r>
            <a:r>
              <a:rPr lang="ja-JP" altLang="en-US" sz="2000" dirty="0"/>
              <a:t>ている。よって、</a:t>
            </a:r>
            <a:r>
              <a:rPr lang="ja-JP" altLang="ja-JP" sz="2000" dirty="0"/>
              <a:t>今後も右肩上がりの成長は望めない状況である。</a:t>
            </a:r>
            <a:endParaRPr lang="en-US" altLang="ja-JP" sz="2000" dirty="0"/>
          </a:p>
          <a:p>
            <a:pPr marL="457200" indent="-457200">
              <a:buFont typeface="Arial" panose="020B0604020202020204" pitchFamily="34" charset="0"/>
              <a:buAutoNum type="arabicPeriod"/>
            </a:pPr>
            <a:r>
              <a:rPr lang="ja-JP" altLang="ja-JP" sz="2000" dirty="0"/>
              <a:t>C事業は、今後の急成長が見込めない以上、これまでのような追加的な経営資源の投入を控えるべきである。</a:t>
            </a:r>
          </a:p>
        </p:txBody>
      </p:sp>
    </p:spTree>
    <p:extLst>
      <p:ext uri="{BB962C8B-B14F-4D97-AF65-F5344CB8AC3E}">
        <p14:creationId xmlns:p14="http://schemas.microsoft.com/office/powerpoint/2010/main" val="1758663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BEC4A-5483-A4F9-5F73-B34A216398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CCD26B-3921-C374-4B6C-212B5A9E8FCF}"/>
              </a:ext>
            </a:extLst>
          </p:cNvPr>
          <p:cNvSpPr>
            <a:spLocks noGrp="1"/>
          </p:cNvSpPr>
          <p:nvPr>
            <p:ph type="title"/>
          </p:nvPr>
        </p:nvSpPr>
        <p:spPr>
          <a:xfrm>
            <a:off x="838200" y="365126"/>
            <a:ext cx="10515600" cy="722270"/>
          </a:xfrm>
        </p:spPr>
        <p:txBody>
          <a:bodyPr>
            <a:normAutofit/>
          </a:bodyPr>
          <a:lstStyle/>
          <a:p>
            <a:r>
              <a:rPr kumimoji="1" lang="ja-JP" altLang="en-US" sz="2400" dirty="0"/>
              <a:t>お金持ちになる</a:t>
            </a:r>
          </a:p>
        </p:txBody>
      </p:sp>
      <p:sp>
        <p:nvSpPr>
          <p:cNvPr id="3" name="コンテンツ プレースホルダー 2">
            <a:extLst>
              <a:ext uri="{FF2B5EF4-FFF2-40B4-BE49-F238E27FC236}">
                <a16:creationId xmlns:a16="http://schemas.microsoft.com/office/drawing/2014/main" id="{2B24E445-3DC6-AB7A-6E0A-E6FADF54F75D}"/>
              </a:ext>
            </a:extLst>
          </p:cNvPr>
          <p:cNvSpPr>
            <a:spLocks noGrp="1"/>
          </p:cNvSpPr>
          <p:nvPr>
            <p:ph idx="1"/>
          </p:nvPr>
        </p:nvSpPr>
        <p:spPr>
          <a:xfrm>
            <a:off x="838200" y="1186249"/>
            <a:ext cx="10515600" cy="4990714"/>
          </a:xfrm>
        </p:spPr>
        <p:txBody>
          <a:bodyPr>
            <a:normAutofit/>
          </a:bodyPr>
          <a:lstStyle/>
          <a:p>
            <a:pPr>
              <a:spcBef>
                <a:spcPts val="1200"/>
              </a:spcBef>
            </a:pPr>
            <a:r>
              <a:rPr lang="ja-JP" altLang="ja-JP" sz="2000" dirty="0"/>
              <a:t>私は3年後までに、年収を現在の1.5倍にする。</a:t>
            </a:r>
            <a:endParaRPr lang="en-US" altLang="ja-JP" sz="2000" dirty="0"/>
          </a:p>
          <a:p>
            <a:pPr>
              <a:spcBef>
                <a:spcPts val="1200"/>
              </a:spcBef>
            </a:pPr>
            <a:r>
              <a:rPr lang="ja-JP" altLang="ja-JP" sz="2000" dirty="0"/>
              <a:t>私は、新製品の発売から1年以内に、売上高30億円を達成する。</a:t>
            </a:r>
            <a:endParaRPr lang="en-US" altLang="ja-JP" sz="2000" dirty="0"/>
          </a:p>
          <a:p>
            <a:pPr>
              <a:spcBef>
                <a:spcPts val="1200"/>
              </a:spcBef>
            </a:pPr>
            <a:r>
              <a:rPr lang="ja-JP" altLang="ja-JP" sz="2000" dirty="0"/>
              <a:t>わが社は、3年後までに自己資本比率を40%以上に高める。</a:t>
            </a:r>
            <a:endParaRPr lang="en-US" altLang="ja-JP" sz="2000" dirty="0"/>
          </a:p>
          <a:p>
            <a:pPr>
              <a:spcBef>
                <a:spcPts val="1200"/>
              </a:spcBef>
            </a:pPr>
            <a:r>
              <a:rPr lang="ja-JP" altLang="ja-JP" sz="2000" dirty="0"/>
              <a:t>私は、今期の個人売上目標である5億円を達成する。</a:t>
            </a:r>
            <a:endParaRPr lang="en-US" altLang="ja-JP" sz="2000" dirty="0"/>
          </a:p>
          <a:p>
            <a:pPr>
              <a:spcBef>
                <a:spcPts val="1200"/>
              </a:spcBef>
            </a:pPr>
            <a:r>
              <a:rPr lang="ja-JP" altLang="ja-JP" sz="2000" dirty="0"/>
              <a:t>わが社は、3年後までに従業員</a:t>
            </a:r>
            <a:r>
              <a:rPr lang="ja-JP" altLang="en-US" sz="2000" dirty="0"/>
              <a:t>満足度</a:t>
            </a:r>
            <a:r>
              <a:rPr lang="ja-JP" altLang="ja-JP" sz="2000" dirty="0"/>
              <a:t>調査の総合スコアを80点以上にする。</a:t>
            </a:r>
          </a:p>
        </p:txBody>
      </p:sp>
    </p:spTree>
    <p:extLst>
      <p:ext uri="{BB962C8B-B14F-4D97-AF65-F5344CB8AC3E}">
        <p14:creationId xmlns:p14="http://schemas.microsoft.com/office/powerpoint/2010/main" val="2960860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8BE0E-3187-F0ED-FB22-03CEF4B1F44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38996A-AF5E-4570-7764-22931DA5DCC9}"/>
              </a:ext>
            </a:extLst>
          </p:cNvPr>
          <p:cNvSpPr/>
          <p:nvPr/>
        </p:nvSpPr>
        <p:spPr>
          <a:xfrm>
            <a:off x="148733" y="135925"/>
            <a:ext cx="5815463" cy="194613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b="1" dirty="0">
                <a:solidFill>
                  <a:schemeClr val="tx1">
                    <a:lumMod val="65000"/>
                    <a:lumOff val="35000"/>
                  </a:schemeClr>
                </a:solidFill>
              </a:rPr>
              <a:t>O</a:t>
            </a:r>
            <a:r>
              <a:rPr kumimoji="1" lang="ja-JP" altLang="en-US" sz="1400" dirty="0">
                <a:solidFill>
                  <a:schemeClr val="tx1">
                    <a:lumMod val="65000"/>
                    <a:lumOff val="35000"/>
                  </a:schemeClr>
                </a:solidFill>
              </a:rPr>
              <a:t>：新規事業の開発・育成を経営の最重要課題として実現する。</a:t>
            </a:r>
            <a:endParaRPr kumimoji="1" lang="en-US" altLang="ja-JP" sz="1400" dirty="0">
              <a:solidFill>
                <a:schemeClr val="tx1">
                  <a:lumMod val="65000"/>
                  <a:lumOff val="35000"/>
                </a:schemeClr>
              </a:solidFill>
            </a:endParaRPr>
          </a:p>
          <a:p>
            <a:r>
              <a:rPr kumimoji="1" lang="en-US" altLang="ja-JP" sz="1400" b="1" dirty="0">
                <a:solidFill>
                  <a:schemeClr val="tx1">
                    <a:lumMod val="65000"/>
                    <a:lumOff val="35000"/>
                  </a:schemeClr>
                </a:solidFill>
              </a:rPr>
              <a:t>P</a:t>
            </a:r>
            <a:r>
              <a:rPr kumimoji="1" lang="ja-JP" altLang="en-US" sz="1400" dirty="0">
                <a:solidFill>
                  <a:schemeClr val="tx1">
                    <a:lumMod val="65000"/>
                    <a:lumOff val="35000"/>
                  </a:schemeClr>
                </a:solidFill>
              </a:rPr>
              <a:t>：新規事業開発を最大目標としているにもかかわらず、実際には事業が思うように進んでいない。</a:t>
            </a:r>
            <a:endParaRPr kumimoji="1" lang="en-US" altLang="ja-JP" sz="1400" dirty="0">
              <a:solidFill>
                <a:schemeClr val="tx1">
                  <a:lumMod val="65000"/>
                  <a:lumOff val="35000"/>
                </a:schemeClr>
              </a:solidFill>
            </a:endParaRPr>
          </a:p>
          <a:p>
            <a:r>
              <a:rPr kumimoji="1" lang="en-US" altLang="ja-JP" sz="1400" b="1" dirty="0">
                <a:solidFill>
                  <a:schemeClr val="tx1">
                    <a:lumMod val="65000"/>
                    <a:lumOff val="35000"/>
                  </a:schemeClr>
                </a:solidFill>
              </a:rPr>
              <a:t>Q</a:t>
            </a:r>
            <a:r>
              <a:rPr kumimoji="1" lang="ja-JP" altLang="en-US" sz="1400" dirty="0">
                <a:solidFill>
                  <a:schemeClr val="tx1">
                    <a:lumMod val="65000"/>
                    <a:lumOff val="35000"/>
                  </a:schemeClr>
                </a:solidFill>
              </a:rPr>
              <a:t>：なぜ新規事業の開発が上手く行かないのか。</a:t>
            </a:r>
          </a:p>
        </p:txBody>
      </p:sp>
      <p:sp>
        <p:nvSpPr>
          <p:cNvPr id="4" name="正方形/長方形 3">
            <a:extLst>
              <a:ext uri="{FF2B5EF4-FFF2-40B4-BE49-F238E27FC236}">
                <a16:creationId xmlns:a16="http://schemas.microsoft.com/office/drawing/2014/main" id="{73C2FAC9-F8F5-DFA1-3585-CE0FFB6200F4}"/>
              </a:ext>
            </a:extLst>
          </p:cNvPr>
          <p:cNvSpPr/>
          <p:nvPr/>
        </p:nvSpPr>
        <p:spPr>
          <a:xfrm>
            <a:off x="6289724" y="1037968"/>
            <a:ext cx="5387546" cy="86252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新規事業の開発が進まないのは、現在の経営体制そのものが新規事業の推進を阻害しているからである。</a:t>
            </a:r>
            <a:endParaRPr lang="ja-JP" altLang="ja-JP" sz="1200" dirty="0">
              <a:solidFill>
                <a:schemeClr val="tx1"/>
              </a:solidFill>
            </a:endParaRPr>
          </a:p>
        </p:txBody>
      </p:sp>
      <p:sp>
        <p:nvSpPr>
          <p:cNvPr id="5" name="正方形/長方形 4">
            <a:extLst>
              <a:ext uri="{FF2B5EF4-FFF2-40B4-BE49-F238E27FC236}">
                <a16:creationId xmlns:a16="http://schemas.microsoft.com/office/drawing/2014/main" id="{9DA10476-E906-E0EF-0181-36988855B63A}"/>
              </a:ext>
            </a:extLst>
          </p:cNvPr>
          <p:cNvSpPr/>
          <p:nvPr/>
        </p:nvSpPr>
        <p:spPr>
          <a:xfrm>
            <a:off x="4318149" y="2392309"/>
            <a:ext cx="3555701" cy="125293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なぜならば、年功重視の役員昇格制度により、若手役員の抜擢が行われていないことで、新規事業に取り組む活力が役員間に生まれていないから。</a:t>
            </a:r>
            <a:endParaRPr lang="ja-JP" altLang="ja-JP" sz="1200" dirty="0">
              <a:solidFill>
                <a:schemeClr val="tx1"/>
              </a:solidFill>
            </a:endParaRPr>
          </a:p>
        </p:txBody>
      </p:sp>
      <p:sp>
        <p:nvSpPr>
          <p:cNvPr id="6" name="正方形/長方形 5">
            <a:extLst>
              <a:ext uri="{FF2B5EF4-FFF2-40B4-BE49-F238E27FC236}">
                <a16:creationId xmlns:a16="http://schemas.microsoft.com/office/drawing/2014/main" id="{641287F3-C503-CF77-EB2D-5574B498DB06}"/>
              </a:ext>
            </a:extLst>
          </p:cNvPr>
          <p:cNvSpPr/>
          <p:nvPr/>
        </p:nvSpPr>
        <p:spPr>
          <a:xfrm>
            <a:off x="299876" y="2392309"/>
            <a:ext cx="3555701" cy="125293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なぜならば、役員の数が多すぎることで、意思決定がまとまらないから。</a:t>
            </a:r>
            <a:endParaRPr lang="ja-JP" altLang="ja-JP" sz="1200" dirty="0">
              <a:solidFill>
                <a:schemeClr val="tx1"/>
              </a:solidFill>
            </a:endParaRPr>
          </a:p>
        </p:txBody>
      </p:sp>
      <p:sp>
        <p:nvSpPr>
          <p:cNvPr id="7" name="正方形/長方形 6">
            <a:extLst>
              <a:ext uri="{FF2B5EF4-FFF2-40B4-BE49-F238E27FC236}">
                <a16:creationId xmlns:a16="http://schemas.microsoft.com/office/drawing/2014/main" id="{43385FB7-A9E5-E743-1CDB-EB061782403F}"/>
              </a:ext>
            </a:extLst>
          </p:cNvPr>
          <p:cNvSpPr/>
          <p:nvPr/>
        </p:nvSpPr>
        <p:spPr>
          <a:xfrm>
            <a:off x="8336423" y="2392309"/>
            <a:ext cx="3555701" cy="1252934"/>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なぜならば、社長と副社長を除く役員</a:t>
            </a:r>
            <a:r>
              <a:rPr lang="en-US" altLang="ja-JP" sz="1200" dirty="0">
                <a:solidFill>
                  <a:schemeClr val="tx1"/>
                </a:solidFill>
              </a:rPr>
              <a:t>10</a:t>
            </a:r>
            <a:r>
              <a:rPr lang="ja-JP" altLang="en-US" sz="1200" dirty="0">
                <a:solidFill>
                  <a:schemeClr val="tx1"/>
                </a:solidFill>
              </a:rPr>
              <a:t>人全員が事業部の利益代表であることで、事業部横断的なビジネスの調整・育成を担う立場の役員がいないから。</a:t>
            </a:r>
            <a:endParaRPr lang="ja-JP" altLang="ja-JP" sz="1200" dirty="0">
              <a:solidFill>
                <a:schemeClr val="tx1"/>
              </a:solidFill>
            </a:endParaRPr>
          </a:p>
        </p:txBody>
      </p:sp>
      <p:cxnSp>
        <p:nvCxnSpPr>
          <p:cNvPr id="51" name="コネクタ: カギ線 50">
            <a:extLst>
              <a:ext uri="{FF2B5EF4-FFF2-40B4-BE49-F238E27FC236}">
                <a16:creationId xmlns:a16="http://schemas.microsoft.com/office/drawing/2014/main" id="{F91D4DF8-C234-3371-33D8-30064D03DE77}"/>
              </a:ext>
            </a:extLst>
          </p:cNvPr>
          <p:cNvCxnSpPr>
            <a:cxnSpLocks/>
            <a:stCxn id="4" idx="2"/>
            <a:endCxn id="6" idx="0"/>
          </p:cNvCxnSpPr>
          <p:nvPr/>
        </p:nvCxnSpPr>
        <p:spPr>
          <a:xfrm rot="5400000">
            <a:off x="5284703" y="-1306486"/>
            <a:ext cx="491819" cy="690577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4" name="コネクタ: カギ線 53">
            <a:extLst>
              <a:ext uri="{FF2B5EF4-FFF2-40B4-BE49-F238E27FC236}">
                <a16:creationId xmlns:a16="http://schemas.microsoft.com/office/drawing/2014/main" id="{876B2D57-B008-0AB9-A505-5C423E4F1E0B}"/>
              </a:ext>
            </a:extLst>
          </p:cNvPr>
          <p:cNvCxnSpPr>
            <a:cxnSpLocks/>
            <a:stCxn id="4" idx="2"/>
            <a:endCxn id="5" idx="0"/>
          </p:cNvCxnSpPr>
          <p:nvPr/>
        </p:nvCxnSpPr>
        <p:spPr>
          <a:xfrm rot="5400000">
            <a:off x="7293840" y="702651"/>
            <a:ext cx="491819" cy="288749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39287435-C2B3-C0DB-A567-77DF3E8C150B}"/>
              </a:ext>
            </a:extLst>
          </p:cNvPr>
          <p:cNvCxnSpPr>
            <a:cxnSpLocks/>
            <a:stCxn id="4" idx="2"/>
            <a:endCxn id="7" idx="0"/>
          </p:cNvCxnSpPr>
          <p:nvPr/>
        </p:nvCxnSpPr>
        <p:spPr>
          <a:xfrm rot="16200000" flipH="1">
            <a:off x="9302976" y="1581010"/>
            <a:ext cx="491819" cy="113077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7289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DBCC0-D0D4-F015-ED6E-393A1C68A8D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AD833F6-1888-4ACE-5BAB-85FB2569489B}"/>
              </a:ext>
            </a:extLst>
          </p:cNvPr>
          <p:cNvSpPr/>
          <p:nvPr/>
        </p:nvSpPr>
        <p:spPr>
          <a:xfrm>
            <a:off x="148733" y="135925"/>
            <a:ext cx="5815463" cy="194613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b="1" dirty="0">
                <a:solidFill>
                  <a:schemeClr val="tx1">
                    <a:lumMod val="65000"/>
                    <a:lumOff val="35000"/>
                  </a:schemeClr>
                </a:solidFill>
              </a:rPr>
              <a:t>O</a:t>
            </a:r>
            <a:r>
              <a:rPr kumimoji="1" lang="ja-JP" altLang="en-US" sz="1400" b="1" dirty="0">
                <a:solidFill>
                  <a:schemeClr val="tx1">
                    <a:lumMod val="65000"/>
                    <a:lumOff val="35000"/>
                  </a:schemeClr>
                </a:solidFill>
              </a:rPr>
              <a:t>：</a:t>
            </a:r>
            <a:r>
              <a:rPr kumimoji="1" lang="ja-JP" altLang="en-US" sz="1400" dirty="0">
                <a:solidFill>
                  <a:schemeClr val="tx1">
                    <a:lumMod val="65000"/>
                    <a:lumOff val="35000"/>
                  </a:schemeClr>
                </a:solidFill>
              </a:rPr>
              <a:t>新規事業の開発・育成を機能させる経営体制を構築する。</a:t>
            </a:r>
            <a:endParaRPr kumimoji="1" lang="en-US" altLang="ja-JP" sz="1400" dirty="0">
              <a:solidFill>
                <a:schemeClr val="tx1">
                  <a:lumMod val="65000"/>
                  <a:lumOff val="35000"/>
                </a:schemeClr>
              </a:solidFill>
            </a:endParaRPr>
          </a:p>
          <a:p>
            <a:r>
              <a:rPr kumimoji="1" lang="en-US" altLang="ja-JP" sz="1400" b="1" dirty="0">
                <a:solidFill>
                  <a:schemeClr val="tx1">
                    <a:lumMod val="65000"/>
                    <a:lumOff val="35000"/>
                  </a:schemeClr>
                </a:solidFill>
              </a:rPr>
              <a:t>P</a:t>
            </a:r>
            <a:r>
              <a:rPr kumimoji="1" lang="ja-JP" altLang="en-US" sz="1400" b="1" dirty="0">
                <a:solidFill>
                  <a:schemeClr val="tx1">
                    <a:lumMod val="65000"/>
                    <a:lumOff val="35000"/>
                  </a:schemeClr>
                </a:solidFill>
              </a:rPr>
              <a:t>：</a:t>
            </a:r>
            <a:r>
              <a:rPr kumimoji="1" lang="ja-JP" altLang="en-US" sz="1400" dirty="0">
                <a:solidFill>
                  <a:schemeClr val="tx1">
                    <a:lumMod val="65000"/>
                    <a:lumOff val="35000"/>
                  </a:schemeClr>
                </a:solidFill>
              </a:rPr>
              <a:t>現在の経営体制</a:t>
            </a:r>
            <a:r>
              <a:rPr kumimoji="1" lang="en-US" altLang="ja-JP" sz="1400" dirty="0">
                <a:solidFill>
                  <a:schemeClr val="tx1">
                    <a:lumMod val="65000"/>
                    <a:lumOff val="35000"/>
                  </a:schemeClr>
                </a:solidFill>
              </a:rPr>
              <a:t>(</a:t>
            </a:r>
            <a:r>
              <a:rPr kumimoji="1" lang="ja-JP" altLang="en-US" sz="1400" dirty="0">
                <a:solidFill>
                  <a:schemeClr val="tx1">
                    <a:lumMod val="65000"/>
                    <a:lumOff val="35000"/>
                  </a:schemeClr>
                </a:solidFill>
              </a:rPr>
              <a:t>役員過多、年功昇格、事業部代表構造</a:t>
            </a:r>
            <a:r>
              <a:rPr kumimoji="1" lang="en-US" altLang="ja-JP" sz="1400" dirty="0">
                <a:solidFill>
                  <a:schemeClr val="tx1">
                    <a:lumMod val="65000"/>
                    <a:lumOff val="35000"/>
                  </a:schemeClr>
                </a:solidFill>
              </a:rPr>
              <a:t>)</a:t>
            </a:r>
            <a:r>
              <a:rPr kumimoji="1" lang="ja-JP" altLang="en-US" sz="1400" dirty="0">
                <a:solidFill>
                  <a:schemeClr val="tx1">
                    <a:lumMod val="65000"/>
                    <a:lumOff val="35000"/>
                  </a:schemeClr>
                </a:solidFill>
              </a:rPr>
              <a:t>が新規事業推進を阻害していることが判明している。</a:t>
            </a:r>
            <a:endParaRPr kumimoji="1" lang="en-US" altLang="ja-JP" sz="1400" dirty="0">
              <a:solidFill>
                <a:schemeClr val="tx1">
                  <a:lumMod val="65000"/>
                  <a:lumOff val="35000"/>
                </a:schemeClr>
              </a:solidFill>
            </a:endParaRPr>
          </a:p>
          <a:p>
            <a:r>
              <a:rPr kumimoji="1" lang="en-US" altLang="ja-JP" sz="1400" b="1" dirty="0">
                <a:solidFill>
                  <a:schemeClr val="tx1">
                    <a:lumMod val="65000"/>
                    <a:lumOff val="35000"/>
                  </a:schemeClr>
                </a:solidFill>
              </a:rPr>
              <a:t>Q</a:t>
            </a:r>
            <a:r>
              <a:rPr kumimoji="1" lang="ja-JP" altLang="en-US" sz="1400" b="1" dirty="0">
                <a:solidFill>
                  <a:schemeClr val="tx1">
                    <a:lumMod val="65000"/>
                    <a:lumOff val="35000"/>
                  </a:schemeClr>
                </a:solidFill>
              </a:rPr>
              <a:t>：</a:t>
            </a:r>
            <a:r>
              <a:rPr kumimoji="1" lang="ja-JP" altLang="en-US" sz="1400" dirty="0">
                <a:solidFill>
                  <a:schemeClr val="tx1">
                    <a:lumMod val="65000"/>
                    <a:lumOff val="35000"/>
                  </a:schemeClr>
                </a:solidFill>
              </a:rPr>
              <a:t>新規事業推進のために、経営体制をどのように見直すべきか。</a:t>
            </a:r>
          </a:p>
        </p:txBody>
      </p:sp>
      <p:sp>
        <p:nvSpPr>
          <p:cNvPr id="4" name="正方形/長方形 3">
            <a:extLst>
              <a:ext uri="{FF2B5EF4-FFF2-40B4-BE49-F238E27FC236}">
                <a16:creationId xmlns:a16="http://schemas.microsoft.com/office/drawing/2014/main" id="{0F88D82B-15E5-8BA0-2A48-89CA52171D64}"/>
              </a:ext>
            </a:extLst>
          </p:cNvPr>
          <p:cNvSpPr/>
          <p:nvPr/>
        </p:nvSpPr>
        <p:spPr>
          <a:xfrm>
            <a:off x="6289724" y="1037968"/>
            <a:ext cx="5387546" cy="86252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新規事業推進のため、役員体制を刷新し、事業部の利害から独立した新規事業専任組織を新設すべきである。</a:t>
            </a:r>
            <a:endParaRPr lang="ja-JP" altLang="ja-JP" sz="1200" dirty="0">
              <a:solidFill>
                <a:schemeClr val="tx1"/>
              </a:solidFill>
            </a:endParaRPr>
          </a:p>
        </p:txBody>
      </p:sp>
      <p:sp>
        <p:nvSpPr>
          <p:cNvPr id="5" name="正方形/長方形 4">
            <a:extLst>
              <a:ext uri="{FF2B5EF4-FFF2-40B4-BE49-F238E27FC236}">
                <a16:creationId xmlns:a16="http://schemas.microsoft.com/office/drawing/2014/main" id="{CB8E6608-9CE5-75D4-1626-3A6B8C0289F2}"/>
              </a:ext>
            </a:extLst>
          </p:cNvPr>
          <p:cNvSpPr/>
          <p:nvPr/>
        </p:nvSpPr>
        <p:spPr>
          <a:xfrm>
            <a:off x="4318149" y="2392309"/>
            <a:ext cx="3555701" cy="119115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具体的には、半年以内に、新規事業の企画・推進実績を持つ</a:t>
            </a:r>
            <a:r>
              <a:rPr lang="en-US" altLang="ja-JP" sz="1200" dirty="0">
                <a:solidFill>
                  <a:schemeClr val="tx1"/>
                </a:solidFill>
              </a:rPr>
              <a:t>40</a:t>
            </a:r>
            <a:r>
              <a:rPr lang="ja-JP" altLang="en-US" sz="1200" dirty="0">
                <a:solidFill>
                  <a:schemeClr val="tx1"/>
                </a:solidFill>
              </a:rPr>
              <a:t>歳以下の人材を役員に</a:t>
            </a:r>
            <a:r>
              <a:rPr lang="en-US" altLang="ja-JP" sz="1200" dirty="0">
                <a:solidFill>
                  <a:schemeClr val="tx1"/>
                </a:solidFill>
              </a:rPr>
              <a:t>1</a:t>
            </a:r>
            <a:r>
              <a:rPr lang="ja-JP" altLang="en-US" sz="1200" dirty="0">
                <a:solidFill>
                  <a:schemeClr val="tx1"/>
                </a:solidFill>
              </a:rPr>
              <a:t>名以上登用すべきである。</a:t>
            </a:r>
            <a:endParaRPr lang="ja-JP" altLang="ja-JP" sz="1200" dirty="0">
              <a:solidFill>
                <a:schemeClr val="tx1"/>
              </a:solidFill>
            </a:endParaRPr>
          </a:p>
        </p:txBody>
      </p:sp>
      <p:sp>
        <p:nvSpPr>
          <p:cNvPr id="6" name="正方形/長方形 5">
            <a:extLst>
              <a:ext uri="{FF2B5EF4-FFF2-40B4-BE49-F238E27FC236}">
                <a16:creationId xmlns:a16="http://schemas.microsoft.com/office/drawing/2014/main" id="{00E9C4DC-5362-86DF-53B9-45F43AE1D0FA}"/>
              </a:ext>
            </a:extLst>
          </p:cNvPr>
          <p:cNvSpPr/>
          <p:nvPr/>
        </p:nvSpPr>
        <p:spPr>
          <a:xfrm>
            <a:off x="299876" y="2392309"/>
            <a:ext cx="3555701" cy="119115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具体的には、役員数を</a:t>
            </a:r>
            <a:r>
              <a:rPr lang="en-US" altLang="ja-JP" sz="1200" dirty="0">
                <a:solidFill>
                  <a:schemeClr val="tx1"/>
                </a:solidFill>
              </a:rPr>
              <a:t>1</a:t>
            </a:r>
            <a:r>
              <a:rPr lang="ja-JP" altLang="en-US" sz="1200" dirty="0">
                <a:solidFill>
                  <a:schemeClr val="tx1"/>
                </a:solidFill>
              </a:rPr>
              <a:t>年以内に</a:t>
            </a:r>
            <a:r>
              <a:rPr lang="en-US" altLang="ja-JP" sz="1200" dirty="0">
                <a:solidFill>
                  <a:schemeClr val="tx1"/>
                </a:solidFill>
              </a:rPr>
              <a:t>13</a:t>
            </a:r>
            <a:r>
              <a:rPr lang="ja-JP" altLang="en-US" sz="1200" dirty="0">
                <a:solidFill>
                  <a:schemeClr val="tx1"/>
                </a:solidFill>
              </a:rPr>
              <a:t>名から</a:t>
            </a:r>
            <a:r>
              <a:rPr lang="en-US" altLang="ja-JP" sz="1200" dirty="0">
                <a:solidFill>
                  <a:schemeClr val="tx1"/>
                </a:solidFill>
              </a:rPr>
              <a:t>7</a:t>
            </a:r>
            <a:r>
              <a:rPr lang="ja-JP" altLang="en-US" sz="1200" dirty="0">
                <a:solidFill>
                  <a:schemeClr val="tx1"/>
                </a:solidFill>
              </a:rPr>
              <a:t>名以下に削減すべきである。</a:t>
            </a:r>
            <a:endParaRPr lang="ja-JP" altLang="ja-JP" sz="1200" dirty="0">
              <a:solidFill>
                <a:schemeClr val="tx1"/>
              </a:solidFill>
            </a:endParaRPr>
          </a:p>
        </p:txBody>
      </p:sp>
      <p:sp>
        <p:nvSpPr>
          <p:cNvPr id="7" name="正方形/長方形 6">
            <a:extLst>
              <a:ext uri="{FF2B5EF4-FFF2-40B4-BE49-F238E27FC236}">
                <a16:creationId xmlns:a16="http://schemas.microsoft.com/office/drawing/2014/main" id="{6A70C065-0B38-9A30-E71F-9D5BE4BB46EE}"/>
              </a:ext>
            </a:extLst>
          </p:cNvPr>
          <p:cNvSpPr/>
          <p:nvPr/>
        </p:nvSpPr>
        <p:spPr>
          <a:xfrm>
            <a:off x="8336423" y="2392309"/>
            <a:ext cx="3555701" cy="119115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a:solidFill>
                  <a:schemeClr val="tx1"/>
                </a:solidFill>
              </a:rPr>
              <a:t>具体的には、</a:t>
            </a:r>
            <a:r>
              <a:rPr lang="en-US" altLang="ja-JP" sz="1200">
                <a:solidFill>
                  <a:schemeClr val="tx1"/>
                </a:solidFill>
              </a:rPr>
              <a:t>3</a:t>
            </a:r>
            <a:r>
              <a:rPr lang="ja-JP" altLang="en-US" sz="1200">
                <a:solidFill>
                  <a:schemeClr val="tx1"/>
                </a:solidFill>
              </a:rPr>
              <a:t>ヶ月以内に、既存事業部の予算・人事から独立した決裁権限と、年間</a:t>
            </a:r>
            <a:r>
              <a:rPr lang="en-US" altLang="ja-JP" sz="1200">
                <a:solidFill>
                  <a:schemeClr val="tx1"/>
                </a:solidFill>
              </a:rPr>
              <a:t>10</a:t>
            </a:r>
            <a:r>
              <a:rPr lang="ja-JP" altLang="en-US" sz="1200">
                <a:solidFill>
                  <a:schemeClr val="tx1"/>
                </a:solidFill>
              </a:rPr>
              <a:t>億円以上の予算枠を持つ新規事業専任組織を新設すべきである。</a:t>
            </a:r>
            <a:endParaRPr lang="ja-JP" altLang="ja-JP" sz="1200" dirty="0">
              <a:solidFill>
                <a:schemeClr val="tx1"/>
              </a:solidFill>
            </a:endParaRPr>
          </a:p>
        </p:txBody>
      </p:sp>
      <p:cxnSp>
        <p:nvCxnSpPr>
          <p:cNvPr id="51" name="コネクタ: カギ線 50">
            <a:extLst>
              <a:ext uri="{FF2B5EF4-FFF2-40B4-BE49-F238E27FC236}">
                <a16:creationId xmlns:a16="http://schemas.microsoft.com/office/drawing/2014/main" id="{7FAF98B8-3D36-E2E9-AF40-A872B90C04AD}"/>
              </a:ext>
            </a:extLst>
          </p:cNvPr>
          <p:cNvCxnSpPr>
            <a:cxnSpLocks/>
            <a:stCxn id="4" idx="2"/>
            <a:endCxn id="6" idx="0"/>
          </p:cNvCxnSpPr>
          <p:nvPr/>
        </p:nvCxnSpPr>
        <p:spPr>
          <a:xfrm rot="5400000">
            <a:off x="5284703" y="-1306486"/>
            <a:ext cx="491819" cy="690577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4" name="コネクタ: カギ線 53">
            <a:extLst>
              <a:ext uri="{FF2B5EF4-FFF2-40B4-BE49-F238E27FC236}">
                <a16:creationId xmlns:a16="http://schemas.microsoft.com/office/drawing/2014/main" id="{19BE7A3A-66F8-8804-6621-D5CD4AEFCAB4}"/>
              </a:ext>
            </a:extLst>
          </p:cNvPr>
          <p:cNvCxnSpPr>
            <a:cxnSpLocks/>
            <a:stCxn id="4" idx="2"/>
            <a:endCxn id="5" idx="0"/>
          </p:cNvCxnSpPr>
          <p:nvPr/>
        </p:nvCxnSpPr>
        <p:spPr>
          <a:xfrm rot="5400000">
            <a:off x="7293840" y="702651"/>
            <a:ext cx="491819" cy="288749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5E5CFE4A-0103-29AB-3CA9-05E6008C6FB3}"/>
              </a:ext>
            </a:extLst>
          </p:cNvPr>
          <p:cNvCxnSpPr>
            <a:cxnSpLocks/>
            <a:stCxn id="4" idx="2"/>
            <a:endCxn id="7" idx="0"/>
          </p:cNvCxnSpPr>
          <p:nvPr/>
        </p:nvCxnSpPr>
        <p:spPr>
          <a:xfrm rot="16200000" flipH="1">
            <a:off x="9302976" y="1581010"/>
            <a:ext cx="491819" cy="113077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2799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5EDA9-7FF3-1FE0-59D7-1EFEBD8900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1158757-FC26-D613-D3C0-961EBAA4B323}"/>
              </a:ext>
            </a:extLst>
          </p:cNvPr>
          <p:cNvSpPr>
            <a:spLocks noGrp="1"/>
          </p:cNvSpPr>
          <p:nvPr>
            <p:ph type="title"/>
          </p:nvPr>
        </p:nvSpPr>
        <p:spPr>
          <a:xfrm>
            <a:off x="838200" y="365126"/>
            <a:ext cx="10515600" cy="722270"/>
          </a:xfrm>
        </p:spPr>
        <p:txBody>
          <a:bodyPr>
            <a:normAutofit/>
          </a:bodyPr>
          <a:lstStyle/>
          <a:p>
            <a:r>
              <a:rPr kumimoji="1" lang="en-US" altLang="ja-JP" sz="2400" dirty="0"/>
              <a:t>A</a:t>
            </a:r>
            <a:r>
              <a:rPr kumimoji="1" lang="ja-JP" altLang="en-US" sz="2400" dirty="0"/>
              <a:t>社と</a:t>
            </a:r>
            <a:r>
              <a:rPr kumimoji="1" lang="en-US" altLang="ja-JP" sz="2400" dirty="0"/>
              <a:t>B</a:t>
            </a:r>
            <a:r>
              <a:rPr kumimoji="1" lang="ja-JP" altLang="en-US" sz="2400" dirty="0"/>
              <a:t>社</a:t>
            </a:r>
          </a:p>
        </p:txBody>
      </p:sp>
      <p:sp>
        <p:nvSpPr>
          <p:cNvPr id="3" name="コンテンツ プレースホルダー 2">
            <a:extLst>
              <a:ext uri="{FF2B5EF4-FFF2-40B4-BE49-F238E27FC236}">
                <a16:creationId xmlns:a16="http://schemas.microsoft.com/office/drawing/2014/main" id="{4DFB2B08-9FB2-C4B8-4B77-3D219FD23EB9}"/>
              </a:ext>
            </a:extLst>
          </p:cNvPr>
          <p:cNvSpPr>
            <a:spLocks noGrp="1"/>
          </p:cNvSpPr>
          <p:nvPr>
            <p:ph idx="1"/>
          </p:nvPr>
        </p:nvSpPr>
        <p:spPr>
          <a:xfrm>
            <a:off x="838200" y="1186249"/>
            <a:ext cx="10515600" cy="4990714"/>
          </a:xfrm>
        </p:spPr>
        <p:txBody>
          <a:bodyPr>
            <a:normAutofit/>
          </a:bodyPr>
          <a:lstStyle/>
          <a:p>
            <a:pPr>
              <a:spcBef>
                <a:spcPts val="3600"/>
              </a:spcBef>
            </a:pPr>
            <a:r>
              <a:rPr lang="ja-JP" altLang="ja-JP" sz="2000" dirty="0"/>
              <a:t>A社が倒産した結果、B社は黒字になった。 </a:t>
            </a:r>
            <a:endParaRPr lang="en-US" altLang="ja-JP" sz="2000" dirty="0"/>
          </a:p>
          <a:p>
            <a:pPr>
              <a:spcBef>
                <a:spcPts val="3600"/>
              </a:spcBef>
            </a:pPr>
            <a:r>
              <a:rPr lang="ja-JP" altLang="ja-JP" sz="2000" dirty="0"/>
              <a:t>私の車は10年間毎日乗っているにもかかわらず、とても調子が良い。</a:t>
            </a:r>
            <a:endParaRPr lang="en-US" altLang="ja-JP" sz="2000" dirty="0"/>
          </a:p>
          <a:p>
            <a:pPr>
              <a:spcBef>
                <a:spcPts val="3600"/>
              </a:spcBef>
            </a:pPr>
            <a:r>
              <a:rPr lang="en-US" altLang="ja-JP" sz="2000" dirty="0"/>
              <a:t>B</a:t>
            </a:r>
            <a:r>
              <a:rPr lang="ja-JP" altLang="en-US" sz="2000" dirty="0"/>
              <a:t>社は、株価を上げる目的で、過去最大の配当を行った。</a:t>
            </a:r>
            <a:endParaRPr lang="en-US" altLang="ja-JP" sz="2000" dirty="0"/>
          </a:p>
          <a:p>
            <a:pPr>
              <a:spcBef>
                <a:spcPts val="3600"/>
              </a:spcBef>
            </a:pPr>
            <a:r>
              <a:rPr lang="ja-JP" altLang="ja-JP" sz="2000" dirty="0"/>
              <a:t>私の当面の目標は、今の会社をグロース市場に上場させることである。</a:t>
            </a:r>
            <a:endParaRPr lang="en-US" altLang="ja-JP" sz="2000" dirty="0"/>
          </a:p>
          <a:p>
            <a:pPr>
              <a:spcBef>
                <a:spcPts val="600"/>
              </a:spcBef>
            </a:pPr>
            <a:r>
              <a:rPr lang="ja-JP" altLang="ja-JP" sz="2000" dirty="0"/>
              <a:t>私は、今の会社を将来的にプライム市場に上場させることを最終目標とする。</a:t>
            </a:r>
            <a:endParaRPr lang="en-US" altLang="ja-JP" sz="2000" dirty="0"/>
          </a:p>
          <a:p>
            <a:pPr>
              <a:spcBef>
                <a:spcPts val="3600"/>
              </a:spcBef>
            </a:pPr>
            <a:r>
              <a:rPr lang="ja-JP" altLang="ja-JP" sz="2000" dirty="0"/>
              <a:t>計画策定で重要なのは、計画遂行のチェックである。 </a:t>
            </a:r>
            <a:endParaRPr lang="en-US" altLang="ja-JP" sz="2000" dirty="0"/>
          </a:p>
          <a:p>
            <a:pPr>
              <a:spcBef>
                <a:spcPts val="600"/>
              </a:spcBef>
            </a:pPr>
            <a:r>
              <a:rPr lang="ja-JP" altLang="ja-JP" sz="2000" dirty="0"/>
              <a:t>しかし、今の計画策定システムは、予算の積み上げのみに終わっている。</a:t>
            </a:r>
            <a:endParaRPr lang="en-US" altLang="ja-JP" sz="2000" dirty="0"/>
          </a:p>
          <a:p>
            <a:pPr>
              <a:spcBef>
                <a:spcPts val="600"/>
              </a:spcBef>
            </a:pPr>
            <a:r>
              <a:rPr lang="ja-JP" altLang="en-US" sz="2000" dirty="0"/>
              <a:t>その結果</a:t>
            </a:r>
            <a:r>
              <a:rPr lang="ja-JP" altLang="ja-JP" sz="2000" dirty="0"/>
              <a:t>、計画の達成度を確認できない。 </a:t>
            </a:r>
            <a:endParaRPr lang="en-US" altLang="ja-JP" sz="2000" dirty="0"/>
          </a:p>
          <a:p>
            <a:pPr>
              <a:spcBef>
                <a:spcPts val="600"/>
              </a:spcBef>
            </a:pPr>
            <a:r>
              <a:rPr lang="ja-JP" altLang="ja-JP" sz="2000" dirty="0"/>
              <a:t>したがって、計画策定システムの緊急の修正が必要である。</a:t>
            </a:r>
          </a:p>
        </p:txBody>
      </p:sp>
    </p:spTree>
    <p:extLst>
      <p:ext uri="{BB962C8B-B14F-4D97-AF65-F5344CB8AC3E}">
        <p14:creationId xmlns:p14="http://schemas.microsoft.com/office/powerpoint/2010/main" val="80603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E2BD6-579C-AA4B-3B30-DAE95B6B9F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5D4C76-7333-5688-3A8E-8A117138E36A}"/>
              </a:ext>
            </a:extLst>
          </p:cNvPr>
          <p:cNvSpPr>
            <a:spLocks noGrp="1"/>
          </p:cNvSpPr>
          <p:nvPr>
            <p:ph type="title"/>
          </p:nvPr>
        </p:nvSpPr>
        <p:spPr>
          <a:xfrm>
            <a:off x="838200" y="185351"/>
            <a:ext cx="10515600" cy="722270"/>
          </a:xfrm>
        </p:spPr>
        <p:txBody>
          <a:bodyPr>
            <a:normAutofit/>
          </a:bodyPr>
          <a:lstStyle/>
          <a:p>
            <a:r>
              <a:rPr kumimoji="1" lang="ja-JP" altLang="en-US" sz="2400" dirty="0"/>
              <a:t>管理課の役割</a:t>
            </a:r>
          </a:p>
        </p:txBody>
      </p:sp>
      <p:sp>
        <p:nvSpPr>
          <p:cNvPr id="3" name="コンテンツ プレースホルダー 2">
            <a:extLst>
              <a:ext uri="{FF2B5EF4-FFF2-40B4-BE49-F238E27FC236}">
                <a16:creationId xmlns:a16="http://schemas.microsoft.com/office/drawing/2014/main" id="{6A66E0F8-E762-80C4-A660-8D943A942A7C}"/>
              </a:ext>
            </a:extLst>
          </p:cNvPr>
          <p:cNvSpPr>
            <a:spLocks noGrp="1"/>
          </p:cNvSpPr>
          <p:nvPr>
            <p:ph idx="1"/>
          </p:nvPr>
        </p:nvSpPr>
        <p:spPr>
          <a:xfrm>
            <a:off x="432486" y="753762"/>
            <a:ext cx="11652422" cy="5634681"/>
          </a:xfrm>
        </p:spPr>
        <p:txBody>
          <a:bodyPr>
            <a:noAutofit/>
          </a:bodyPr>
          <a:lstStyle/>
          <a:p>
            <a:r>
              <a:rPr lang="ja-JP" altLang="ja-JP" sz="1500" b="1" dirty="0"/>
              <a:t>A(管理課の役割と担当業務)</a:t>
            </a:r>
            <a:br>
              <a:rPr lang="ja-JP" altLang="ja-JP" sz="1500" dirty="0"/>
            </a:br>
            <a:r>
              <a:rPr lang="ja-JP" altLang="ja-JP" sz="1500" dirty="0"/>
              <a:t>管理課は、経営計画遂行・体質強化、健全経営の確立、情報のタイムリーな提供という3つの役割を</a:t>
            </a:r>
            <a:r>
              <a:rPr lang="ja-JP" altLang="en-US" sz="1500" dirty="0"/>
              <a:t>担っている。</a:t>
            </a:r>
            <a:r>
              <a:rPr lang="ja-JP" altLang="ja-JP" sz="1500" dirty="0"/>
              <a:t>自分はその中で利益計画・損益管理・各部門の利益管理サポートを担当している。</a:t>
            </a:r>
          </a:p>
          <a:p>
            <a:r>
              <a:rPr lang="ja-JP" altLang="ja-JP" sz="1500" b="1" dirty="0"/>
              <a:t>B(事業本部の業績)</a:t>
            </a:r>
            <a:br>
              <a:rPr lang="ja-JP" altLang="ja-JP" sz="1500" dirty="0"/>
            </a:br>
            <a:r>
              <a:rPr lang="ja-JP" altLang="ja-JP" sz="1500" dirty="0"/>
              <a:t>事業本部の業績は1992年度まで2桁成長を続けた</a:t>
            </a:r>
            <a:r>
              <a:rPr lang="ja-JP" altLang="en-US" sz="1500" dirty="0"/>
              <a:t>。しかし、</a:t>
            </a:r>
            <a:r>
              <a:rPr lang="ja-JP" altLang="ja-JP" sz="1500" dirty="0"/>
              <a:t>1993年度に不況の影響で減収減益</a:t>
            </a:r>
            <a:r>
              <a:rPr lang="ja-JP" altLang="en-US" sz="1500" dirty="0"/>
              <a:t>であるかつ、</a:t>
            </a:r>
            <a:r>
              <a:rPr lang="ja-JP" altLang="ja-JP" sz="1500" dirty="0"/>
              <a:t>1994年度もほぼ前年並みに止まっている。</a:t>
            </a:r>
          </a:p>
          <a:p>
            <a:r>
              <a:rPr lang="ja-JP" altLang="ja-JP" sz="1500" b="1" dirty="0"/>
              <a:t>C(事業本部の課題)</a:t>
            </a:r>
            <a:br>
              <a:rPr lang="ja-JP" altLang="ja-JP" sz="1500" dirty="0"/>
            </a:br>
            <a:r>
              <a:rPr lang="ja-JP" altLang="ja-JP" sz="1500" dirty="0"/>
              <a:t>事業本部の課題は、右肩上がりの成長が期待できない中で、マーケティングの強化とコスト体質の強化によるローコスト経営体質の確立にある。</a:t>
            </a:r>
          </a:p>
          <a:p>
            <a:r>
              <a:rPr lang="ja-JP" altLang="ja-JP" sz="1500" b="1" dirty="0"/>
              <a:t>D(管理課の課題と対応・第1パラグラフ)</a:t>
            </a:r>
            <a:br>
              <a:rPr lang="ja-JP" altLang="ja-JP" sz="1500" dirty="0"/>
            </a:br>
            <a:r>
              <a:rPr lang="ja-JP" altLang="ja-JP" sz="1500" dirty="0"/>
              <a:t>ローコスト経営体質の確立に向けて管理課が果たすべき役割はますます重要</a:t>
            </a:r>
            <a:r>
              <a:rPr lang="ja-JP" altLang="en-US" sz="1500" dirty="0"/>
              <a:t>である。しかし、</a:t>
            </a:r>
            <a:r>
              <a:rPr lang="ja-JP" altLang="ja-JP" sz="1500" dirty="0"/>
              <a:t>現状はその役割を十分に果たせて</a:t>
            </a:r>
            <a:r>
              <a:rPr lang="ja-JP" altLang="en-US" sz="1500" dirty="0"/>
              <a:t>いないため、</a:t>
            </a:r>
            <a:r>
              <a:rPr lang="ja-JP" altLang="ja-JP" sz="1500" dirty="0"/>
              <a:t>早急な対応が必要である。</a:t>
            </a:r>
          </a:p>
          <a:p>
            <a:r>
              <a:rPr lang="ja-JP" altLang="ja-JP" sz="1500" b="1" dirty="0"/>
              <a:t>E(経費管理上の課題と対応)</a:t>
            </a:r>
            <a:br>
              <a:rPr lang="ja-JP" altLang="ja-JP" sz="1500" dirty="0"/>
            </a:br>
            <a:r>
              <a:rPr lang="ja-JP" altLang="ja-JP" sz="1500" dirty="0"/>
              <a:t>費用削減活動は成果が出始めている</a:t>
            </a:r>
            <a:r>
              <a:rPr lang="ja-JP" altLang="en-US" sz="1500" dirty="0"/>
              <a:t>。しかし、</a:t>
            </a:r>
            <a:r>
              <a:rPr lang="ja-JP" altLang="ja-JP" sz="1500" dirty="0"/>
              <a:t>過去の取り組みが定着しなかった反省を踏まえ、一時的な抑制ではなく定着を重視した啓蒙活動として、分析対象を広げながら半永久的に継続すべきである。</a:t>
            </a:r>
          </a:p>
          <a:p>
            <a:r>
              <a:rPr lang="ja-JP" altLang="ja-JP" sz="1500" b="1" dirty="0"/>
              <a:t>F(機会損失の防止)</a:t>
            </a:r>
            <a:br>
              <a:rPr lang="ja-JP" altLang="ja-JP" sz="1500" dirty="0"/>
            </a:br>
            <a:r>
              <a:rPr lang="ja-JP" altLang="ja-JP" sz="1500" dirty="0"/>
              <a:t>コンピュータ搬入設置料・デモ貸出料の回収率は改善してきた</a:t>
            </a:r>
            <a:r>
              <a:rPr lang="ja-JP" altLang="en-US" sz="1500" dirty="0"/>
              <a:t>。しかし、</a:t>
            </a:r>
            <a:r>
              <a:rPr lang="ja-JP" altLang="ja-JP" sz="1500" dirty="0"/>
              <a:t>100%回収を目指し、金利未回収やデモ失敗コストの金額換算も含めて、事業本部一丸で取り組むべきである。</a:t>
            </a:r>
          </a:p>
          <a:p>
            <a:r>
              <a:rPr lang="ja-JP" altLang="ja-JP" sz="1500" b="1" dirty="0"/>
              <a:t>G(管理情報の提供上の課題と対応)</a:t>
            </a:r>
            <a:br>
              <a:rPr lang="ja-JP" altLang="ja-JP" sz="1500" dirty="0"/>
            </a:br>
            <a:r>
              <a:rPr lang="ja-JP" altLang="ja-JP" sz="1500" dirty="0"/>
              <a:t>現在の月報は損益数値の報告に終始し問題点の指摘や対策確認ができていない</a:t>
            </a:r>
            <a:r>
              <a:rPr lang="ja-JP" altLang="en-US" sz="1500" dirty="0"/>
              <a:t>。よって、</a:t>
            </a:r>
            <a:r>
              <a:rPr lang="ja-JP" altLang="ja-JP" sz="1500" dirty="0"/>
              <a:t>問題点の指摘から成果確認までのサイクルが見える「課題提起型月報」へ転換すべきである。</a:t>
            </a:r>
          </a:p>
          <a:p>
            <a:r>
              <a:rPr lang="ja-JP" altLang="ja-JP" sz="1500" b="1" dirty="0"/>
              <a:t>H(最終パラグラフ)</a:t>
            </a:r>
            <a:br>
              <a:rPr lang="ja-JP" altLang="ja-JP" sz="1500" dirty="0"/>
            </a:br>
            <a:r>
              <a:rPr lang="ja-JP" altLang="ja-JP" sz="1500" dirty="0"/>
              <a:t>これらの役割遂行には「徹底してやる思いの強さ」と「時間的余裕の創出」が必要であ</a:t>
            </a:r>
            <a:r>
              <a:rPr lang="ja-JP" altLang="en-US" sz="1500" dirty="0"/>
              <a:t>る。</a:t>
            </a:r>
            <a:r>
              <a:rPr lang="ja-JP" altLang="ja-JP" sz="1500" dirty="0"/>
              <a:t>時間的余裕の見込みが立った今、自らが先頭に立って管理課を変えていきたい。</a:t>
            </a:r>
          </a:p>
        </p:txBody>
      </p:sp>
    </p:spTree>
    <p:extLst>
      <p:ext uri="{BB962C8B-B14F-4D97-AF65-F5344CB8AC3E}">
        <p14:creationId xmlns:p14="http://schemas.microsoft.com/office/powerpoint/2010/main" val="1753960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B77E-0ECC-B82F-B619-A9EC7E095D2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8BCB8E2-65E7-A3E6-5273-A09C79AA33F4}"/>
              </a:ext>
            </a:extLst>
          </p:cNvPr>
          <p:cNvSpPr/>
          <p:nvPr/>
        </p:nvSpPr>
        <p:spPr>
          <a:xfrm>
            <a:off x="148733" y="135925"/>
            <a:ext cx="5815463" cy="194613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65000"/>
                    <a:lumOff val="35000"/>
                  </a:schemeClr>
                </a:solidFill>
              </a:rPr>
              <a:t>今までの経緯</a:t>
            </a:r>
            <a:endParaRPr lang="en-US" altLang="ja-JP" sz="1100" b="1" dirty="0">
              <a:solidFill>
                <a:schemeClr val="tx1">
                  <a:lumMod val="65000"/>
                  <a:lumOff val="35000"/>
                </a:schemeClr>
              </a:solidFill>
            </a:endParaRPr>
          </a:p>
          <a:p>
            <a:r>
              <a:rPr kumimoji="1" lang="ja-JP" altLang="en-US" sz="1100" dirty="0">
                <a:solidFill>
                  <a:schemeClr val="tx1">
                    <a:lumMod val="65000"/>
                    <a:lumOff val="35000"/>
                  </a:schemeClr>
                </a:solidFill>
              </a:rPr>
              <a:t>中部日本</a:t>
            </a:r>
            <a:r>
              <a:rPr kumimoji="1" lang="en-US" altLang="ja-JP" sz="1100" dirty="0">
                <a:solidFill>
                  <a:schemeClr val="tx1">
                    <a:lumMod val="65000"/>
                    <a:lumOff val="35000"/>
                  </a:schemeClr>
                </a:solidFill>
              </a:rPr>
              <a:t>SI</a:t>
            </a:r>
            <a:r>
              <a:rPr kumimoji="1" lang="ja-JP" altLang="en-US" sz="1100" dirty="0">
                <a:solidFill>
                  <a:schemeClr val="tx1">
                    <a:lumMod val="65000"/>
                    <a:lumOff val="35000"/>
                  </a:schemeClr>
                </a:solidFill>
              </a:rPr>
              <a:t>事業本部管理課は、経営計画遂行支援・管理業務の実施・経営情報の提供を役割として</a:t>
            </a:r>
            <a:r>
              <a:rPr kumimoji="1" lang="en-US" altLang="ja-JP" sz="1100" dirty="0">
                <a:solidFill>
                  <a:schemeClr val="tx1">
                    <a:lumMod val="65000"/>
                    <a:lumOff val="35000"/>
                  </a:schemeClr>
                </a:solidFill>
              </a:rPr>
              <a:t>1984</a:t>
            </a:r>
            <a:r>
              <a:rPr kumimoji="1" lang="ja-JP" altLang="en-US" sz="1100" dirty="0">
                <a:solidFill>
                  <a:schemeClr val="tx1">
                    <a:lumMod val="65000"/>
                    <a:lumOff val="35000"/>
                  </a:schemeClr>
                </a:solidFill>
              </a:rPr>
              <a:t>年に設立された。事業本部の業績は</a:t>
            </a:r>
            <a:r>
              <a:rPr kumimoji="1" lang="en-US" altLang="ja-JP" sz="1100" dirty="0">
                <a:solidFill>
                  <a:schemeClr val="tx1">
                    <a:lumMod val="65000"/>
                    <a:lumOff val="35000"/>
                  </a:schemeClr>
                </a:solidFill>
              </a:rPr>
              <a:t>1992</a:t>
            </a:r>
            <a:r>
              <a:rPr kumimoji="1" lang="ja-JP" altLang="en-US" sz="1100" dirty="0">
                <a:solidFill>
                  <a:schemeClr val="tx1">
                    <a:lumMod val="65000"/>
                    <a:lumOff val="35000"/>
                  </a:schemeClr>
                </a:solidFill>
              </a:rPr>
              <a:t>年度まで</a:t>
            </a:r>
            <a:r>
              <a:rPr kumimoji="1" lang="en-US" altLang="ja-JP" sz="1100" dirty="0">
                <a:solidFill>
                  <a:schemeClr val="tx1">
                    <a:lumMod val="65000"/>
                    <a:lumOff val="35000"/>
                  </a:schemeClr>
                </a:solidFill>
              </a:rPr>
              <a:t>2</a:t>
            </a:r>
            <a:r>
              <a:rPr kumimoji="1" lang="ja-JP" altLang="en-US" sz="1100" dirty="0">
                <a:solidFill>
                  <a:schemeClr val="tx1">
                    <a:lumMod val="65000"/>
                    <a:lumOff val="35000"/>
                  </a:schemeClr>
                </a:solidFill>
              </a:rPr>
              <a:t>桁成長を続けたが、</a:t>
            </a:r>
            <a:r>
              <a:rPr kumimoji="1" lang="en-US" altLang="ja-JP" sz="1100" dirty="0">
                <a:solidFill>
                  <a:schemeClr val="tx1">
                    <a:lumMod val="65000"/>
                    <a:lumOff val="35000"/>
                  </a:schemeClr>
                </a:solidFill>
              </a:rPr>
              <a:t>1993</a:t>
            </a:r>
            <a:r>
              <a:rPr kumimoji="1" lang="ja-JP" altLang="en-US" sz="1100" dirty="0">
                <a:solidFill>
                  <a:schemeClr val="tx1">
                    <a:lumMod val="65000"/>
                    <a:lumOff val="35000"/>
                  </a:schemeClr>
                </a:solidFill>
              </a:rPr>
              <a:t>年度の不況により減収減益に転じ、</a:t>
            </a:r>
            <a:r>
              <a:rPr kumimoji="1" lang="en-US" altLang="ja-JP" sz="1100" dirty="0">
                <a:solidFill>
                  <a:schemeClr val="tx1">
                    <a:lumMod val="65000"/>
                    <a:lumOff val="35000"/>
                  </a:schemeClr>
                </a:solidFill>
              </a:rPr>
              <a:t>1994</a:t>
            </a:r>
            <a:r>
              <a:rPr kumimoji="1" lang="ja-JP" altLang="en-US" sz="1100" dirty="0">
                <a:solidFill>
                  <a:schemeClr val="tx1">
                    <a:lumMod val="65000"/>
                    <a:lumOff val="35000"/>
                  </a:schemeClr>
                </a:solidFill>
              </a:rPr>
              <a:t>年度もほぼ前年並みの売上に止まっている。事業本部は、かつての右肩上がりの成長が期待できない中、マーケティング強化とローコスト経営体質の確立を課題としている。</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O</a:t>
            </a:r>
            <a:r>
              <a:rPr kumimoji="1" lang="ja-JP" altLang="en-US" sz="1100" dirty="0">
                <a:solidFill>
                  <a:schemeClr val="tx1">
                    <a:lumMod val="65000"/>
                    <a:lumOff val="35000"/>
                  </a:schemeClr>
                </a:solidFill>
              </a:rPr>
              <a:t>：事業本部のローコスト経営体質の確立を、管理課の機能強化によって支える。</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P</a:t>
            </a:r>
            <a:r>
              <a:rPr kumimoji="1" lang="ja-JP" altLang="en-US" sz="1100" dirty="0">
                <a:solidFill>
                  <a:schemeClr val="tx1">
                    <a:lumMod val="65000"/>
                    <a:lumOff val="35000"/>
                  </a:schemeClr>
                </a:solidFill>
              </a:rPr>
              <a:t>：管理課は経費管理・機会損失防止・管理情報提供のいずれの面でも、現状の取り組みが事業本部の課題に十分に応えられていない。</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Q</a:t>
            </a:r>
            <a:r>
              <a:rPr kumimoji="1" lang="ja-JP" altLang="en-US" sz="1100" dirty="0">
                <a:solidFill>
                  <a:schemeClr val="tx1">
                    <a:lumMod val="65000"/>
                    <a:lumOff val="35000"/>
                  </a:schemeClr>
                </a:solidFill>
              </a:rPr>
              <a:t>：管理課は、事業本部のローコスト経営体質確立に向けて、どのような役割を果たすべきか。</a:t>
            </a:r>
          </a:p>
        </p:txBody>
      </p:sp>
      <p:grpSp>
        <p:nvGrpSpPr>
          <p:cNvPr id="15" name="グループ化 14">
            <a:extLst>
              <a:ext uri="{FF2B5EF4-FFF2-40B4-BE49-F238E27FC236}">
                <a16:creationId xmlns:a16="http://schemas.microsoft.com/office/drawing/2014/main" id="{E2BCE812-8993-FF29-66E1-7B19E9085304}"/>
              </a:ext>
            </a:extLst>
          </p:cNvPr>
          <p:cNvGrpSpPr/>
          <p:nvPr/>
        </p:nvGrpSpPr>
        <p:grpSpPr>
          <a:xfrm>
            <a:off x="731505" y="3070681"/>
            <a:ext cx="2692440" cy="3651394"/>
            <a:chOff x="731505" y="2680284"/>
            <a:chExt cx="2692440" cy="3856440"/>
          </a:xfrm>
        </p:grpSpPr>
        <p:grpSp>
          <p:nvGrpSpPr>
            <p:cNvPr id="14" name="グループ化 13">
              <a:extLst>
                <a:ext uri="{FF2B5EF4-FFF2-40B4-BE49-F238E27FC236}">
                  <a16:creationId xmlns:a16="http://schemas.microsoft.com/office/drawing/2014/main" id="{EDD0262C-E2EC-6386-EF39-78C1D11C923C}"/>
                </a:ext>
              </a:extLst>
            </p:cNvPr>
            <p:cNvGrpSpPr/>
            <p:nvPr/>
          </p:nvGrpSpPr>
          <p:grpSpPr>
            <a:xfrm>
              <a:off x="731505" y="3002692"/>
              <a:ext cx="2692440" cy="3534032"/>
              <a:chOff x="701507" y="3002692"/>
              <a:chExt cx="2692440" cy="3534032"/>
            </a:xfrm>
          </p:grpSpPr>
          <p:sp>
            <p:nvSpPr>
              <p:cNvPr id="8" name="テキスト ボックス 7">
                <a:extLst>
                  <a:ext uri="{FF2B5EF4-FFF2-40B4-BE49-F238E27FC236}">
                    <a16:creationId xmlns:a16="http://schemas.microsoft.com/office/drawing/2014/main" id="{B74D1EBB-B9F5-6442-50B5-0BA2D6829652}"/>
                  </a:ext>
                </a:extLst>
              </p:cNvPr>
              <p:cNvSpPr txBox="1"/>
              <p:nvPr/>
            </p:nvSpPr>
            <p:spPr>
              <a:xfrm>
                <a:off x="701507"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なぜならば、業績悪化時にのみ注力され、回復と共に関心が薄れる傾向があったから。</a:t>
                </a:r>
                <a:endParaRPr lang="ja-JP" altLang="en-US" sz="1400" dirty="0"/>
              </a:p>
            </p:txBody>
          </p:sp>
          <p:sp>
            <p:nvSpPr>
              <p:cNvPr id="9" name="テキスト ボックス 8">
                <a:extLst>
                  <a:ext uri="{FF2B5EF4-FFF2-40B4-BE49-F238E27FC236}">
                    <a16:creationId xmlns:a16="http://schemas.microsoft.com/office/drawing/2014/main" id="{4793D6E6-8D09-FB1C-24D4-7E452ED434D5}"/>
                  </a:ext>
                </a:extLst>
              </p:cNvPr>
              <p:cNvSpPr txBox="1"/>
              <p:nvPr/>
            </p:nvSpPr>
            <p:spPr>
              <a:xfrm>
                <a:off x="2562950"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なぜならば、具体的な問題点の指摘を欠いた一方的な目標設定が、現場の納得を得られなかったから。</a:t>
                </a:r>
                <a:endParaRPr lang="en-US" altLang="ja-JP" sz="1400" dirty="0"/>
              </a:p>
            </p:txBody>
          </p:sp>
        </p:grpSp>
        <p:cxnSp>
          <p:nvCxnSpPr>
            <p:cNvPr id="25" name="コネクタ: カギ線 24">
              <a:extLst>
                <a:ext uri="{FF2B5EF4-FFF2-40B4-BE49-F238E27FC236}">
                  <a16:creationId xmlns:a16="http://schemas.microsoft.com/office/drawing/2014/main" id="{99295638-E0BC-B621-3421-DAFA3C7BD2C5}"/>
                </a:ext>
              </a:extLst>
            </p:cNvPr>
            <p:cNvCxnSpPr>
              <a:cxnSpLocks/>
              <a:stCxn id="6" idx="2"/>
              <a:endCxn id="8" idx="0"/>
            </p:cNvCxnSpPr>
            <p:nvPr/>
          </p:nvCxnSpPr>
          <p:spPr>
            <a:xfrm rot="5400000">
              <a:off x="1451162" y="2376127"/>
              <a:ext cx="322408" cy="930723"/>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CB1B1C50-795D-94A1-63B5-5B6D1239A21E}"/>
                </a:ext>
              </a:extLst>
            </p:cNvPr>
            <p:cNvCxnSpPr>
              <a:cxnSpLocks/>
              <a:stCxn id="6" idx="2"/>
              <a:endCxn id="9" idx="0"/>
            </p:cNvCxnSpPr>
            <p:nvPr/>
          </p:nvCxnSpPr>
          <p:spPr>
            <a:xfrm rot="16200000" flipH="1">
              <a:off x="2381883" y="2376128"/>
              <a:ext cx="322408" cy="930720"/>
            </a:xfrm>
            <a:prstGeom prst="bentConnector3">
              <a:avLst/>
            </a:prstGeom>
          </p:spPr>
          <p:style>
            <a:lnRef idx="2">
              <a:schemeClr val="accent1"/>
            </a:lnRef>
            <a:fillRef idx="0">
              <a:schemeClr val="accent1"/>
            </a:fillRef>
            <a:effectRef idx="1">
              <a:schemeClr val="accent1"/>
            </a:effectRef>
            <a:fontRef idx="minor">
              <a:schemeClr val="tx1"/>
            </a:fontRef>
          </p:style>
        </p:cxnSp>
      </p:grpSp>
      <p:grpSp>
        <p:nvGrpSpPr>
          <p:cNvPr id="18" name="グループ化 17">
            <a:extLst>
              <a:ext uri="{FF2B5EF4-FFF2-40B4-BE49-F238E27FC236}">
                <a16:creationId xmlns:a16="http://schemas.microsoft.com/office/drawing/2014/main" id="{D1B1266B-968D-9E7D-C177-A766C716DAED}"/>
              </a:ext>
            </a:extLst>
          </p:cNvPr>
          <p:cNvGrpSpPr/>
          <p:nvPr/>
        </p:nvGrpSpPr>
        <p:grpSpPr>
          <a:xfrm>
            <a:off x="4738205" y="3375947"/>
            <a:ext cx="2692441" cy="3346128"/>
            <a:chOff x="701506" y="3002692"/>
            <a:chExt cx="2692441" cy="3534032"/>
          </a:xfrm>
        </p:grpSpPr>
        <p:sp>
          <p:nvSpPr>
            <p:cNvPr id="21" name="テキスト ボックス 20">
              <a:extLst>
                <a:ext uri="{FF2B5EF4-FFF2-40B4-BE49-F238E27FC236}">
                  <a16:creationId xmlns:a16="http://schemas.microsoft.com/office/drawing/2014/main" id="{EB5DB5F6-5B1F-2D6B-ED77-517E39476A5C}"/>
                </a:ext>
              </a:extLst>
            </p:cNvPr>
            <p:cNvSpPr txBox="1"/>
            <p:nvPr/>
          </p:nvSpPr>
          <p:spPr>
            <a:xfrm>
              <a:off x="701506"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なぜならば、搬入設置料・デモ貸出料の回収率は</a:t>
              </a:r>
              <a:r>
                <a:rPr lang="ja-JP" altLang="en-US" sz="1400" dirty="0"/>
                <a:t>それぞれ７５</a:t>
              </a:r>
              <a:r>
                <a:rPr lang="ja-JP" altLang="ja-JP" sz="1400" dirty="0"/>
                <a:t>%・</a:t>
              </a:r>
              <a:r>
                <a:rPr lang="ja-JP" altLang="en-US" sz="1400" dirty="0"/>
                <a:t>６１</a:t>
              </a:r>
              <a:r>
                <a:rPr lang="ja-JP" altLang="ja-JP" sz="1400" dirty="0"/>
                <a:t>%にとどまっているから。</a:t>
              </a:r>
              <a:endParaRPr lang="en-US" altLang="ja-JP" sz="1400" dirty="0"/>
            </a:p>
          </p:txBody>
        </p:sp>
        <p:sp>
          <p:nvSpPr>
            <p:cNvPr id="22" name="テキスト ボックス 21">
              <a:extLst>
                <a:ext uri="{FF2B5EF4-FFF2-40B4-BE49-F238E27FC236}">
                  <a16:creationId xmlns:a16="http://schemas.microsoft.com/office/drawing/2014/main" id="{8E6142B4-E4CF-2FC4-9184-EFF2C8CF17B5}"/>
                </a:ext>
              </a:extLst>
            </p:cNvPr>
            <p:cNvSpPr txBox="1"/>
            <p:nvPr/>
          </p:nvSpPr>
          <p:spPr>
            <a:xfrm>
              <a:off x="2562950"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なぜならば、金利未回収やデモ失敗コストは、従来コストインパクトの金額提示がなされていなかったから。</a:t>
              </a:r>
              <a:endParaRPr lang="en-US" altLang="ja-JP" sz="1400" dirty="0"/>
            </a:p>
          </p:txBody>
        </p:sp>
      </p:grpSp>
      <p:grpSp>
        <p:nvGrpSpPr>
          <p:cNvPr id="26" name="グループ化 25">
            <a:extLst>
              <a:ext uri="{FF2B5EF4-FFF2-40B4-BE49-F238E27FC236}">
                <a16:creationId xmlns:a16="http://schemas.microsoft.com/office/drawing/2014/main" id="{9CBC04A1-B48B-4D01-2127-33BDBD99EDFF}"/>
              </a:ext>
            </a:extLst>
          </p:cNvPr>
          <p:cNvGrpSpPr/>
          <p:nvPr/>
        </p:nvGrpSpPr>
        <p:grpSpPr>
          <a:xfrm>
            <a:off x="8768053" y="3375947"/>
            <a:ext cx="2692439" cy="3346128"/>
            <a:chOff x="701507" y="3002692"/>
            <a:chExt cx="2692439" cy="3534032"/>
          </a:xfrm>
        </p:grpSpPr>
        <p:sp>
          <p:nvSpPr>
            <p:cNvPr id="27" name="テキスト ボックス 26">
              <a:extLst>
                <a:ext uri="{FF2B5EF4-FFF2-40B4-BE49-F238E27FC236}">
                  <a16:creationId xmlns:a16="http://schemas.microsoft.com/office/drawing/2014/main" id="{6869CABD-168B-47B9-8B31-FFD48699205A}"/>
                </a:ext>
              </a:extLst>
            </p:cNvPr>
            <p:cNvSpPr txBox="1"/>
            <p:nvPr/>
          </p:nvSpPr>
          <p:spPr>
            <a:xfrm>
              <a:off x="701507"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なぜならば、部門実績は支店レベルに</a:t>
              </a:r>
              <a:r>
                <a:rPr lang="ja-JP" altLang="en-US" sz="1400" dirty="0"/>
                <a:t>留まっているため</a:t>
              </a:r>
              <a:r>
                <a:rPr lang="ja-JP" altLang="ja-JP" sz="1400" dirty="0"/>
                <a:t>、地域別の詳細分析がなされていないから。 </a:t>
              </a:r>
              <a:endParaRPr lang="en-US" altLang="ja-JP" sz="1400" dirty="0"/>
            </a:p>
          </p:txBody>
        </p:sp>
        <p:sp>
          <p:nvSpPr>
            <p:cNvPr id="28" name="テキスト ボックス 27">
              <a:extLst>
                <a:ext uri="{FF2B5EF4-FFF2-40B4-BE49-F238E27FC236}">
                  <a16:creationId xmlns:a16="http://schemas.microsoft.com/office/drawing/2014/main" id="{8B1560A6-7BDA-ED55-0D5A-1C16F4773D4C}"/>
                </a:ext>
              </a:extLst>
            </p:cNvPr>
            <p:cNvSpPr txBox="1"/>
            <p:nvPr/>
          </p:nvSpPr>
          <p:spPr>
            <a:xfrm>
              <a:off x="2562949"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なぜならば、受け手である部門は業績確定値の認識に</a:t>
              </a:r>
              <a:r>
                <a:rPr lang="ja-JP" altLang="en-US" sz="1400" dirty="0"/>
                <a:t>留まっているため</a:t>
              </a:r>
              <a:r>
                <a:rPr lang="ja-JP" altLang="ja-JP" sz="1400" dirty="0"/>
                <a:t>、対策や効果の確認に至っていないから。</a:t>
              </a:r>
            </a:p>
          </p:txBody>
        </p:sp>
      </p:grpSp>
      <p:sp>
        <p:nvSpPr>
          <p:cNvPr id="4" name="正方形/長方形 3">
            <a:extLst>
              <a:ext uri="{FF2B5EF4-FFF2-40B4-BE49-F238E27FC236}">
                <a16:creationId xmlns:a16="http://schemas.microsoft.com/office/drawing/2014/main" id="{D753E24C-7FD2-7E30-72CE-A5B1EBCB5A6C}"/>
              </a:ext>
            </a:extLst>
          </p:cNvPr>
          <p:cNvSpPr/>
          <p:nvPr/>
        </p:nvSpPr>
        <p:spPr>
          <a:xfrm>
            <a:off x="6289724" y="1037968"/>
            <a:ext cx="5387546" cy="86252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管理課は、コスト削減の定着・機会損失の解消・問題発見型の情報提供という</a:t>
            </a:r>
            <a:r>
              <a:rPr lang="en-US" altLang="ja-JP" sz="1200" dirty="0">
                <a:solidFill>
                  <a:schemeClr val="tx1"/>
                </a:solidFill>
              </a:rPr>
              <a:t>3</a:t>
            </a:r>
            <a:r>
              <a:rPr lang="ja-JP" altLang="en-US" sz="1200" dirty="0">
                <a:solidFill>
                  <a:schemeClr val="tx1"/>
                </a:solidFill>
              </a:rPr>
              <a:t>つの機能強化を進めるべきである。</a:t>
            </a:r>
            <a:endParaRPr lang="ja-JP" altLang="ja-JP" sz="1200" dirty="0">
              <a:solidFill>
                <a:schemeClr val="tx1"/>
              </a:solidFill>
            </a:endParaRPr>
          </a:p>
        </p:txBody>
      </p:sp>
      <p:sp>
        <p:nvSpPr>
          <p:cNvPr id="5" name="正方形/長方形 4">
            <a:extLst>
              <a:ext uri="{FF2B5EF4-FFF2-40B4-BE49-F238E27FC236}">
                <a16:creationId xmlns:a16="http://schemas.microsoft.com/office/drawing/2014/main" id="{CF4DD4AB-C77B-043B-D4EC-621C9B137823}"/>
              </a:ext>
            </a:extLst>
          </p:cNvPr>
          <p:cNvSpPr/>
          <p:nvPr/>
        </p:nvSpPr>
        <p:spPr>
          <a:xfrm>
            <a:off x="4318149"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なぜならば、機会損失の回収率はいまだ</a:t>
            </a:r>
            <a:r>
              <a:rPr lang="en-US" altLang="ja-JP" sz="1200" dirty="0">
                <a:solidFill>
                  <a:schemeClr val="tx1"/>
                </a:solidFill>
              </a:rPr>
              <a:t>100%</a:t>
            </a:r>
            <a:r>
              <a:rPr lang="ja-JP" altLang="en-US" sz="1200" dirty="0">
                <a:solidFill>
                  <a:schemeClr val="tx1"/>
                </a:solidFill>
              </a:rPr>
              <a:t>に達しておらず、金額換算されていない損失も残っているから。</a:t>
            </a:r>
            <a:endParaRPr lang="ja-JP" altLang="ja-JP" sz="1200" dirty="0">
              <a:solidFill>
                <a:schemeClr val="tx1"/>
              </a:solidFill>
            </a:endParaRPr>
          </a:p>
        </p:txBody>
      </p:sp>
      <p:sp>
        <p:nvSpPr>
          <p:cNvPr id="6" name="正方形/長方形 5">
            <a:extLst>
              <a:ext uri="{FF2B5EF4-FFF2-40B4-BE49-F238E27FC236}">
                <a16:creationId xmlns:a16="http://schemas.microsoft.com/office/drawing/2014/main" id="{B4B7C950-690B-A823-61A7-CDD0CDCCBCA3}"/>
              </a:ext>
            </a:extLst>
          </p:cNvPr>
          <p:cNvSpPr/>
          <p:nvPr/>
        </p:nvSpPr>
        <p:spPr>
          <a:xfrm>
            <a:off x="299876"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なぜならば、経費削減活動は過去にも一時的な取り組みに終わり、定着してこなかったから。</a:t>
            </a:r>
            <a:endParaRPr lang="ja-JP" altLang="ja-JP" sz="1200" dirty="0">
              <a:solidFill>
                <a:schemeClr val="tx1"/>
              </a:solidFill>
            </a:endParaRPr>
          </a:p>
        </p:txBody>
      </p:sp>
      <p:sp>
        <p:nvSpPr>
          <p:cNvPr id="7" name="正方形/長方形 6">
            <a:extLst>
              <a:ext uri="{FF2B5EF4-FFF2-40B4-BE49-F238E27FC236}">
                <a16:creationId xmlns:a16="http://schemas.microsoft.com/office/drawing/2014/main" id="{56EECD5C-C405-0B8F-1EA2-7D134CB0BE39}"/>
              </a:ext>
            </a:extLst>
          </p:cNvPr>
          <p:cNvSpPr/>
          <p:nvPr/>
        </p:nvSpPr>
        <p:spPr>
          <a:xfrm>
            <a:off x="8336423"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なぜならば、現状の月報は損益報告のみで一方通行であり、問題発見・対策確認の機能を果たしていないから。</a:t>
            </a:r>
            <a:endParaRPr lang="ja-JP" altLang="ja-JP" sz="1200" dirty="0">
              <a:solidFill>
                <a:schemeClr val="tx1"/>
              </a:solidFill>
            </a:endParaRPr>
          </a:p>
        </p:txBody>
      </p:sp>
      <p:cxnSp>
        <p:nvCxnSpPr>
          <p:cNvPr id="51" name="コネクタ: カギ線 50">
            <a:extLst>
              <a:ext uri="{FF2B5EF4-FFF2-40B4-BE49-F238E27FC236}">
                <a16:creationId xmlns:a16="http://schemas.microsoft.com/office/drawing/2014/main" id="{F09F7D2A-760C-C77E-2F9F-071A70AD2458}"/>
              </a:ext>
            </a:extLst>
          </p:cNvPr>
          <p:cNvCxnSpPr>
            <a:cxnSpLocks/>
            <a:stCxn id="4" idx="2"/>
            <a:endCxn id="6" idx="0"/>
          </p:cNvCxnSpPr>
          <p:nvPr/>
        </p:nvCxnSpPr>
        <p:spPr>
          <a:xfrm rot="5400000">
            <a:off x="5284703" y="-1306486"/>
            <a:ext cx="491819" cy="690577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4" name="コネクタ: カギ線 53">
            <a:extLst>
              <a:ext uri="{FF2B5EF4-FFF2-40B4-BE49-F238E27FC236}">
                <a16:creationId xmlns:a16="http://schemas.microsoft.com/office/drawing/2014/main" id="{723127C3-FD51-CC83-8F84-8BD8B211937A}"/>
              </a:ext>
            </a:extLst>
          </p:cNvPr>
          <p:cNvCxnSpPr>
            <a:cxnSpLocks/>
            <a:stCxn id="4" idx="2"/>
            <a:endCxn id="5" idx="0"/>
          </p:cNvCxnSpPr>
          <p:nvPr/>
        </p:nvCxnSpPr>
        <p:spPr>
          <a:xfrm rot="5400000">
            <a:off x="7293840" y="702651"/>
            <a:ext cx="491819" cy="288749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00665AA5-5EA5-ADB9-908D-C1D8A06F7E9E}"/>
              </a:ext>
            </a:extLst>
          </p:cNvPr>
          <p:cNvCxnSpPr>
            <a:cxnSpLocks/>
            <a:stCxn id="4" idx="2"/>
            <a:endCxn id="7" idx="0"/>
          </p:cNvCxnSpPr>
          <p:nvPr/>
        </p:nvCxnSpPr>
        <p:spPr>
          <a:xfrm rot="16200000" flipH="1">
            <a:off x="9302976" y="1581010"/>
            <a:ext cx="491819" cy="113077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9" name="コネクタ: カギ線 18">
            <a:extLst>
              <a:ext uri="{FF2B5EF4-FFF2-40B4-BE49-F238E27FC236}">
                <a16:creationId xmlns:a16="http://schemas.microsoft.com/office/drawing/2014/main" id="{F941A906-F5EF-88BC-A6B2-465F64955F17}"/>
              </a:ext>
            </a:extLst>
          </p:cNvPr>
          <p:cNvCxnSpPr>
            <a:cxnSpLocks/>
            <a:stCxn id="5" idx="2"/>
            <a:endCxn id="21" idx="0"/>
          </p:cNvCxnSpPr>
          <p:nvPr/>
        </p:nvCxnSpPr>
        <p:spPr>
          <a:xfrm rot="5400000">
            <a:off x="5472219" y="2752166"/>
            <a:ext cx="305266" cy="942296"/>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0" name="コネクタ: カギ線 19">
            <a:extLst>
              <a:ext uri="{FF2B5EF4-FFF2-40B4-BE49-F238E27FC236}">
                <a16:creationId xmlns:a16="http://schemas.microsoft.com/office/drawing/2014/main" id="{96A995FF-49A6-908A-CD4C-9B59FEE60183}"/>
              </a:ext>
            </a:extLst>
          </p:cNvPr>
          <p:cNvCxnSpPr>
            <a:cxnSpLocks/>
            <a:stCxn id="5" idx="2"/>
            <a:endCxn id="22" idx="0"/>
          </p:cNvCxnSpPr>
          <p:nvPr/>
        </p:nvCxnSpPr>
        <p:spPr>
          <a:xfrm rot="16200000" flipH="1">
            <a:off x="6402941" y="2763740"/>
            <a:ext cx="305266" cy="91914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0" name="コネクタ: カギ線 29">
            <a:extLst>
              <a:ext uri="{FF2B5EF4-FFF2-40B4-BE49-F238E27FC236}">
                <a16:creationId xmlns:a16="http://schemas.microsoft.com/office/drawing/2014/main" id="{1685E89A-9948-8634-FA25-21617F293568}"/>
              </a:ext>
            </a:extLst>
          </p:cNvPr>
          <p:cNvCxnSpPr>
            <a:cxnSpLocks/>
            <a:stCxn id="7" idx="2"/>
            <a:endCxn id="27" idx="0"/>
          </p:cNvCxnSpPr>
          <p:nvPr/>
        </p:nvCxnSpPr>
        <p:spPr>
          <a:xfrm rot="5400000">
            <a:off x="9496280" y="2757953"/>
            <a:ext cx="305266" cy="930722"/>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2" name="コネクタ: カギ線 31">
            <a:extLst>
              <a:ext uri="{FF2B5EF4-FFF2-40B4-BE49-F238E27FC236}">
                <a16:creationId xmlns:a16="http://schemas.microsoft.com/office/drawing/2014/main" id="{73C08E4C-61C1-C2BE-D185-28F84D7A62A5}"/>
              </a:ext>
            </a:extLst>
          </p:cNvPr>
          <p:cNvCxnSpPr>
            <a:cxnSpLocks/>
            <a:stCxn id="7" idx="2"/>
            <a:endCxn id="28" idx="0"/>
          </p:cNvCxnSpPr>
          <p:nvPr/>
        </p:nvCxnSpPr>
        <p:spPr>
          <a:xfrm rot="16200000" flipH="1">
            <a:off x="10427001" y="2757954"/>
            <a:ext cx="305266" cy="930720"/>
          </a:xfrm>
          <a:prstGeom prst="bentConnector3">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8012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B5C4-E93D-F033-FCCA-B1C613ED8C5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FBA0187-767E-E3B6-B0C3-1E199FC65FBB}"/>
              </a:ext>
            </a:extLst>
          </p:cNvPr>
          <p:cNvSpPr/>
          <p:nvPr/>
        </p:nvSpPr>
        <p:spPr>
          <a:xfrm>
            <a:off x="148733" y="135925"/>
            <a:ext cx="5815463" cy="194613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65000"/>
                    <a:lumOff val="35000"/>
                  </a:schemeClr>
                </a:solidFill>
              </a:rPr>
              <a:t>今までの経緯</a:t>
            </a:r>
            <a:endParaRPr lang="en-US" altLang="ja-JP" sz="1100" b="1" dirty="0">
              <a:solidFill>
                <a:schemeClr val="tx1">
                  <a:lumMod val="65000"/>
                  <a:lumOff val="35000"/>
                </a:schemeClr>
              </a:solidFill>
            </a:endParaRPr>
          </a:p>
          <a:p>
            <a:r>
              <a:rPr kumimoji="1" lang="ja-JP" altLang="en-US" sz="1100" dirty="0">
                <a:solidFill>
                  <a:schemeClr val="tx1">
                    <a:lumMod val="65000"/>
                    <a:lumOff val="35000"/>
                  </a:schemeClr>
                </a:solidFill>
              </a:rPr>
              <a:t>中部日本</a:t>
            </a:r>
            <a:r>
              <a:rPr kumimoji="1" lang="en-US" altLang="ja-JP" sz="1100" dirty="0">
                <a:solidFill>
                  <a:schemeClr val="tx1">
                    <a:lumMod val="65000"/>
                    <a:lumOff val="35000"/>
                  </a:schemeClr>
                </a:solidFill>
              </a:rPr>
              <a:t>SI</a:t>
            </a:r>
            <a:r>
              <a:rPr kumimoji="1" lang="ja-JP" altLang="en-US" sz="1100" dirty="0">
                <a:solidFill>
                  <a:schemeClr val="tx1">
                    <a:lumMod val="65000"/>
                    <a:lumOff val="35000"/>
                  </a:schemeClr>
                </a:solidFill>
              </a:rPr>
              <a:t>事業本部管理課は、経営計画遂行支援・管理業務の実施・経営情報の提供を役割として</a:t>
            </a:r>
            <a:r>
              <a:rPr kumimoji="1" lang="en-US" altLang="ja-JP" sz="1100" dirty="0">
                <a:solidFill>
                  <a:schemeClr val="tx1">
                    <a:lumMod val="65000"/>
                    <a:lumOff val="35000"/>
                  </a:schemeClr>
                </a:solidFill>
              </a:rPr>
              <a:t>1984</a:t>
            </a:r>
            <a:r>
              <a:rPr kumimoji="1" lang="ja-JP" altLang="en-US" sz="1100" dirty="0">
                <a:solidFill>
                  <a:schemeClr val="tx1">
                    <a:lumMod val="65000"/>
                    <a:lumOff val="35000"/>
                  </a:schemeClr>
                </a:solidFill>
              </a:rPr>
              <a:t>年に設立された。事業本部の業績は</a:t>
            </a:r>
            <a:r>
              <a:rPr kumimoji="1" lang="en-US" altLang="ja-JP" sz="1100" dirty="0">
                <a:solidFill>
                  <a:schemeClr val="tx1">
                    <a:lumMod val="65000"/>
                    <a:lumOff val="35000"/>
                  </a:schemeClr>
                </a:solidFill>
              </a:rPr>
              <a:t>1992</a:t>
            </a:r>
            <a:r>
              <a:rPr kumimoji="1" lang="ja-JP" altLang="en-US" sz="1100" dirty="0">
                <a:solidFill>
                  <a:schemeClr val="tx1">
                    <a:lumMod val="65000"/>
                    <a:lumOff val="35000"/>
                  </a:schemeClr>
                </a:solidFill>
              </a:rPr>
              <a:t>年度まで</a:t>
            </a:r>
            <a:r>
              <a:rPr kumimoji="1" lang="en-US" altLang="ja-JP" sz="1100" dirty="0">
                <a:solidFill>
                  <a:schemeClr val="tx1">
                    <a:lumMod val="65000"/>
                    <a:lumOff val="35000"/>
                  </a:schemeClr>
                </a:solidFill>
              </a:rPr>
              <a:t>2</a:t>
            </a:r>
            <a:r>
              <a:rPr kumimoji="1" lang="ja-JP" altLang="en-US" sz="1100" dirty="0">
                <a:solidFill>
                  <a:schemeClr val="tx1">
                    <a:lumMod val="65000"/>
                    <a:lumOff val="35000"/>
                  </a:schemeClr>
                </a:solidFill>
              </a:rPr>
              <a:t>桁成長を続けたが、</a:t>
            </a:r>
            <a:r>
              <a:rPr kumimoji="1" lang="en-US" altLang="ja-JP" sz="1100" dirty="0">
                <a:solidFill>
                  <a:schemeClr val="tx1">
                    <a:lumMod val="65000"/>
                    <a:lumOff val="35000"/>
                  </a:schemeClr>
                </a:solidFill>
              </a:rPr>
              <a:t>1993</a:t>
            </a:r>
            <a:r>
              <a:rPr kumimoji="1" lang="ja-JP" altLang="en-US" sz="1100" dirty="0">
                <a:solidFill>
                  <a:schemeClr val="tx1">
                    <a:lumMod val="65000"/>
                    <a:lumOff val="35000"/>
                  </a:schemeClr>
                </a:solidFill>
              </a:rPr>
              <a:t>年度の不況により減収減益に転じ、</a:t>
            </a:r>
            <a:r>
              <a:rPr kumimoji="1" lang="en-US" altLang="ja-JP" sz="1100" dirty="0">
                <a:solidFill>
                  <a:schemeClr val="tx1">
                    <a:lumMod val="65000"/>
                    <a:lumOff val="35000"/>
                  </a:schemeClr>
                </a:solidFill>
              </a:rPr>
              <a:t>1994</a:t>
            </a:r>
            <a:r>
              <a:rPr kumimoji="1" lang="ja-JP" altLang="en-US" sz="1100" dirty="0">
                <a:solidFill>
                  <a:schemeClr val="tx1">
                    <a:lumMod val="65000"/>
                    <a:lumOff val="35000"/>
                  </a:schemeClr>
                </a:solidFill>
              </a:rPr>
              <a:t>年度もほぼ前年並みの売上に止まっている。事業本部は、かつての右肩上がりの成長が期待できない中、マーケティング強化とローコスト経営体質の確立を課題としている。</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O</a:t>
            </a:r>
            <a:r>
              <a:rPr kumimoji="1" lang="ja-JP" altLang="en-US" sz="1100" dirty="0">
                <a:solidFill>
                  <a:schemeClr val="tx1">
                    <a:lumMod val="65000"/>
                    <a:lumOff val="35000"/>
                  </a:schemeClr>
                </a:solidFill>
              </a:rPr>
              <a:t>：事業本部のローコスト経営体質の確立を、管理課の機能強化によって支える。</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P</a:t>
            </a:r>
            <a:r>
              <a:rPr kumimoji="1" lang="ja-JP" altLang="en-US" sz="1100" dirty="0">
                <a:solidFill>
                  <a:schemeClr val="tx1">
                    <a:lumMod val="65000"/>
                    <a:lumOff val="35000"/>
                  </a:schemeClr>
                </a:solidFill>
              </a:rPr>
              <a:t>：管理課は経費管理・機会損失防止・管理情報提供のいずれの面でも、現状の取り組みが事業本部の課題に十分に応えられていない。</a:t>
            </a:r>
            <a:endParaRPr kumimoji="1" lang="en-US" altLang="ja-JP" sz="1100" dirty="0">
              <a:solidFill>
                <a:schemeClr val="tx1">
                  <a:lumMod val="65000"/>
                  <a:lumOff val="35000"/>
                </a:schemeClr>
              </a:solidFill>
            </a:endParaRPr>
          </a:p>
          <a:p>
            <a:r>
              <a:rPr kumimoji="1" lang="en-US" altLang="ja-JP" sz="1100" b="1" dirty="0">
                <a:solidFill>
                  <a:schemeClr val="tx1">
                    <a:lumMod val="65000"/>
                    <a:lumOff val="35000"/>
                  </a:schemeClr>
                </a:solidFill>
              </a:rPr>
              <a:t>Q</a:t>
            </a:r>
            <a:r>
              <a:rPr kumimoji="1" lang="ja-JP" altLang="en-US" sz="1100" dirty="0">
                <a:solidFill>
                  <a:schemeClr val="tx1">
                    <a:lumMod val="65000"/>
                    <a:lumOff val="35000"/>
                  </a:schemeClr>
                </a:solidFill>
              </a:rPr>
              <a:t>：管理課は、事業本部のローコスト経営体質確立に向けて、どのような役割を果たすべきか。</a:t>
            </a:r>
          </a:p>
        </p:txBody>
      </p:sp>
      <p:grpSp>
        <p:nvGrpSpPr>
          <p:cNvPr id="15" name="グループ化 14">
            <a:extLst>
              <a:ext uri="{FF2B5EF4-FFF2-40B4-BE49-F238E27FC236}">
                <a16:creationId xmlns:a16="http://schemas.microsoft.com/office/drawing/2014/main" id="{2A128E48-E65B-A135-A182-51DC2141CC96}"/>
              </a:ext>
            </a:extLst>
          </p:cNvPr>
          <p:cNvGrpSpPr/>
          <p:nvPr/>
        </p:nvGrpSpPr>
        <p:grpSpPr>
          <a:xfrm>
            <a:off x="731505" y="3070681"/>
            <a:ext cx="2692440" cy="3651394"/>
            <a:chOff x="731505" y="2680284"/>
            <a:chExt cx="2692440" cy="3856440"/>
          </a:xfrm>
        </p:grpSpPr>
        <p:grpSp>
          <p:nvGrpSpPr>
            <p:cNvPr id="14" name="グループ化 13">
              <a:extLst>
                <a:ext uri="{FF2B5EF4-FFF2-40B4-BE49-F238E27FC236}">
                  <a16:creationId xmlns:a16="http://schemas.microsoft.com/office/drawing/2014/main" id="{127BA039-99C1-EA6F-586C-A9743EFDAE1E}"/>
                </a:ext>
              </a:extLst>
            </p:cNvPr>
            <p:cNvGrpSpPr/>
            <p:nvPr/>
          </p:nvGrpSpPr>
          <p:grpSpPr>
            <a:xfrm>
              <a:off x="731505" y="3002692"/>
              <a:ext cx="2692440" cy="3534032"/>
              <a:chOff x="701507" y="3002692"/>
              <a:chExt cx="2692440" cy="3534032"/>
            </a:xfrm>
          </p:grpSpPr>
          <p:sp>
            <p:nvSpPr>
              <p:cNvPr id="8" name="テキスト ボックス 7">
                <a:extLst>
                  <a:ext uri="{FF2B5EF4-FFF2-40B4-BE49-F238E27FC236}">
                    <a16:creationId xmlns:a16="http://schemas.microsoft.com/office/drawing/2014/main" id="{C8EF0687-7208-F4E2-3605-050E921380A9}"/>
                  </a:ext>
                </a:extLst>
              </p:cNvPr>
              <p:cNvSpPr txBox="1"/>
              <p:nvPr/>
            </p:nvSpPr>
            <p:spPr>
              <a:xfrm>
                <a:off x="701507"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なぜならば、業績悪化時にのみ注力され、回復と共に関心が薄れる傾向があったから。</a:t>
                </a:r>
                <a:endParaRPr lang="ja-JP" altLang="en-US" sz="1400" dirty="0"/>
              </a:p>
            </p:txBody>
          </p:sp>
          <p:sp>
            <p:nvSpPr>
              <p:cNvPr id="9" name="テキスト ボックス 8">
                <a:extLst>
                  <a:ext uri="{FF2B5EF4-FFF2-40B4-BE49-F238E27FC236}">
                    <a16:creationId xmlns:a16="http://schemas.microsoft.com/office/drawing/2014/main" id="{1AE2BB71-48DA-C252-63E3-BA4D642FCB96}"/>
                  </a:ext>
                </a:extLst>
              </p:cNvPr>
              <p:cNvSpPr txBox="1"/>
              <p:nvPr/>
            </p:nvSpPr>
            <p:spPr>
              <a:xfrm>
                <a:off x="2562950"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なぜならば、具体的な問題点の指摘を欠いた一方的な目標設定が、現場の納得を得られなかったから。</a:t>
                </a:r>
                <a:endParaRPr lang="en-US" altLang="ja-JP" sz="1400" dirty="0"/>
              </a:p>
            </p:txBody>
          </p:sp>
        </p:grpSp>
        <p:cxnSp>
          <p:nvCxnSpPr>
            <p:cNvPr id="25" name="コネクタ: カギ線 24">
              <a:extLst>
                <a:ext uri="{FF2B5EF4-FFF2-40B4-BE49-F238E27FC236}">
                  <a16:creationId xmlns:a16="http://schemas.microsoft.com/office/drawing/2014/main" id="{23C23508-A465-DBCC-B037-B98A5C50E69E}"/>
                </a:ext>
              </a:extLst>
            </p:cNvPr>
            <p:cNvCxnSpPr>
              <a:cxnSpLocks/>
              <a:stCxn id="6" idx="2"/>
              <a:endCxn id="8" idx="0"/>
            </p:cNvCxnSpPr>
            <p:nvPr/>
          </p:nvCxnSpPr>
          <p:spPr>
            <a:xfrm rot="5400000">
              <a:off x="1451162" y="2376127"/>
              <a:ext cx="322408" cy="930723"/>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9" name="コネクタ: カギ線 28">
              <a:extLst>
                <a:ext uri="{FF2B5EF4-FFF2-40B4-BE49-F238E27FC236}">
                  <a16:creationId xmlns:a16="http://schemas.microsoft.com/office/drawing/2014/main" id="{650FB454-FC1D-EE43-EC8B-8C04A4F72998}"/>
                </a:ext>
              </a:extLst>
            </p:cNvPr>
            <p:cNvCxnSpPr>
              <a:cxnSpLocks/>
              <a:stCxn id="6" idx="2"/>
              <a:endCxn id="9" idx="0"/>
            </p:cNvCxnSpPr>
            <p:nvPr/>
          </p:nvCxnSpPr>
          <p:spPr>
            <a:xfrm rot="16200000" flipH="1">
              <a:off x="2381883" y="2376128"/>
              <a:ext cx="322408" cy="930720"/>
            </a:xfrm>
            <a:prstGeom prst="bentConnector3">
              <a:avLst/>
            </a:prstGeom>
          </p:spPr>
          <p:style>
            <a:lnRef idx="2">
              <a:schemeClr val="accent1"/>
            </a:lnRef>
            <a:fillRef idx="0">
              <a:schemeClr val="accent1"/>
            </a:fillRef>
            <a:effectRef idx="1">
              <a:schemeClr val="accent1"/>
            </a:effectRef>
            <a:fontRef idx="minor">
              <a:schemeClr val="tx1"/>
            </a:fontRef>
          </p:style>
        </p:cxnSp>
      </p:grpSp>
      <p:grpSp>
        <p:nvGrpSpPr>
          <p:cNvPr id="18" name="グループ化 17">
            <a:extLst>
              <a:ext uri="{FF2B5EF4-FFF2-40B4-BE49-F238E27FC236}">
                <a16:creationId xmlns:a16="http://schemas.microsoft.com/office/drawing/2014/main" id="{39AF6AC1-ADF6-B1CD-0E36-AB46652E3E7C}"/>
              </a:ext>
            </a:extLst>
          </p:cNvPr>
          <p:cNvGrpSpPr/>
          <p:nvPr/>
        </p:nvGrpSpPr>
        <p:grpSpPr>
          <a:xfrm>
            <a:off x="4738205" y="3375947"/>
            <a:ext cx="2692441" cy="3346128"/>
            <a:chOff x="701506" y="3002692"/>
            <a:chExt cx="2692441" cy="3534032"/>
          </a:xfrm>
        </p:grpSpPr>
        <p:sp>
          <p:nvSpPr>
            <p:cNvPr id="21" name="テキスト ボックス 20">
              <a:extLst>
                <a:ext uri="{FF2B5EF4-FFF2-40B4-BE49-F238E27FC236}">
                  <a16:creationId xmlns:a16="http://schemas.microsoft.com/office/drawing/2014/main" id="{FD4C0C74-CF6A-EB57-695A-97F430F26707}"/>
                </a:ext>
              </a:extLst>
            </p:cNvPr>
            <p:cNvSpPr txBox="1"/>
            <p:nvPr/>
          </p:nvSpPr>
          <p:spPr>
            <a:xfrm>
              <a:off x="701506"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なぜならば、搬入設置料・デモ貸出料の回収率は</a:t>
              </a:r>
              <a:r>
                <a:rPr lang="ja-JP" altLang="en-US" sz="1400" dirty="0"/>
                <a:t>それぞれ７５</a:t>
              </a:r>
              <a:r>
                <a:rPr lang="ja-JP" altLang="ja-JP" sz="1400" dirty="0"/>
                <a:t>%・</a:t>
              </a:r>
              <a:r>
                <a:rPr lang="ja-JP" altLang="en-US" sz="1400" dirty="0"/>
                <a:t>６１</a:t>
              </a:r>
              <a:r>
                <a:rPr lang="ja-JP" altLang="ja-JP" sz="1400" dirty="0"/>
                <a:t>%にとどまっているから。</a:t>
              </a:r>
              <a:endParaRPr lang="en-US" altLang="ja-JP" sz="1400" dirty="0"/>
            </a:p>
          </p:txBody>
        </p:sp>
        <p:sp>
          <p:nvSpPr>
            <p:cNvPr id="22" name="テキスト ボックス 21">
              <a:extLst>
                <a:ext uri="{FF2B5EF4-FFF2-40B4-BE49-F238E27FC236}">
                  <a16:creationId xmlns:a16="http://schemas.microsoft.com/office/drawing/2014/main" id="{6FBF8E51-381F-AC04-F06D-9C713C5137A4}"/>
                </a:ext>
              </a:extLst>
            </p:cNvPr>
            <p:cNvSpPr txBox="1"/>
            <p:nvPr/>
          </p:nvSpPr>
          <p:spPr>
            <a:xfrm>
              <a:off x="2562950"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なぜならば、金利未回収やデモ失敗コストは、従来コストインパクトの金額提示がなされていなかったから。</a:t>
              </a:r>
              <a:endParaRPr lang="en-US" altLang="ja-JP" sz="1400" dirty="0"/>
            </a:p>
          </p:txBody>
        </p:sp>
      </p:grpSp>
      <p:grpSp>
        <p:nvGrpSpPr>
          <p:cNvPr id="26" name="グループ化 25">
            <a:extLst>
              <a:ext uri="{FF2B5EF4-FFF2-40B4-BE49-F238E27FC236}">
                <a16:creationId xmlns:a16="http://schemas.microsoft.com/office/drawing/2014/main" id="{EF9408D2-9785-256F-B2F7-332E91EDB779}"/>
              </a:ext>
            </a:extLst>
          </p:cNvPr>
          <p:cNvGrpSpPr/>
          <p:nvPr/>
        </p:nvGrpSpPr>
        <p:grpSpPr>
          <a:xfrm>
            <a:off x="8768053" y="3375947"/>
            <a:ext cx="2692439" cy="3346128"/>
            <a:chOff x="701507" y="3002692"/>
            <a:chExt cx="2692439" cy="3534032"/>
          </a:xfrm>
        </p:grpSpPr>
        <p:sp>
          <p:nvSpPr>
            <p:cNvPr id="27" name="テキスト ボックス 26">
              <a:extLst>
                <a:ext uri="{FF2B5EF4-FFF2-40B4-BE49-F238E27FC236}">
                  <a16:creationId xmlns:a16="http://schemas.microsoft.com/office/drawing/2014/main" id="{766690FB-3CEB-0F9D-E25A-D946E72DB1B9}"/>
                </a:ext>
              </a:extLst>
            </p:cNvPr>
            <p:cNvSpPr txBox="1"/>
            <p:nvPr/>
          </p:nvSpPr>
          <p:spPr>
            <a:xfrm>
              <a:off x="701507"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なぜならば、部門実績は支店レベルに</a:t>
              </a:r>
              <a:r>
                <a:rPr lang="ja-JP" altLang="en-US" sz="1400" dirty="0"/>
                <a:t>留まっているため</a:t>
              </a:r>
              <a:r>
                <a:rPr lang="ja-JP" altLang="ja-JP" sz="1400" dirty="0"/>
                <a:t>、地域別の詳細分析がなされていないから。 </a:t>
              </a:r>
              <a:endParaRPr lang="en-US" altLang="ja-JP" sz="1400" dirty="0"/>
            </a:p>
          </p:txBody>
        </p:sp>
        <p:sp>
          <p:nvSpPr>
            <p:cNvPr id="28" name="テキスト ボックス 27">
              <a:extLst>
                <a:ext uri="{FF2B5EF4-FFF2-40B4-BE49-F238E27FC236}">
                  <a16:creationId xmlns:a16="http://schemas.microsoft.com/office/drawing/2014/main" id="{E7F22334-B5CA-496B-4DF1-E3CA92094F56}"/>
                </a:ext>
              </a:extLst>
            </p:cNvPr>
            <p:cNvSpPr txBox="1"/>
            <p:nvPr/>
          </p:nvSpPr>
          <p:spPr>
            <a:xfrm>
              <a:off x="2562949" y="3002692"/>
              <a:ext cx="830997" cy="3534032"/>
            </a:xfrm>
            <a:prstGeom prst="rect">
              <a:avLst/>
            </a:prstGeom>
            <a:noFill/>
            <a:ln>
              <a:solidFill>
                <a:schemeClr val="accent1"/>
              </a:solidFill>
            </a:ln>
          </p:spPr>
          <p:txBody>
            <a:bodyPr vert="eaVert" wrap="square" rtlCol="0" anchor="ctr">
              <a:spAutoFit/>
            </a:bodyPr>
            <a:lstStyle/>
            <a:p>
              <a:r>
                <a:rPr lang="ja-JP" altLang="ja-JP" sz="1400" dirty="0"/>
                <a:t>なぜならば、受け手である部門は業績確定値の認識に</a:t>
              </a:r>
              <a:r>
                <a:rPr lang="ja-JP" altLang="en-US" sz="1400" dirty="0"/>
                <a:t>留まっているため</a:t>
              </a:r>
              <a:r>
                <a:rPr lang="ja-JP" altLang="ja-JP" sz="1400" dirty="0"/>
                <a:t>、対策や効果の確認に至っていないから。</a:t>
              </a:r>
            </a:p>
          </p:txBody>
        </p:sp>
      </p:grpSp>
      <p:sp>
        <p:nvSpPr>
          <p:cNvPr id="4" name="正方形/長方形 3">
            <a:extLst>
              <a:ext uri="{FF2B5EF4-FFF2-40B4-BE49-F238E27FC236}">
                <a16:creationId xmlns:a16="http://schemas.microsoft.com/office/drawing/2014/main" id="{9C313F11-D8C8-7A31-0DCA-5F8CA73CB15F}"/>
              </a:ext>
            </a:extLst>
          </p:cNvPr>
          <p:cNvSpPr/>
          <p:nvPr/>
        </p:nvSpPr>
        <p:spPr>
          <a:xfrm>
            <a:off x="6289724" y="1037968"/>
            <a:ext cx="5387546" cy="86252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管理課は、コスト削減の定着・機会損失の解消・問題発見型の情報提供という</a:t>
            </a:r>
            <a:r>
              <a:rPr lang="en-US" altLang="ja-JP" sz="1200" dirty="0">
                <a:solidFill>
                  <a:schemeClr val="tx1"/>
                </a:solidFill>
              </a:rPr>
              <a:t>3</a:t>
            </a:r>
            <a:r>
              <a:rPr lang="ja-JP" altLang="en-US" sz="1200" dirty="0">
                <a:solidFill>
                  <a:schemeClr val="tx1"/>
                </a:solidFill>
              </a:rPr>
              <a:t>つの機能強化を進めるべきである。</a:t>
            </a:r>
            <a:endParaRPr lang="ja-JP" altLang="ja-JP" sz="1200" dirty="0">
              <a:solidFill>
                <a:schemeClr val="tx1"/>
              </a:solidFill>
            </a:endParaRPr>
          </a:p>
        </p:txBody>
      </p:sp>
      <p:sp>
        <p:nvSpPr>
          <p:cNvPr id="5" name="正方形/長方形 4">
            <a:extLst>
              <a:ext uri="{FF2B5EF4-FFF2-40B4-BE49-F238E27FC236}">
                <a16:creationId xmlns:a16="http://schemas.microsoft.com/office/drawing/2014/main" id="{7819896D-A2ED-8AA0-BC62-853AD91DA470}"/>
              </a:ext>
            </a:extLst>
          </p:cNvPr>
          <p:cNvSpPr/>
          <p:nvPr/>
        </p:nvSpPr>
        <p:spPr>
          <a:xfrm>
            <a:off x="4318149"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搬入設置料等の回収率が低く、金利等の見過ごされたコストも多いため、金額換算による意識改革で</a:t>
            </a:r>
            <a:r>
              <a:rPr lang="en-US" altLang="ja-JP" sz="1200" dirty="0">
                <a:solidFill>
                  <a:schemeClr val="tx1"/>
                </a:solidFill>
              </a:rPr>
              <a:t>100%</a:t>
            </a:r>
            <a:r>
              <a:rPr lang="ja-JP" altLang="en-US" sz="1200" dirty="0">
                <a:solidFill>
                  <a:schemeClr val="tx1"/>
                </a:solidFill>
              </a:rPr>
              <a:t>回収を目指す必要があるから。</a:t>
            </a:r>
            <a:endParaRPr lang="ja-JP" altLang="ja-JP" sz="1200" dirty="0">
              <a:solidFill>
                <a:schemeClr val="tx1"/>
              </a:solidFill>
            </a:endParaRPr>
          </a:p>
        </p:txBody>
      </p:sp>
      <p:sp>
        <p:nvSpPr>
          <p:cNvPr id="6" name="正方形/長方形 5">
            <a:extLst>
              <a:ext uri="{FF2B5EF4-FFF2-40B4-BE49-F238E27FC236}">
                <a16:creationId xmlns:a16="http://schemas.microsoft.com/office/drawing/2014/main" id="{1CDC5DAA-DD5B-1C47-073D-F4D5D957C96D}"/>
              </a:ext>
            </a:extLst>
          </p:cNvPr>
          <p:cNvSpPr/>
          <p:nvPr/>
        </p:nvSpPr>
        <p:spPr>
          <a:xfrm>
            <a:off x="299876"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過去の削減活動は一時的に終わり定着しなかったため、固定費等へ対象を広げて地道に継続し、戦略的資金を捻出する必要があるから。</a:t>
            </a:r>
            <a:endParaRPr lang="ja-JP" altLang="ja-JP" sz="1200" dirty="0">
              <a:solidFill>
                <a:schemeClr val="tx1"/>
              </a:solidFill>
            </a:endParaRPr>
          </a:p>
        </p:txBody>
      </p:sp>
      <p:sp>
        <p:nvSpPr>
          <p:cNvPr id="7" name="正方形/長方形 6">
            <a:extLst>
              <a:ext uri="{FF2B5EF4-FFF2-40B4-BE49-F238E27FC236}">
                <a16:creationId xmlns:a16="http://schemas.microsoft.com/office/drawing/2014/main" id="{FD0F62E4-647F-8987-D161-3F7AD2E00DD4}"/>
              </a:ext>
            </a:extLst>
          </p:cNvPr>
          <p:cNvSpPr/>
          <p:nvPr/>
        </p:nvSpPr>
        <p:spPr>
          <a:xfrm>
            <a:off x="8336423" y="2392309"/>
            <a:ext cx="3555701" cy="6783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ja-JP" altLang="en-US" sz="1200" dirty="0">
                <a:solidFill>
                  <a:schemeClr val="tx1"/>
                </a:solidFill>
              </a:rPr>
              <a:t>現状の月報は損益報告のみで一方通行なため、現場の意識改革を促す</a:t>
            </a:r>
            <a:r>
              <a:rPr lang="en-US" altLang="ja-JP" sz="1200" dirty="0">
                <a:solidFill>
                  <a:schemeClr val="tx1"/>
                </a:solidFill>
              </a:rPr>
              <a:t>『</a:t>
            </a:r>
            <a:r>
              <a:rPr lang="ja-JP" altLang="en-US" sz="1200" dirty="0">
                <a:solidFill>
                  <a:schemeClr val="tx1"/>
                </a:solidFill>
              </a:rPr>
              <a:t>課題提起型月報</a:t>
            </a:r>
            <a:r>
              <a:rPr lang="en-US" altLang="ja-JP" sz="1200" dirty="0">
                <a:solidFill>
                  <a:schemeClr val="tx1"/>
                </a:solidFill>
              </a:rPr>
              <a:t>』</a:t>
            </a:r>
            <a:r>
              <a:rPr lang="ja-JP" altLang="en-US" sz="1200" dirty="0">
                <a:solidFill>
                  <a:schemeClr val="tx1"/>
                </a:solidFill>
              </a:rPr>
              <a:t>へ転換し、双方向の改善サイクルを回す必要があるから。</a:t>
            </a:r>
            <a:endParaRPr lang="ja-JP" altLang="ja-JP" sz="1200" dirty="0">
              <a:solidFill>
                <a:schemeClr val="tx1"/>
              </a:solidFill>
            </a:endParaRPr>
          </a:p>
        </p:txBody>
      </p:sp>
      <p:cxnSp>
        <p:nvCxnSpPr>
          <p:cNvPr id="51" name="コネクタ: カギ線 50">
            <a:extLst>
              <a:ext uri="{FF2B5EF4-FFF2-40B4-BE49-F238E27FC236}">
                <a16:creationId xmlns:a16="http://schemas.microsoft.com/office/drawing/2014/main" id="{98576365-61FF-13D7-9D6B-3F372F0D2A36}"/>
              </a:ext>
            </a:extLst>
          </p:cNvPr>
          <p:cNvCxnSpPr>
            <a:cxnSpLocks/>
            <a:stCxn id="4" idx="2"/>
            <a:endCxn id="6" idx="0"/>
          </p:cNvCxnSpPr>
          <p:nvPr/>
        </p:nvCxnSpPr>
        <p:spPr>
          <a:xfrm rot="5400000">
            <a:off x="5284703" y="-1306486"/>
            <a:ext cx="491819" cy="690577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54" name="コネクタ: カギ線 53">
            <a:extLst>
              <a:ext uri="{FF2B5EF4-FFF2-40B4-BE49-F238E27FC236}">
                <a16:creationId xmlns:a16="http://schemas.microsoft.com/office/drawing/2014/main" id="{C0B4BE50-459C-A46B-975C-F5360063EDCF}"/>
              </a:ext>
            </a:extLst>
          </p:cNvPr>
          <p:cNvCxnSpPr>
            <a:cxnSpLocks/>
            <a:stCxn id="4" idx="2"/>
            <a:endCxn id="5" idx="0"/>
          </p:cNvCxnSpPr>
          <p:nvPr/>
        </p:nvCxnSpPr>
        <p:spPr>
          <a:xfrm rot="5400000">
            <a:off x="7293840" y="702651"/>
            <a:ext cx="491819" cy="288749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7" name="コネクタ: カギ線 56">
            <a:extLst>
              <a:ext uri="{FF2B5EF4-FFF2-40B4-BE49-F238E27FC236}">
                <a16:creationId xmlns:a16="http://schemas.microsoft.com/office/drawing/2014/main" id="{5A4ACF2E-58AE-66F6-9654-381B91CAA94D}"/>
              </a:ext>
            </a:extLst>
          </p:cNvPr>
          <p:cNvCxnSpPr>
            <a:cxnSpLocks/>
            <a:stCxn id="4" idx="2"/>
            <a:endCxn id="7" idx="0"/>
          </p:cNvCxnSpPr>
          <p:nvPr/>
        </p:nvCxnSpPr>
        <p:spPr>
          <a:xfrm rot="16200000" flipH="1">
            <a:off x="9302976" y="1581010"/>
            <a:ext cx="491819" cy="1130777"/>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9" name="コネクタ: カギ線 18">
            <a:extLst>
              <a:ext uri="{FF2B5EF4-FFF2-40B4-BE49-F238E27FC236}">
                <a16:creationId xmlns:a16="http://schemas.microsoft.com/office/drawing/2014/main" id="{81206D45-51E6-CBB4-CC98-7A574DED22FC}"/>
              </a:ext>
            </a:extLst>
          </p:cNvPr>
          <p:cNvCxnSpPr>
            <a:cxnSpLocks/>
            <a:stCxn id="5" idx="2"/>
            <a:endCxn id="21" idx="0"/>
          </p:cNvCxnSpPr>
          <p:nvPr/>
        </p:nvCxnSpPr>
        <p:spPr>
          <a:xfrm rot="5400000">
            <a:off x="5472219" y="2752166"/>
            <a:ext cx="305266" cy="942296"/>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0" name="コネクタ: カギ線 19">
            <a:extLst>
              <a:ext uri="{FF2B5EF4-FFF2-40B4-BE49-F238E27FC236}">
                <a16:creationId xmlns:a16="http://schemas.microsoft.com/office/drawing/2014/main" id="{5058F62C-876F-A301-44EC-C25714CD7268}"/>
              </a:ext>
            </a:extLst>
          </p:cNvPr>
          <p:cNvCxnSpPr>
            <a:cxnSpLocks/>
            <a:stCxn id="5" idx="2"/>
            <a:endCxn id="22" idx="0"/>
          </p:cNvCxnSpPr>
          <p:nvPr/>
        </p:nvCxnSpPr>
        <p:spPr>
          <a:xfrm rot="16200000" flipH="1">
            <a:off x="6402941" y="2763740"/>
            <a:ext cx="305266" cy="919148"/>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0" name="コネクタ: カギ線 29">
            <a:extLst>
              <a:ext uri="{FF2B5EF4-FFF2-40B4-BE49-F238E27FC236}">
                <a16:creationId xmlns:a16="http://schemas.microsoft.com/office/drawing/2014/main" id="{18C0ADBE-90E1-B68B-1CC4-0D22AE7D847C}"/>
              </a:ext>
            </a:extLst>
          </p:cNvPr>
          <p:cNvCxnSpPr>
            <a:cxnSpLocks/>
            <a:stCxn id="7" idx="2"/>
            <a:endCxn id="27" idx="0"/>
          </p:cNvCxnSpPr>
          <p:nvPr/>
        </p:nvCxnSpPr>
        <p:spPr>
          <a:xfrm rot="5400000">
            <a:off x="9496280" y="2757953"/>
            <a:ext cx="305266" cy="930722"/>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2" name="コネクタ: カギ線 31">
            <a:extLst>
              <a:ext uri="{FF2B5EF4-FFF2-40B4-BE49-F238E27FC236}">
                <a16:creationId xmlns:a16="http://schemas.microsoft.com/office/drawing/2014/main" id="{0BF7F8CF-B649-A98A-8BD7-9579EB4C13EA}"/>
              </a:ext>
            </a:extLst>
          </p:cNvPr>
          <p:cNvCxnSpPr>
            <a:cxnSpLocks/>
            <a:stCxn id="7" idx="2"/>
            <a:endCxn id="28" idx="0"/>
          </p:cNvCxnSpPr>
          <p:nvPr/>
        </p:nvCxnSpPr>
        <p:spPr>
          <a:xfrm rot="16200000" flipH="1">
            <a:off x="10427001" y="2757954"/>
            <a:ext cx="305266" cy="930720"/>
          </a:xfrm>
          <a:prstGeom prst="bentConnector3">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507918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TotalTime>
  <Words>2522</Words>
  <Application>Microsoft Office PowerPoint</Application>
  <PresentationFormat>ワイド画面</PresentationFormat>
  <Paragraphs>95</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PowerPoint プレゼンテーション</vt:lpstr>
      <vt:lpstr>経営資源の再配分</vt:lpstr>
      <vt:lpstr>お金持ちになる</vt:lpstr>
      <vt:lpstr>PowerPoint プレゼンテーション</vt:lpstr>
      <vt:lpstr>PowerPoint プレゼンテーション</vt:lpstr>
      <vt:lpstr>A社とB社</vt:lpstr>
      <vt:lpstr>管理課の役割</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ishowaseda</dc:creator>
  <cp:lastModifiedBy>ishowaseda</cp:lastModifiedBy>
  <cp:revision>14</cp:revision>
  <dcterms:created xsi:type="dcterms:W3CDTF">2026-06-15T13:27:10Z</dcterms:created>
  <dcterms:modified xsi:type="dcterms:W3CDTF">2026-06-28T11:29:32Z</dcterms:modified>
</cp:coreProperties>
</file>