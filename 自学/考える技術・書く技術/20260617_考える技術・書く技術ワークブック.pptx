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26" y="7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FEB6A0-80CE-1252-7317-C47A68F02DDA}"/>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838A961-2C27-C608-F238-AFDC24A5F8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624F1E85-1664-EC0C-707E-54F173DD2E7C}"/>
              </a:ext>
            </a:extLst>
          </p:cNvPr>
          <p:cNvSpPr>
            <a:spLocks noGrp="1"/>
          </p:cNvSpPr>
          <p:nvPr>
            <p:ph type="dt" sz="half" idx="10"/>
          </p:nvPr>
        </p:nvSpPr>
        <p:spPr/>
        <p:txBody>
          <a:bodyPr/>
          <a:lstStyle/>
          <a:p>
            <a:fld id="{11452BF2-670F-40BC-8CEF-7DF0FF7AD925}" type="datetimeFigureOut">
              <a:rPr kumimoji="1" lang="ja-JP" altLang="en-US" smtClean="0"/>
              <a:t>2026/6/15</a:t>
            </a:fld>
            <a:endParaRPr kumimoji="1" lang="ja-JP" altLang="en-US"/>
          </a:p>
        </p:txBody>
      </p:sp>
      <p:sp>
        <p:nvSpPr>
          <p:cNvPr id="5" name="フッター プレースホルダー 4">
            <a:extLst>
              <a:ext uri="{FF2B5EF4-FFF2-40B4-BE49-F238E27FC236}">
                <a16:creationId xmlns:a16="http://schemas.microsoft.com/office/drawing/2014/main" id="{46E1F7C7-773E-F7F7-C336-0D1F77BEFBC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D88D8D5-1AF4-D87F-CE6A-4F6293439231}"/>
              </a:ext>
            </a:extLst>
          </p:cNvPr>
          <p:cNvSpPr>
            <a:spLocks noGrp="1"/>
          </p:cNvSpPr>
          <p:nvPr>
            <p:ph type="sldNum" sz="quarter" idx="12"/>
          </p:nvPr>
        </p:nvSpPr>
        <p:spPr/>
        <p:txBody>
          <a:bodyPr/>
          <a:lstStyle/>
          <a:p>
            <a:fld id="{AF8264BE-4F97-4474-BA10-9DE09B29F1E9}" type="slidenum">
              <a:rPr kumimoji="1" lang="ja-JP" altLang="en-US" smtClean="0"/>
              <a:t>‹#›</a:t>
            </a:fld>
            <a:endParaRPr kumimoji="1" lang="ja-JP" altLang="en-US"/>
          </a:p>
        </p:txBody>
      </p:sp>
    </p:spTree>
    <p:extLst>
      <p:ext uri="{BB962C8B-B14F-4D97-AF65-F5344CB8AC3E}">
        <p14:creationId xmlns:p14="http://schemas.microsoft.com/office/powerpoint/2010/main" val="3774959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8A43C1-E368-E1C3-F763-57FD79B030D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0BDA36C-5891-702B-84A0-A36B5788D7B1}"/>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5E1FA4F-C3E5-E2CB-535C-C7FBF95E44C9}"/>
              </a:ext>
            </a:extLst>
          </p:cNvPr>
          <p:cNvSpPr>
            <a:spLocks noGrp="1"/>
          </p:cNvSpPr>
          <p:nvPr>
            <p:ph type="dt" sz="half" idx="10"/>
          </p:nvPr>
        </p:nvSpPr>
        <p:spPr/>
        <p:txBody>
          <a:bodyPr/>
          <a:lstStyle/>
          <a:p>
            <a:fld id="{11452BF2-670F-40BC-8CEF-7DF0FF7AD925}" type="datetimeFigureOut">
              <a:rPr kumimoji="1" lang="ja-JP" altLang="en-US" smtClean="0"/>
              <a:t>2026/6/15</a:t>
            </a:fld>
            <a:endParaRPr kumimoji="1" lang="ja-JP" altLang="en-US"/>
          </a:p>
        </p:txBody>
      </p:sp>
      <p:sp>
        <p:nvSpPr>
          <p:cNvPr id="5" name="フッター プレースホルダー 4">
            <a:extLst>
              <a:ext uri="{FF2B5EF4-FFF2-40B4-BE49-F238E27FC236}">
                <a16:creationId xmlns:a16="http://schemas.microsoft.com/office/drawing/2014/main" id="{7E3B4AB9-DA45-7381-9AFA-D2AA6158D39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9F6DD1-DB72-B541-87D2-F21A4A371216}"/>
              </a:ext>
            </a:extLst>
          </p:cNvPr>
          <p:cNvSpPr>
            <a:spLocks noGrp="1"/>
          </p:cNvSpPr>
          <p:nvPr>
            <p:ph type="sldNum" sz="quarter" idx="12"/>
          </p:nvPr>
        </p:nvSpPr>
        <p:spPr/>
        <p:txBody>
          <a:bodyPr/>
          <a:lstStyle/>
          <a:p>
            <a:fld id="{AF8264BE-4F97-4474-BA10-9DE09B29F1E9}" type="slidenum">
              <a:rPr kumimoji="1" lang="ja-JP" altLang="en-US" smtClean="0"/>
              <a:t>‹#›</a:t>
            </a:fld>
            <a:endParaRPr kumimoji="1" lang="ja-JP" altLang="en-US"/>
          </a:p>
        </p:txBody>
      </p:sp>
    </p:spTree>
    <p:extLst>
      <p:ext uri="{BB962C8B-B14F-4D97-AF65-F5344CB8AC3E}">
        <p14:creationId xmlns:p14="http://schemas.microsoft.com/office/powerpoint/2010/main" val="1882522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AB4F5E-6CF4-41F9-8054-D137C98E3957}"/>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E8FD168-9E79-C649-676C-D345D97FDE5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3F1548D-6DE9-5C99-2A9E-D7A79C5C0A23}"/>
              </a:ext>
            </a:extLst>
          </p:cNvPr>
          <p:cNvSpPr>
            <a:spLocks noGrp="1"/>
          </p:cNvSpPr>
          <p:nvPr>
            <p:ph type="dt" sz="half" idx="10"/>
          </p:nvPr>
        </p:nvSpPr>
        <p:spPr/>
        <p:txBody>
          <a:bodyPr/>
          <a:lstStyle/>
          <a:p>
            <a:fld id="{11452BF2-670F-40BC-8CEF-7DF0FF7AD925}" type="datetimeFigureOut">
              <a:rPr kumimoji="1" lang="ja-JP" altLang="en-US" smtClean="0"/>
              <a:t>2026/6/15</a:t>
            </a:fld>
            <a:endParaRPr kumimoji="1" lang="ja-JP" altLang="en-US"/>
          </a:p>
        </p:txBody>
      </p:sp>
      <p:sp>
        <p:nvSpPr>
          <p:cNvPr id="5" name="フッター プレースホルダー 4">
            <a:extLst>
              <a:ext uri="{FF2B5EF4-FFF2-40B4-BE49-F238E27FC236}">
                <a16:creationId xmlns:a16="http://schemas.microsoft.com/office/drawing/2014/main" id="{2DAD7E3D-5284-E4D3-A78C-55BC4FF4EAC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EE3F267-1205-6CD5-19CB-EEE474757FA4}"/>
              </a:ext>
            </a:extLst>
          </p:cNvPr>
          <p:cNvSpPr>
            <a:spLocks noGrp="1"/>
          </p:cNvSpPr>
          <p:nvPr>
            <p:ph type="sldNum" sz="quarter" idx="12"/>
          </p:nvPr>
        </p:nvSpPr>
        <p:spPr/>
        <p:txBody>
          <a:bodyPr/>
          <a:lstStyle/>
          <a:p>
            <a:fld id="{AF8264BE-4F97-4474-BA10-9DE09B29F1E9}" type="slidenum">
              <a:rPr kumimoji="1" lang="ja-JP" altLang="en-US" smtClean="0"/>
              <a:t>‹#›</a:t>
            </a:fld>
            <a:endParaRPr kumimoji="1" lang="ja-JP" altLang="en-US"/>
          </a:p>
        </p:txBody>
      </p:sp>
    </p:spTree>
    <p:extLst>
      <p:ext uri="{BB962C8B-B14F-4D97-AF65-F5344CB8AC3E}">
        <p14:creationId xmlns:p14="http://schemas.microsoft.com/office/powerpoint/2010/main" val="709699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9D4C99-CB3E-B962-EF30-104D485AD34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41BD3CD-F015-4EBA-B841-8C0CA9A744D6}"/>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56772EE-20CC-DF0D-10D8-5CA77458AC6F}"/>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186DB27-A511-93E5-733C-A077CDF1F172}"/>
              </a:ext>
            </a:extLst>
          </p:cNvPr>
          <p:cNvSpPr>
            <a:spLocks noGrp="1"/>
          </p:cNvSpPr>
          <p:nvPr>
            <p:ph type="dt" sz="half" idx="10"/>
          </p:nvPr>
        </p:nvSpPr>
        <p:spPr/>
        <p:txBody>
          <a:bodyPr/>
          <a:lstStyle/>
          <a:p>
            <a:fld id="{11452BF2-670F-40BC-8CEF-7DF0FF7AD925}" type="datetimeFigureOut">
              <a:rPr kumimoji="1" lang="ja-JP" altLang="en-US" smtClean="0"/>
              <a:t>2026/6/15</a:t>
            </a:fld>
            <a:endParaRPr kumimoji="1" lang="ja-JP" altLang="en-US"/>
          </a:p>
        </p:txBody>
      </p:sp>
      <p:sp>
        <p:nvSpPr>
          <p:cNvPr id="6" name="フッター プレースホルダー 5">
            <a:extLst>
              <a:ext uri="{FF2B5EF4-FFF2-40B4-BE49-F238E27FC236}">
                <a16:creationId xmlns:a16="http://schemas.microsoft.com/office/drawing/2014/main" id="{A85C7686-3483-456A-6097-F978EC3B101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9E9E64B-94F2-4AB7-FB70-A6C7B484ABBC}"/>
              </a:ext>
            </a:extLst>
          </p:cNvPr>
          <p:cNvSpPr>
            <a:spLocks noGrp="1"/>
          </p:cNvSpPr>
          <p:nvPr>
            <p:ph type="sldNum" sz="quarter" idx="12"/>
          </p:nvPr>
        </p:nvSpPr>
        <p:spPr/>
        <p:txBody>
          <a:bodyPr/>
          <a:lstStyle/>
          <a:p>
            <a:fld id="{AF8264BE-4F97-4474-BA10-9DE09B29F1E9}" type="slidenum">
              <a:rPr kumimoji="1" lang="ja-JP" altLang="en-US" smtClean="0"/>
              <a:t>‹#›</a:t>
            </a:fld>
            <a:endParaRPr kumimoji="1" lang="ja-JP" altLang="en-US"/>
          </a:p>
        </p:txBody>
      </p:sp>
    </p:spTree>
    <p:extLst>
      <p:ext uri="{BB962C8B-B14F-4D97-AF65-F5344CB8AC3E}">
        <p14:creationId xmlns:p14="http://schemas.microsoft.com/office/powerpoint/2010/main" val="2073078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FC9871-4485-B7E7-FB49-94B985AD69D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BBBE64A-F314-DF85-8025-EE8D1B41CB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6DF3E021-CD29-456C-0AC9-0D50E518D86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4C6B304-B649-9D6A-E2D5-A0D40E6363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5157155-DCC5-DF47-AB75-5F7D98DE4D3B}"/>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EDF1280-92A8-47DF-BAD4-6EFE88E63CF3}"/>
              </a:ext>
            </a:extLst>
          </p:cNvPr>
          <p:cNvSpPr>
            <a:spLocks noGrp="1"/>
          </p:cNvSpPr>
          <p:nvPr>
            <p:ph type="dt" sz="half" idx="10"/>
          </p:nvPr>
        </p:nvSpPr>
        <p:spPr/>
        <p:txBody>
          <a:bodyPr/>
          <a:lstStyle/>
          <a:p>
            <a:fld id="{11452BF2-670F-40BC-8CEF-7DF0FF7AD925}" type="datetimeFigureOut">
              <a:rPr kumimoji="1" lang="ja-JP" altLang="en-US" smtClean="0"/>
              <a:t>2026/6/15</a:t>
            </a:fld>
            <a:endParaRPr kumimoji="1" lang="ja-JP" altLang="en-US"/>
          </a:p>
        </p:txBody>
      </p:sp>
      <p:sp>
        <p:nvSpPr>
          <p:cNvPr id="8" name="フッター プレースホルダー 7">
            <a:extLst>
              <a:ext uri="{FF2B5EF4-FFF2-40B4-BE49-F238E27FC236}">
                <a16:creationId xmlns:a16="http://schemas.microsoft.com/office/drawing/2014/main" id="{08641873-3026-DBDB-5FD8-1E47F135881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307972B4-3758-C0DE-E4B8-73E918E75508}"/>
              </a:ext>
            </a:extLst>
          </p:cNvPr>
          <p:cNvSpPr>
            <a:spLocks noGrp="1"/>
          </p:cNvSpPr>
          <p:nvPr>
            <p:ph type="sldNum" sz="quarter" idx="12"/>
          </p:nvPr>
        </p:nvSpPr>
        <p:spPr/>
        <p:txBody>
          <a:bodyPr/>
          <a:lstStyle/>
          <a:p>
            <a:fld id="{AF8264BE-4F97-4474-BA10-9DE09B29F1E9}" type="slidenum">
              <a:rPr kumimoji="1" lang="ja-JP" altLang="en-US" smtClean="0"/>
              <a:t>‹#›</a:t>
            </a:fld>
            <a:endParaRPr kumimoji="1" lang="ja-JP" altLang="en-US"/>
          </a:p>
        </p:txBody>
      </p:sp>
    </p:spTree>
    <p:extLst>
      <p:ext uri="{BB962C8B-B14F-4D97-AF65-F5344CB8AC3E}">
        <p14:creationId xmlns:p14="http://schemas.microsoft.com/office/powerpoint/2010/main" val="4039231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F5877E-3BEB-7C09-61E6-9B94B3CE56CB}"/>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5AD1AF26-3EBC-1548-471F-13AFCD792447}"/>
              </a:ext>
            </a:extLst>
          </p:cNvPr>
          <p:cNvSpPr>
            <a:spLocks noGrp="1"/>
          </p:cNvSpPr>
          <p:nvPr>
            <p:ph type="dt" sz="half" idx="10"/>
          </p:nvPr>
        </p:nvSpPr>
        <p:spPr/>
        <p:txBody>
          <a:bodyPr/>
          <a:lstStyle/>
          <a:p>
            <a:fld id="{11452BF2-670F-40BC-8CEF-7DF0FF7AD925}" type="datetimeFigureOut">
              <a:rPr kumimoji="1" lang="ja-JP" altLang="en-US" smtClean="0"/>
              <a:t>2026/6/15</a:t>
            </a:fld>
            <a:endParaRPr kumimoji="1" lang="ja-JP" altLang="en-US"/>
          </a:p>
        </p:txBody>
      </p:sp>
      <p:sp>
        <p:nvSpPr>
          <p:cNvPr id="4" name="フッター プレースホルダー 3">
            <a:extLst>
              <a:ext uri="{FF2B5EF4-FFF2-40B4-BE49-F238E27FC236}">
                <a16:creationId xmlns:a16="http://schemas.microsoft.com/office/drawing/2014/main" id="{58FF6C7B-6279-FFA7-C10E-32159D803BD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E2884E92-11D9-6674-79C8-7252632510B5}"/>
              </a:ext>
            </a:extLst>
          </p:cNvPr>
          <p:cNvSpPr>
            <a:spLocks noGrp="1"/>
          </p:cNvSpPr>
          <p:nvPr>
            <p:ph type="sldNum" sz="quarter" idx="12"/>
          </p:nvPr>
        </p:nvSpPr>
        <p:spPr/>
        <p:txBody>
          <a:bodyPr/>
          <a:lstStyle/>
          <a:p>
            <a:fld id="{AF8264BE-4F97-4474-BA10-9DE09B29F1E9}" type="slidenum">
              <a:rPr kumimoji="1" lang="ja-JP" altLang="en-US" smtClean="0"/>
              <a:t>‹#›</a:t>
            </a:fld>
            <a:endParaRPr kumimoji="1" lang="ja-JP" altLang="en-US"/>
          </a:p>
        </p:txBody>
      </p:sp>
    </p:spTree>
    <p:extLst>
      <p:ext uri="{BB962C8B-B14F-4D97-AF65-F5344CB8AC3E}">
        <p14:creationId xmlns:p14="http://schemas.microsoft.com/office/powerpoint/2010/main" val="633372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5235B0D-9F67-5F65-CC66-A70EEF46E69E}"/>
              </a:ext>
            </a:extLst>
          </p:cNvPr>
          <p:cNvSpPr>
            <a:spLocks noGrp="1"/>
          </p:cNvSpPr>
          <p:nvPr>
            <p:ph type="dt" sz="half" idx="10"/>
          </p:nvPr>
        </p:nvSpPr>
        <p:spPr/>
        <p:txBody>
          <a:bodyPr/>
          <a:lstStyle/>
          <a:p>
            <a:fld id="{11452BF2-670F-40BC-8CEF-7DF0FF7AD925}" type="datetimeFigureOut">
              <a:rPr kumimoji="1" lang="ja-JP" altLang="en-US" smtClean="0"/>
              <a:t>2026/6/15</a:t>
            </a:fld>
            <a:endParaRPr kumimoji="1" lang="ja-JP" altLang="en-US"/>
          </a:p>
        </p:txBody>
      </p:sp>
      <p:sp>
        <p:nvSpPr>
          <p:cNvPr id="3" name="フッター プレースホルダー 2">
            <a:extLst>
              <a:ext uri="{FF2B5EF4-FFF2-40B4-BE49-F238E27FC236}">
                <a16:creationId xmlns:a16="http://schemas.microsoft.com/office/drawing/2014/main" id="{42641AA8-68B4-8699-C54A-D7180A2B5E4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0DBC2A6-83E1-00F8-A81C-F2B6E93B1FA2}"/>
              </a:ext>
            </a:extLst>
          </p:cNvPr>
          <p:cNvSpPr>
            <a:spLocks noGrp="1"/>
          </p:cNvSpPr>
          <p:nvPr>
            <p:ph type="sldNum" sz="quarter" idx="12"/>
          </p:nvPr>
        </p:nvSpPr>
        <p:spPr/>
        <p:txBody>
          <a:bodyPr/>
          <a:lstStyle/>
          <a:p>
            <a:fld id="{AF8264BE-4F97-4474-BA10-9DE09B29F1E9}" type="slidenum">
              <a:rPr kumimoji="1" lang="ja-JP" altLang="en-US" smtClean="0"/>
              <a:t>‹#›</a:t>
            </a:fld>
            <a:endParaRPr kumimoji="1" lang="ja-JP" altLang="en-US"/>
          </a:p>
        </p:txBody>
      </p:sp>
    </p:spTree>
    <p:extLst>
      <p:ext uri="{BB962C8B-B14F-4D97-AF65-F5344CB8AC3E}">
        <p14:creationId xmlns:p14="http://schemas.microsoft.com/office/powerpoint/2010/main" val="2847889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573E3D-FF35-1217-4D1A-73C493ED67C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8C0DCD7-2989-A52E-06C2-17C6A5E77B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DCB0E61-1BC5-3303-DC1E-98961085F1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5FA02E7-8F55-5155-0C34-C107ABBA9B0D}"/>
              </a:ext>
            </a:extLst>
          </p:cNvPr>
          <p:cNvSpPr>
            <a:spLocks noGrp="1"/>
          </p:cNvSpPr>
          <p:nvPr>
            <p:ph type="dt" sz="half" idx="10"/>
          </p:nvPr>
        </p:nvSpPr>
        <p:spPr/>
        <p:txBody>
          <a:bodyPr/>
          <a:lstStyle/>
          <a:p>
            <a:fld id="{11452BF2-670F-40BC-8CEF-7DF0FF7AD925}" type="datetimeFigureOut">
              <a:rPr kumimoji="1" lang="ja-JP" altLang="en-US" smtClean="0"/>
              <a:t>2026/6/15</a:t>
            </a:fld>
            <a:endParaRPr kumimoji="1" lang="ja-JP" altLang="en-US"/>
          </a:p>
        </p:txBody>
      </p:sp>
      <p:sp>
        <p:nvSpPr>
          <p:cNvPr id="6" name="フッター プレースホルダー 5">
            <a:extLst>
              <a:ext uri="{FF2B5EF4-FFF2-40B4-BE49-F238E27FC236}">
                <a16:creationId xmlns:a16="http://schemas.microsoft.com/office/drawing/2014/main" id="{CDC7E6FA-3B26-E946-D9E2-0F4A311CBE8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B78B6BD-39A3-B33D-90D8-0CEE793E9C7D}"/>
              </a:ext>
            </a:extLst>
          </p:cNvPr>
          <p:cNvSpPr>
            <a:spLocks noGrp="1"/>
          </p:cNvSpPr>
          <p:nvPr>
            <p:ph type="sldNum" sz="quarter" idx="12"/>
          </p:nvPr>
        </p:nvSpPr>
        <p:spPr/>
        <p:txBody>
          <a:bodyPr/>
          <a:lstStyle/>
          <a:p>
            <a:fld id="{AF8264BE-4F97-4474-BA10-9DE09B29F1E9}" type="slidenum">
              <a:rPr kumimoji="1" lang="ja-JP" altLang="en-US" smtClean="0"/>
              <a:t>‹#›</a:t>
            </a:fld>
            <a:endParaRPr kumimoji="1" lang="ja-JP" altLang="en-US"/>
          </a:p>
        </p:txBody>
      </p:sp>
    </p:spTree>
    <p:extLst>
      <p:ext uri="{BB962C8B-B14F-4D97-AF65-F5344CB8AC3E}">
        <p14:creationId xmlns:p14="http://schemas.microsoft.com/office/powerpoint/2010/main" val="11702673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B5F2EB-9F1A-1FD4-BC36-76E3BD942F1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7DB21A9-4DB9-C0D3-157D-E290651306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D52599BB-8CB8-DBB0-3731-B432CB9267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B25728A-BB68-4200-3F20-11667C415B53}"/>
              </a:ext>
            </a:extLst>
          </p:cNvPr>
          <p:cNvSpPr>
            <a:spLocks noGrp="1"/>
          </p:cNvSpPr>
          <p:nvPr>
            <p:ph type="dt" sz="half" idx="10"/>
          </p:nvPr>
        </p:nvSpPr>
        <p:spPr/>
        <p:txBody>
          <a:bodyPr/>
          <a:lstStyle/>
          <a:p>
            <a:fld id="{11452BF2-670F-40BC-8CEF-7DF0FF7AD925}" type="datetimeFigureOut">
              <a:rPr kumimoji="1" lang="ja-JP" altLang="en-US" smtClean="0"/>
              <a:t>2026/6/15</a:t>
            </a:fld>
            <a:endParaRPr kumimoji="1" lang="ja-JP" altLang="en-US"/>
          </a:p>
        </p:txBody>
      </p:sp>
      <p:sp>
        <p:nvSpPr>
          <p:cNvPr id="6" name="フッター プレースホルダー 5">
            <a:extLst>
              <a:ext uri="{FF2B5EF4-FFF2-40B4-BE49-F238E27FC236}">
                <a16:creationId xmlns:a16="http://schemas.microsoft.com/office/drawing/2014/main" id="{A1AB303F-4936-0326-CACE-2E39E54123D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19821EF-18D8-FC96-5D8D-1D06CB3E0CE6}"/>
              </a:ext>
            </a:extLst>
          </p:cNvPr>
          <p:cNvSpPr>
            <a:spLocks noGrp="1"/>
          </p:cNvSpPr>
          <p:nvPr>
            <p:ph type="sldNum" sz="quarter" idx="12"/>
          </p:nvPr>
        </p:nvSpPr>
        <p:spPr/>
        <p:txBody>
          <a:bodyPr/>
          <a:lstStyle/>
          <a:p>
            <a:fld id="{AF8264BE-4F97-4474-BA10-9DE09B29F1E9}" type="slidenum">
              <a:rPr kumimoji="1" lang="ja-JP" altLang="en-US" smtClean="0"/>
              <a:t>‹#›</a:t>
            </a:fld>
            <a:endParaRPr kumimoji="1" lang="ja-JP" altLang="en-US"/>
          </a:p>
        </p:txBody>
      </p:sp>
    </p:spTree>
    <p:extLst>
      <p:ext uri="{BB962C8B-B14F-4D97-AF65-F5344CB8AC3E}">
        <p14:creationId xmlns:p14="http://schemas.microsoft.com/office/powerpoint/2010/main" val="150284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3CD56C-38DF-6588-B7B8-F563FF5D7B1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1ED6A96-2719-603C-9CB5-DA4ABEC5B68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2E74A3E-6BFB-4C14-D758-334814FB255C}"/>
              </a:ext>
            </a:extLst>
          </p:cNvPr>
          <p:cNvSpPr>
            <a:spLocks noGrp="1"/>
          </p:cNvSpPr>
          <p:nvPr>
            <p:ph type="dt" sz="half" idx="10"/>
          </p:nvPr>
        </p:nvSpPr>
        <p:spPr/>
        <p:txBody>
          <a:bodyPr/>
          <a:lstStyle/>
          <a:p>
            <a:fld id="{11452BF2-670F-40BC-8CEF-7DF0FF7AD925}" type="datetimeFigureOut">
              <a:rPr kumimoji="1" lang="ja-JP" altLang="en-US" smtClean="0"/>
              <a:t>2026/6/15</a:t>
            </a:fld>
            <a:endParaRPr kumimoji="1" lang="ja-JP" altLang="en-US"/>
          </a:p>
        </p:txBody>
      </p:sp>
      <p:sp>
        <p:nvSpPr>
          <p:cNvPr id="5" name="フッター プレースホルダー 4">
            <a:extLst>
              <a:ext uri="{FF2B5EF4-FFF2-40B4-BE49-F238E27FC236}">
                <a16:creationId xmlns:a16="http://schemas.microsoft.com/office/drawing/2014/main" id="{7210DA3B-CC70-7D6A-FC1B-3DDCB2B28B5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7883FEE-C8D5-9CA5-959B-2C2C94D4A612}"/>
              </a:ext>
            </a:extLst>
          </p:cNvPr>
          <p:cNvSpPr>
            <a:spLocks noGrp="1"/>
          </p:cNvSpPr>
          <p:nvPr>
            <p:ph type="sldNum" sz="quarter" idx="12"/>
          </p:nvPr>
        </p:nvSpPr>
        <p:spPr/>
        <p:txBody>
          <a:bodyPr/>
          <a:lstStyle/>
          <a:p>
            <a:fld id="{AF8264BE-4F97-4474-BA10-9DE09B29F1E9}" type="slidenum">
              <a:rPr kumimoji="1" lang="ja-JP" altLang="en-US" smtClean="0"/>
              <a:t>‹#›</a:t>
            </a:fld>
            <a:endParaRPr kumimoji="1" lang="ja-JP" altLang="en-US"/>
          </a:p>
        </p:txBody>
      </p:sp>
    </p:spTree>
    <p:extLst>
      <p:ext uri="{BB962C8B-B14F-4D97-AF65-F5344CB8AC3E}">
        <p14:creationId xmlns:p14="http://schemas.microsoft.com/office/powerpoint/2010/main" val="2092437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A679CD2-E229-BE65-533B-527E82D923A1}"/>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1AC32C0-81DF-3F83-FFC8-42AA12D59D0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2EB3D7B-39D6-836E-12E0-27DF50BF8DE6}"/>
              </a:ext>
            </a:extLst>
          </p:cNvPr>
          <p:cNvSpPr>
            <a:spLocks noGrp="1"/>
          </p:cNvSpPr>
          <p:nvPr>
            <p:ph type="dt" sz="half" idx="10"/>
          </p:nvPr>
        </p:nvSpPr>
        <p:spPr/>
        <p:txBody>
          <a:bodyPr/>
          <a:lstStyle/>
          <a:p>
            <a:fld id="{11452BF2-670F-40BC-8CEF-7DF0FF7AD925}" type="datetimeFigureOut">
              <a:rPr kumimoji="1" lang="ja-JP" altLang="en-US" smtClean="0"/>
              <a:t>2026/6/15</a:t>
            </a:fld>
            <a:endParaRPr kumimoji="1" lang="ja-JP" altLang="en-US"/>
          </a:p>
        </p:txBody>
      </p:sp>
      <p:sp>
        <p:nvSpPr>
          <p:cNvPr id="5" name="フッター プレースホルダー 4">
            <a:extLst>
              <a:ext uri="{FF2B5EF4-FFF2-40B4-BE49-F238E27FC236}">
                <a16:creationId xmlns:a16="http://schemas.microsoft.com/office/drawing/2014/main" id="{FACDD10E-1090-762C-6C47-6280F30146F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F2B5BB-65B4-F688-8A04-2638DFAA2EA1}"/>
              </a:ext>
            </a:extLst>
          </p:cNvPr>
          <p:cNvSpPr>
            <a:spLocks noGrp="1"/>
          </p:cNvSpPr>
          <p:nvPr>
            <p:ph type="sldNum" sz="quarter" idx="12"/>
          </p:nvPr>
        </p:nvSpPr>
        <p:spPr/>
        <p:txBody>
          <a:bodyPr/>
          <a:lstStyle/>
          <a:p>
            <a:fld id="{AF8264BE-4F97-4474-BA10-9DE09B29F1E9}" type="slidenum">
              <a:rPr kumimoji="1" lang="ja-JP" altLang="en-US" smtClean="0"/>
              <a:t>‹#›</a:t>
            </a:fld>
            <a:endParaRPr kumimoji="1" lang="ja-JP" altLang="en-US"/>
          </a:p>
        </p:txBody>
      </p:sp>
    </p:spTree>
    <p:extLst>
      <p:ext uri="{BB962C8B-B14F-4D97-AF65-F5344CB8AC3E}">
        <p14:creationId xmlns:p14="http://schemas.microsoft.com/office/powerpoint/2010/main" val="1774586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9AD6A204-C1BD-7280-68DE-1C2666F196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B11758E-C769-D5CD-3F98-15ADD59212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BD6C7F5-714A-170E-FDE5-A251752879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1452BF2-670F-40BC-8CEF-7DF0FF7AD925}" type="datetimeFigureOut">
              <a:rPr kumimoji="1" lang="ja-JP" altLang="en-US" smtClean="0"/>
              <a:t>2026/6/15</a:t>
            </a:fld>
            <a:endParaRPr kumimoji="1" lang="ja-JP" altLang="en-US"/>
          </a:p>
        </p:txBody>
      </p:sp>
      <p:sp>
        <p:nvSpPr>
          <p:cNvPr id="5" name="フッター プレースホルダー 4">
            <a:extLst>
              <a:ext uri="{FF2B5EF4-FFF2-40B4-BE49-F238E27FC236}">
                <a16:creationId xmlns:a16="http://schemas.microsoft.com/office/drawing/2014/main" id="{5FB5F6C3-AF20-DEE7-39ED-32C4329F5C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5BF0203-A1B7-7475-0343-0588066C09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F8264BE-4F97-4474-BA10-9DE09B29F1E9}" type="slidenum">
              <a:rPr kumimoji="1" lang="ja-JP" altLang="en-US" smtClean="0"/>
              <a:t>‹#›</a:t>
            </a:fld>
            <a:endParaRPr kumimoji="1" lang="ja-JP" altLang="en-US"/>
          </a:p>
        </p:txBody>
      </p:sp>
    </p:spTree>
    <p:extLst>
      <p:ext uri="{BB962C8B-B14F-4D97-AF65-F5344CB8AC3E}">
        <p14:creationId xmlns:p14="http://schemas.microsoft.com/office/powerpoint/2010/main" val="15196971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7B3AD1A1-EF12-6094-C27E-25CF604D491E}"/>
              </a:ext>
            </a:extLst>
          </p:cNvPr>
          <p:cNvSpPr/>
          <p:nvPr/>
        </p:nvSpPr>
        <p:spPr>
          <a:xfrm>
            <a:off x="3583459" y="494270"/>
            <a:ext cx="4732638" cy="864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ja-JP" sz="1200" dirty="0"/>
              <a:t>台所用中性洗剤カテゴリの定番ブランドのうち、売上の高い</a:t>
            </a:r>
            <a:r>
              <a:rPr lang="en-US" altLang="ja-JP" sz="1200" dirty="0"/>
              <a:t>ABC</a:t>
            </a:r>
            <a:r>
              <a:rPr lang="ja-JP" altLang="ja-JP" sz="1200" dirty="0"/>
              <a:t>ブランドのみにブランドラインナップを絞るべきである。</a:t>
            </a:r>
          </a:p>
        </p:txBody>
      </p:sp>
      <p:grpSp>
        <p:nvGrpSpPr>
          <p:cNvPr id="60" name="グループ化 59">
            <a:extLst>
              <a:ext uri="{FF2B5EF4-FFF2-40B4-BE49-F238E27FC236}">
                <a16:creationId xmlns:a16="http://schemas.microsoft.com/office/drawing/2014/main" id="{5CC7CB17-1F97-D182-7396-B539CB8E5292}"/>
              </a:ext>
            </a:extLst>
          </p:cNvPr>
          <p:cNvGrpSpPr/>
          <p:nvPr/>
        </p:nvGrpSpPr>
        <p:grpSpPr>
          <a:xfrm>
            <a:off x="908438" y="3002692"/>
            <a:ext cx="10487771" cy="3546389"/>
            <a:chOff x="908438" y="3002692"/>
            <a:chExt cx="10487771" cy="3546389"/>
          </a:xfrm>
        </p:grpSpPr>
        <p:sp>
          <p:nvSpPr>
            <p:cNvPr id="8" name="テキスト ボックス 7">
              <a:extLst>
                <a:ext uri="{FF2B5EF4-FFF2-40B4-BE49-F238E27FC236}">
                  <a16:creationId xmlns:a16="http://schemas.microsoft.com/office/drawing/2014/main" id="{A3B75D56-9EC3-FBC8-FAB0-E1153691E369}"/>
                </a:ext>
              </a:extLst>
            </p:cNvPr>
            <p:cNvSpPr txBox="1"/>
            <p:nvPr/>
          </p:nvSpPr>
          <p:spPr>
            <a:xfrm>
              <a:off x="908438" y="3002692"/>
              <a:ext cx="846642" cy="3534032"/>
            </a:xfrm>
            <a:prstGeom prst="rect">
              <a:avLst/>
            </a:prstGeom>
            <a:noFill/>
            <a:ln>
              <a:solidFill>
                <a:schemeClr val="accent1"/>
              </a:solidFill>
            </a:ln>
          </p:spPr>
          <p:txBody>
            <a:bodyPr vert="eaVert" wrap="square" rtlCol="0" anchor="ctr">
              <a:spAutoFit/>
            </a:bodyPr>
            <a:lstStyle/>
            <a:p>
              <a:r>
                <a:rPr kumimoji="1" lang="en-US" altLang="ja-JP" sz="1400" dirty="0"/>
                <a:t>(5)</a:t>
              </a:r>
              <a:r>
                <a:rPr lang="ja-JP" altLang="ja-JP" sz="1400" dirty="0"/>
                <a:t>なぜならば、台所用中性洗剤カテゴリは他の家庭用品と比較して利益率が低い状況にある。</a:t>
              </a:r>
              <a:endParaRPr kumimoji="1" lang="ja-JP" altLang="en-US" sz="1400" dirty="0"/>
            </a:p>
          </p:txBody>
        </p:sp>
        <p:sp>
          <p:nvSpPr>
            <p:cNvPr id="9" name="テキスト ボックス 8">
              <a:extLst>
                <a:ext uri="{FF2B5EF4-FFF2-40B4-BE49-F238E27FC236}">
                  <a16:creationId xmlns:a16="http://schemas.microsoft.com/office/drawing/2014/main" id="{1C2F44C0-C256-72D8-5755-49CB3C8B4F34}"/>
                </a:ext>
              </a:extLst>
            </p:cNvPr>
            <p:cNvSpPr txBox="1"/>
            <p:nvPr/>
          </p:nvSpPr>
          <p:spPr>
            <a:xfrm>
              <a:off x="2475975" y="3002692"/>
              <a:ext cx="846642" cy="3534032"/>
            </a:xfrm>
            <a:prstGeom prst="rect">
              <a:avLst/>
            </a:prstGeom>
            <a:noFill/>
            <a:ln>
              <a:solidFill>
                <a:schemeClr val="accent1"/>
              </a:solidFill>
            </a:ln>
          </p:spPr>
          <p:txBody>
            <a:bodyPr vert="eaVert" wrap="square" rtlCol="0" anchor="ctr">
              <a:spAutoFit/>
            </a:bodyPr>
            <a:lstStyle/>
            <a:p>
              <a:r>
                <a:rPr kumimoji="1" lang="en-US" altLang="ja-JP" sz="1400" dirty="0"/>
                <a:t>(7)</a:t>
              </a:r>
              <a:r>
                <a:rPr lang="ja-JP" altLang="ja-JP" sz="1400" dirty="0"/>
                <a:t>なぜならば、台所用中性洗剤カテゴリは値引き前の利益率を高く設定するべき状況にある。</a:t>
              </a:r>
              <a:endParaRPr kumimoji="1" lang="ja-JP" altLang="en-US" sz="1400" dirty="0"/>
            </a:p>
          </p:txBody>
        </p:sp>
        <p:sp>
          <p:nvSpPr>
            <p:cNvPr id="10" name="テキスト ボックス 9">
              <a:extLst>
                <a:ext uri="{FF2B5EF4-FFF2-40B4-BE49-F238E27FC236}">
                  <a16:creationId xmlns:a16="http://schemas.microsoft.com/office/drawing/2014/main" id="{C832D4BA-69C9-E087-8D30-B7A9B4D054AE}"/>
                </a:ext>
              </a:extLst>
            </p:cNvPr>
            <p:cNvSpPr txBox="1"/>
            <p:nvPr/>
          </p:nvSpPr>
          <p:spPr>
            <a:xfrm>
              <a:off x="5648785" y="3015049"/>
              <a:ext cx="846642" cy="3534032"/>
            </a:xfrm>
            <a:prstGeom prst="rect">
              <a:avLst/>
            </a:prstGeom>
            <a:noFill/>
            <a:ln>
              <a:solidFill>
                <a:schemeClr val="accent1"/>
              </a:solidFill>
            </a:ln>
          </p:spPr>
          <p:txBody>
            <a:bodyPr vert="eaVert" wrap="square" rtlCol="0" anchor="ctr">
              <a:spAutoFit/>
            </a:bodyPr>
            <a:lstStyle/>
            <a:p>
              <a:r>
                <a:rPr kumimoji="1" lang="en-US" altLang="ja-JP" sz="1400" dirty="0"/>
                <a:t>(2)</a:t>
              </a:r>
              <a:r>
                <a:rPr lang="ja-JP" altLang="ja-JP" sz="1400" dirty="0"/>
                <a:t>なぜならば、台所用中性洗剤カテゴリの定番ブランドのアピールポイントは同じである。</a:t>
              </a:r>
              <a:endParaRPr kumimoji="1" lang="ja-JP" altLang="en-US" sz="1400" dirty="0"/>
            </a:p>
          </p:txBody>
        </p:sp>
        <p:sp>
          <p:nvSpPr>
            <p:cNvPr id="11" name="テキスト ボックス 10">
              <a:extLst>
                <a:ext uri="{FF2B5EF4-FFF2-40B4-BE49-F238E27FC236}">
                  <a16:creationId xmlns:a16="http://schemas.microsoft.com/office/drawing/2014/main" id="{BA6E70B7-FCFD-D0AE-30CB-FDB79D0EB097}"/>
                </a:ext>
              </a:extLst>
            </p:cNvPr>
            <p:cNvSpPr txBox="1"/>
            <p:nvPr/>
          </p:nvSpPr>
          <p:spPr>
            <a:xfrm>
              <a:off x="8633474" y="3002692"/>
              <a:ext cx="877933" cy="3534032"/>
            </a:xfrm>
            <a:prstGeom prst="rect">
              <a:avLst/>
            </a:prstGeom>
            <a:noFill/>
            <a:ln>
              <a:solidFill>
                <a:schemeClr val="accent1"/>
              </a:solidFill>
            </a:ln>
          </p:spPr>
          <p:txBody>
            <a:bodyPr vert="eaVert" wrap="square" rtlCol="0" anchor="ctr">
              <a:spAutoFit/>
            </a:bodyPr>
            <a:lstStyle/>
            <a:p>
              <a:r>
                <a:rPr kumimoji="1" lang="en-US" altLang="ja-JP" sz="1400" dirty="0"/>
                <a:t>(3)</a:t>
              </a:r>
              <a:r>
                <a:rPr lang="ja-JP" altLang="ja-JP" sz="1400" dirty="0"/>
                <a:t>なぜならば、台所用中性洗剤カテゴリの定番である</a:t>
              </a:r>
              <a:r>
                <a:rPr lang="en-US" altLang="ja-JP" sz="1400" dirty="0"/>
                <a:t>5</a:t>
              </a:r>
              <a:r>
                <a:rPr lang="ja-JP" altLang="ja-JP" sz="1400" dirty="0"/>
                <a:t>ブランドのうち、</a:t>
              </a:r>
              <a:r>
                <a:rPr lang="en-US" altLang="ja-JP" sz="1400" dirty="0"/>
                <a:t>ABC</a:t>
              </a:r>
              <a:r>
                <a:rPr lang="ja-JP" altLang="ja-JP" sz="1400" dirty="0"/>
                <a:t>ブランドでカテゴリ売上げの</a:t>
              </a:r>
              <a:r>
                <a:rPr lang="en-US" altLang="ja-JP" sz="1400" dirty="0"/>
                <a:t>82%</a:t>
              </a:r>
              <a:r>
                <a:rPr lang="ja-JP" altLang="ja-JP" sz="1400" dirty="0"/>
                <a:t>を占める。</a:t>
              </a:r>
              <a:endParaRPr kumimoji="1" lang="ja-JP" altLang="en-US" sz="1400" dirty="0"/>
            </a:p>
          </p:txBody>
        </p:sp>
        <p:sp>
          <p:nvSpPr>
            <p:cNvPr id="13" name="テキスト ボックス 12">
              <a:extLst>
                <a:ext uri="{FF2B5EF4-FFF2-40B4-BE49-F238E27FC236}">
                  <a16:creationId xmlns:a16="http://schemas.microsoft.com/office/drawing/2014/main" id="{CAC27E9C-F022-9ADC-1A53-DEF7AEBC29A5}"/>
                </a:ext>
              </a:extLst>
            </p:cNvPr>
            <p:cNvSpPr txBox="1"/>
            <p:nvPr/>
          </p:nvSpPr>
          <p:spPr>
            <a:xfrm>
              <a:off x="4188970" y="3002692"/>
              <a:ext cx="631198" cy="3534032"/>
            </a:xfrm>
            <a:prstGeom prst="rect">
              <a:avLst/>
            </a:prstGeom>
            <a:noFill/>
            <a:ln>
              <a:solidFill>
                <a:schemeClr val="accent1"/>
              </a:solidFill>
            </a:ln>
          </p:spPr>
          <p:txBody>
            <a:bodyPr vert="eaVert" wrap="square" rtlCol="0" anchor="ctr">
              <a:spAutoFit/>
            </a:bodyPr>
            <a:lstStyle/>
            <a:p>
              <a:r>
                <a:rPr kumimoji="1" lang="en-US" altLang="ja-JP" sz="1400" dirty="0"/>
                <a:t>(1)</a:t>
              </a:r>
              <a:r>
                <a:rPr lang="ja-JP" altLang="ja-JP" sz="1400" dirty="0"/>
                <a:t>なぜならば、台所用中性洗剤カテゴリの定番ブランドの価格帯は同じである。</a:t>
              </a:r>
              <a:endParaRPr kumimoji="1" lang="ja-JP" altLang="en-US" sz="1400" dirty="0"/>
            </a:p>
          </p:txBody>
        </p:sp>
        <p:sp>
          <p:nvSpPr>
            <p:cNvPr id="14" name="テキスト ボックス 13">
              <a:extLst>
                <a:ext uri="{FF2B5EF4-FFF2-40B4-BE49-F238E27FC236}">
                  <a16:creationId xmlns:a16="http://schemas.microsoft.com/office/drawing/2014/main" id="{CF3141AF-58A7-C1B6-4EA7-FE094326FF18}"/>
                </a:ext>
              </a:extLst>
            </p:cNvPr>
            <p:cNvSpPr txBox="1"/>
            <p:nvPr/>
          </p:nvSpPr>
          <p:spPr>
            <a:xfrm>
              <a:off x="7324044" y="3002692"/>
              <a:ext cx="631198" cy="3534032"/>
            </a:xfrm>
            <a:prstGeom prst="rect">
              <a:avLst/>
            </a:prstGeom>
            <a:noFill/>
            <a:ln>
              <a:solidFill>
                <a:schemeClr val="accent1"/>
              </a:solidFill>
            </a:ln>
          </p:spPr>
          <p:txBody>
            <a:bodyPr vert="eaVert" wrap="square" rtlCol="0" anchor="ctr">
              <a:spAutoFit/>
            </a:bodyPr>
            <a:lstStyle/>
            <a:p>
              <a:r>
                <a:rPr kumimoji="1" lang="en-US" altLang="ja-JP" sz="1400" dirty="0"/>
                <a:t>(4)</a:t>
              </a:r>
              <a:r>
                <a:rPr lang="ja-JP" altLang="ja-JP" sz="1400" dirty="0"/>
                <a:t>なぜならば、台所用中性洗剤カテゴリの定番ブランドのサイズは同じである。</a:t>
              </a:r>
              <a:endParaRPr kumimoji="1" lang="ja-JP" altLang="en-US" sz="1400" dirty="0"/>
            </a:p>
          </p:txBody>
        </p:sp>
        <p:sp>
          <p:nvSpPr>
            <p:cNvPr id="16" name="テキスト ボックス 15">
              <a:extLst>
                <a:ext uri="{FF2B5EF4-FFF2-40B4-BE49-F238E27FC236}">
                  <a16:creationId xmlns:a16="http://schemas.microsoft.com/office/drawing/2014/main" id="{C0089BB2-3F14-9AE4-08B5-3A34D5AF8314}"/>
                </a:ext>
              </a:extLst>
            </p:cNvPr>
            <p:cNvSpPr txBox="1"/>
            <p:nvPr/>
          </p:nvSpPr>
          <p:spPr>
            <a:xfrm>
              <a:off x="10518276" y="3002692"/>
              <a:ext cx="877933" cy="3534032"/>
            </a:xfrm>
            <a:prstGeom prst="rect">
              <a:avLst/>
            </a:prstGeom>
            <a:noFill/>
            <a:ln>
              <a:solidFill>
                <a:schemeClr val="accent1"/>
              </a:solidFill>
            </a:ln>
          </p:spPr>
          <p:txBody>
            <a:bodyPr vert="eaVert" wrap="square" rtlCol="0" anchor="ctr">
              <a:spAutoFit/>
            </a:bodyPr>
            <a:lstStyle/>
            <a:p>
              <a:r>
                <a:rPr kumimoji="1" lang="en-US" altLang="ja-JP" sz="1400" dirty="0"/>
                <a:t>(6)</a:t>
              </a:r>
              <a:r>
                <a:rPr lang="ja-JP" altLang="ja-JP" sz="1400" dirty="0"/>
                <a:t>なぜならば、台所用中性洗剤カテゴリの定番である</a:t>
              </a:r>
              <a:r>
                <a:rPr lang="en-US" altLang="ja-JP" sz="1400" dirty="0"/>
                <a:t>5</a:t>
              </a:r>
              <a:r>
                <a:rPr lang="ja-JP" altLang="ja-JP" sz="1400" dirty="0"/>
                <a:t>ブランドのうち、</a:t>
              </a:r>
              <a:r>
                <a:rPr lang="en-US" altLang="ja-JP" sz="1400" dirty="0"/>
                <a:t>ABC</a:t>
              </a:r>
              <a:r>
                <a:rPr lang="ja-JP" altLang="ja-JP" sz="1400" dirty="0"/>
                <a:t>ブランドでカテゴリ粗利益の</a:t>
              </a:r>
              <a:r>
                <a:rPr lang="en-US" altLang="ja-JP" sz="1400" dirty="0"/>
                <a:t>85%</a:t>
              </a:r>
              <a:r>
                <a:rPr lang="ja-JP" altLang="ja-JP" sz="1400" dirty="0"/>
                <a:t>を占める。</a:t>
              </a:r>
              <a:endParaRPr kumimoji="1" lang="ja-JP" altLang="en-US" sz="1400" dirty="0"/>
            </a:p>
          </p:txBody>
        </p:sp>
      </p:grpSp>
      <p:grpSp>
        <p:nvGrpSpPr>
          <p:cNvPr id="68" name="グループ化 67">
            <a:extLst>
              <a:ext uri="{FF2B5EF4-FFF2-40B4-BE49-F238E27FC236}">
                <a16:creationId xmlns:a16="http://schemas.microsoft.com/office/drawing/2014/main" id="{DE4304C9-73F2-8BD6-05C8-029C96844416}"/>
              </a:ext>
            </a:extLst>
          </p:cNvPr>
          <p:cNvGrpSpPr/>
          <p:nvPr/>
        </p:nvGrpSpPr>
        <p:grpSpPr>
          <a:xfrm>
            <a:off x="279550" y="1748481"/>
            <a:ext cx="11592248" cy="864973"/>
            <a:chOff x="279550" y="1637269"/>
            <a:chExt cx="11592248" cy="864973"/>
          </a:xfrm>
        </p:grpSpPr>
        <p:sp>
          <p:nvSpPr>
            <p:cNvPr id="5" name="正方形/長方形 4">
              <a:extLst>
                <a:ext uri="{FF2B5EF4-FFF2-40B4-BE49-F238E27FC236}">
                  <a16:creationId xmlns:a16="http://schemas.microsoft.com/office/drawing/2014/main" id="{1ACAC3AA-D7C8-4388-9035-3BAD7825FC46}"/>
                </a:ext>
              </a:extLst>
            </p:cNvPr>
            <p:cNvSpPr/>
            <p:nvPr/>
          </p:nvSpPr>
          <p:spPr>
            <a:xfrm>
              <a:off x="4297824" y="1637269"/>
              <a:ext cx="3555701" cy="864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ja-JP" altLang="ja-JP" sz="1200" dirty="0"/>
                <a:t>提案の理由として、台所用中性洗剤カテゴリの定番ブランドラインナップの</a:t>
              </a:r>
              <a:r>
                <a:rPr lang="ja-JP" altLang="en-US" sz="1200" dirty="0"/>
                <a:t>削減</a:t>
              </a:r>
              <a:r>
                <a:rPr lang="ja-JP" altLang="ja-JP" sz="1200" dirty="0"/>
                <a:t>が求められている点が挙げられる。</a:t>
              </a:r>
            </a:p>
          </p:txBody>
        </p:sp>
        <p:sp>
          <p:nvSpPr>
            <p:cNvPr id="6" name="正方形/長方形 5">
              <a:extLst>
                <a:ext uri="{FF2B5EF4-FFF2-40B4-BE49-F238E27FC236}">
                  <a16:creationId xmlns:a16="http://schemas.microsoft.com/office/drawing/2014/main" id="{70234D77-3A26-7A76-878F-5C9556E30E87}"/>
                </a:ext>
              </a:extLst>
            </p:cNvPr>
            <p:cNvSpPr/>
            <p:nvPr/>
          </p:nvSpPr>
          <p:spPr>
            <a:xfrm>
              <a:off x="279550" y="1637269"/>
              <a:ext cx="3555701" cy="864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ja-JP" sz="1200" dirty="0"/>
                <a:t>提案の理由として、台所用中性洗剤カテゴリの利益率改善が求められている点が挙げられる。</a:t>
              </a:r>
            </a:p>
          </p:txBody>
        </p:sp>
        <p:sp>
          <p:nvSpPr>
            <p:cNvPr id="7" name="正方形/長方形 6">
              <a:extLst>
                <a:ext uri="{FF2B5EF4-FFF2-40B4-BE49-F238E27FC236}">
                  <a16:creationId xmlns:a16="http://schemas.microsoft.com/office/drawing/2014/main" id="{18C17622-CB04-B42D-7844-E25BE3A64D07}"/>
                </a:ext>
              </a:extLst>
            </p:cNvPr>
            <p:cNvSpPr/>
            <p:nvPr/>
          </p:nvSpPr>
          <p:spPr>
            <a:xfrm>
              <a:off x="8316097" y="1637269"/>
              <a:ext cx="3555701" cy="864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ja-JP" altLang="ja-JP" sz="1200" dirty="0"/>
                <a:t>提案の理由として、台所用中性洗剤カテゴリの中で、</a:t>
              </a:r>
              <a:r>
                <a:rPr lang="en-US" altLang="ja-JP" sz="1200" dirty="0"/>
                <a:t>ABC</a:t>
              </a:r>
              <a:r>
                <a:rPr lang="ja-JP" altLang="ja-JP" sz="1200" dirty="0"/>
                <a:t>ブランドはこのまま定番ブランドとしての販売継続が求められている点が挙げられる。</a:t>
              </a:r>
            </a:p>
          </p:txBody>
        </p:sp>
      </p:grpSp>
      <p:cxnSp>
        <p:nvCxnSpPr>
          <p:cNvPr id="25" name="コネクタ: カギ線 24">
            <a:extLst>
              <a:ext uri="{FF2B5EF4-FFF2-40B4-BE49-F238E27FC236}">
                <a16:creationId xmlns:a16="http://schemas.microsoft.com/office/drawing/2014/main" id="{877F3026-2A23-CD63-61C9-F9210431F3E1}"/>
              </a:ext>
            </a:extLst>
          </p:cNvPr>
          <p:cNvCxnSpPr>
            <a:cxnSpLocks/>
            <a:stCxn id="6" idx="2"/>
            <a:endCxn id="8" idx="0"/>
          </p:cNvCxnSpPr>
          <p:nvPr/>
        </p:nvCxnSpPr>
        <p:spPr>
          <a:xfrm rot="5400000">
            <a:off x="1499961" y="2445252"/>
            <a:ext cx="389238" cy="725642"/>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9" name="コネクタ: カギ線 28">
            <a:extLst>
              <a:ext uri="{FF2B5EF4-FFF2-40B4-BE49-F238E27FC236}">
                <a16:creationId xmlns:a16="http://schemas.microsoft.com/office/drawing/2014/main" id="{E062E840-AB67-87B9-1769-F7CF7176A9EC}"/>
              </a:ext>
            </a:extLst>
          </p:cNvPr>
          <p:cNvCxnSpPr>
            <a:cxnSpLocks/>
            <a:stCxn id="6" idx="2"/>
            <a:endCxn id="9" idx="0"/>
          </p:cNvCxnSpPr>
          <p:nvPr/>
        </p:nvCxnSpPr>
        <p:spPr>
          <a:xfrm rot="16200000" flipH="1">
            <a:off x="2283729" y="2387125"/>
            <a:ext cx="389238" cy="841895"/>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31" name="コネクタ: カギ線 30">
            <a:extLst>
              <a:ext uri="{FF2B5EF4-FFF2-40B4-BE49-F238E27FC236}">
                <a16:creationId xmlns:a16="http://schemas.microsoft.com/office/drawing/2014/main" id="{186539EC-3E14-AA46-A3FE-E92723ECC5F4}"/>
              </a:ext>
            </a:extLst>
          </p:cNvPr>
          <p:cNvCxnSpPr>
            <a:cxnSpLocks/>
            <a:stCxn id="5" idx="2"/>
            <a:endCxn id="13" idx="0"/>
          </p:cNvCxnSpPr>
          <p:nvPr/>
        </p:nvCxnSpPr>
        <p:spPr>
          <a:xfrm rot="5400000">
            <a:off x="5095503" y="2022520"/>
            <a:ext cx="389238" cy="1571106"/>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33" name="コネクタ: カギ線 32">
            <a:extLst>
              <a:ext uri="{FF2B5EF4-FFF2-40B4-BE49-F238E27FC236}">
                <a16:creationId xmlns:a16="http://schemas.microsoft.com/office/drawing/2014/main" id="{A2969410-DEEF-B631-1BF3-71EADA99DA06}"/>
              </a:ext>
            </a:extLst>
          </p:cNvPr>
          <p:cNvCxnSpPr>
            <a:stCxn id="5" idx="2"/>
            <a:endCxn id="10" idx="0"/>
          </p:cNvCxnSpPr>
          <p:nvPr/>
        </p:nvCxnSpPr>
        <p:spPr>
          <a:xfrm rot="5400000">
            <a:off x="5873094" y="2812467"/>
            <a:ext cx="401595" cy="3569"/>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35" name="コネクタ: カギ線 34">
            <a:extLst>
              <a:ext uri="{FF2B5EF4-FFF2-40B4-BE49-F238E27FC236}">
                <a16:creationId xmlns:a16="http://schemas.microsoft.com/office/drawing/2014/main" id="{F5491644-40A3-2C3B-9511-7B4C74ABE3D7}"/>
              </a:ext>
            </a:extLst>
          </p:cNvPr>
          <p:cNvCxnSpPr>
            <a:cxnSpLocks/>
            <a:stCxn id="5" idx="2"/>
            <a:endCxn id="14" idx="0"/>
          </p:cNvCxnSpPr>
          <p:nvPr/>
        </p:nvCxnSpPr>
        <p:spPr>
          <a:xfrm rot="16200000" flipH="1">
            <a:off x="6663040" y="2026089"/>
            <a:ext cx="389238" cy="1563968"/>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37" name="コネクタ: カギ線 36">
            <a:extLst>
              <a:ext uri="{FF2B5EF4-FFF2-40B4-BE49-F238E27FC236}">
                <a16:creationId xmlns:a16="http://schemas.microsoft.com/office/drawing/2014/main" id="{4C4C662D-7047-612A-FAD4-332B5898BCCD}"/>
              </a:ext>
            </a:extLst>
          </p:cNvPr>
          <p:cNvCxnSpPr>
            <a:cxnSpLocks/>
            <a:stCxn id="7" idx="2"/>
            <a:endCxn id="11" idx="0"/>
          </p:cNvCxnSpPr>
          <p:nvPr/>
        </p:nvCxnSpPr>
        <p:spPr>
          <a:xfrm rot="5400000">
            <a:off x="9388576" y="2297320"/>
            <a:ext cx="389238" cy="1021507"/>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39" name="コネクタ: カギ線 38">
            <a:extLst>
              <a:ext uri="{FF2B5EF4-FFF2-40B4-BE49-F238E27FC236}">
                <a16:creationId xmlns:a16="http://schemas.microsoft.com/office/drawing/2014/main" id="{13093F66-5010-94F4-10BD-0BC660F18DC2}"/>
              </a:ext>
            </a:extLst>
          </p:cNvPr>
          <p:cNvCxnSpPr>
            <a:cxnSpLocks/>
            <a:stCxn id="7" idx="2"/>
            <a:endCxn id="16" idx="0"/>
          </p:cNvCxnSpPr>
          <p:nvPr/>
        </p:nvCxnSpPr>
        <p:spPr>
          <a:xfrm rot="16200000" flipH="1">
            <a:off x="10330976" y="2376425"/>
            <a:ext cx="389238" cy="863295"/>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51" name="コネクタ: カギ線 50">
            <a:extLst>
              <a:ext uri="{FF2B5EF4-FFF2-40B4-BE49-F238E27FC236}">
                <a16:creationId xmlns:a16="http://schemas.microsoft.com/office/drawing/2014/main" id="{0CEC18BA-94F3-F6A7-3014-3675529AF0F7}"/>
              </a:ext>
            </a:extLst>
          </p:cNvPr>
          <p:cNvCxnSpPr>
            <a:cxnSpLocks/>
            <a:stCxn id="4" idx="2"/>
            <a:endCxn id="6" idx="0"/>
          </p:cNvCxnSpPr>
          <p:nvPr/>
        </p:nvCxnSpPr>
        <p:spPr>
          <a:xfrm rot="5400000">
            <a:off x="3808971" y="-392326"/>
            <a:ext cx="389238" cy="3892377"/>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54" name="コネクタ: カギ線 53">
            <a:extLst>
              <a:ext uri="{FF2B5EF4-FFF2-40B4-BE49-F238E27FC236}">
                <a16:creationId xmlns:a16="http://schemas.microsoft.com/office/drawing/2014/main" id="{293EDA50-FF3D-02B0-5B67-83EC0739BCC9}"/>
              </a:ext>
            </a:extLst>
          </p:cNvPr>
          <p:cNvCxnSpPr>
            <a:cxnSpLocks/>
            <a:stCxn id="4" idx="2"/>
            <a:endCxn id="5" idx="0"/>
          </p:cNvCxnSpPr>
          <p:nvPr/>
        </p:nvCxnSpPr>
        <p:spPr>
          <a:xfrm rot="16200000" flipH="1">
            <a:off x="5818107" y="1490913"/>
            <a:ext cx="389238" cy="125897"/>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7" name="コネクタ: カギ線 56">
            <a:extLst>
              <a:ext uri="{FF2B5EF4-FFF2-40B4-BE49-F238E27FC236}">
                <a16:creationId xmlns:a16="http://schemas.microsoft.com/office/drawing/2014/main" id="{18E1070F-7B41-92DC-3461-65823F6E3CF4}"/>
              </a:ext>
            </a:extLst>
          </p:cNvPr>
          <p:cNvCxnSpPr>
            <a:cxnSpLocks/>
            <a:stCxn id="4" idx="2"/>
            <a:endCxn id="7" idx="0"/>
          </p:cNvCxnSpPr>
          <p:nvPr/>
        </p:nvCxnSpPr>
        <p:spPr>
          <a:xfrm rot="16200000" flipH="1">
            <a:off x="7827244" y="-518223"/>
            <a:ext cx="389238" cy="4144170"/>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sp>
        <p:nvSpPr>
          <p:cNvPr id="69" name="正方形/長方形 68">
            <a:extLst>
              <a:ext uri="{FF2B5EF4-FFF2-40B4-BE49-F238E27FC236}">
                <a16:creationId xmlns:a16="http://schemas.microsoft.com/office/drawing/2014/main" id="{BD3737CF-0CF8-D00B-5045-7BB9EE7A24CA}"/>
              </a:ext>
            </a:extLst>
          </p:cNvPr>
          <p:cNvSpPr/>
          <p:nvPr/>
        </p:nvSpPr>
        <p:spPr>
          <a:xfrm>
            <a:off x="333131" y="494270"/>
            <a:ext cx="2394352" cy="389239"/>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lumMod val="65000"/>
                    <a:lumOff val="35000"/>
                  </a:schemeClr>
                </a:solidFill>
              </a:rPr>
              <a:t>中性洗剤</a:t>
            </a:r>
          </a:p>
        </p:txBody>
      </p:sp>
    </p:spTree>
    <p:extLst>
      <p:ext uri="{BB962C8B-B14F-4D97-AF65-F5344CB8AC3E}">
        <p14:creationId xmlns:p14="http://schemas.microsoft.com/office/powerpoint/2010/main" val="716520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65D0E-5D9C-E071-1ECF-D162D04939B3}"/>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3502739F-85BE-09E7-34D0-56E5016BE3C7}"/>
              </a:ext>
            </a:extLst>
          </p:cNvPr>
          <p:cNvSpPr/>
          <p:nvPr/>
        </p:nvSpPr>
        <p:spPr>
          <a:xfrm>
            <a:off x="3583459" y="494270"/>
            <a:ext cx="4732638" cy="864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t>なるべく早く新製品開発に着手するべきである。</a:t>
            </a:r>
            <a:endParaRPr lang="ja-JP" altLang="ja-JP" sz="1200" dirty="0"/>
          </a:p>
        </p:txBody>
      </p:sp>
      <p:sp>
        <p:nvSpPr>
          <p:cNvPr id="8" name="テキスト ボックス 7">
            <a:extLst>
              <a:ext uri="{FF2B5EF4-FFF2-40B4-BE49-F238E27FC236}">
                <a16:creationId xmlns:a16="http://schemas.microsoft.com/office/drawing/2014/main" id="{CF57B79A-A99E-5547-A66D-FD76231DC9F1}"/>
              </a:ext>
            </a:extLst>
          </p:cNvPr>
          <p:cNvSpPr txBox="1"/>
          <p:nvPr/>
        </p:nvSpPr>
        <p:spPr>
          <a:xfrm>
            <a:off x="548575" y="3002692"/>
            <a:ext cx="631198" cy="3534032"/>
          </a:xfrm>
          <a:prstGeom prst="rect">
            <a:avLst/>
          </a:prstGeom>
          <a:noFill/>
          <a:ln>
            <a:solidFill>
              <a:schemeClr val="accent1"/>
            </a:solidFill>
          </a:ln>
        </p:spPr>
        <p:txBody>
          <a:bodyPr vert="eaVert" wrap="square" rtlCol="0" anchor="ctr">
            <a:spAutoFit/>
          </a:bodyPr>
          <a:lstStyle/>
          <a:p>
            <a:r>
              <a:rPr lang="en-US" altLang="ja-JP" sz="1400" dirty="0"/>
              <a:t>(3)</a:t>
            </a:r>
            <a:r>
              <a:rPr lang="ja-JP" altLang="en-US" sz="1400" dirty="0"/>
              <a:t>なぜならば、新製品の市場規模の拡大が見込まれるため。</a:t>
            </a:r>
          </a:p>
        </p:txBody>
      </p:sp>
      <p:sp>
        <p:nvSpPr>
          <p:cNvPr id="9" name="テキスト ボックス 8">
            <a:extLst>
              <a:ext uri="{FF2B5EF4-FFF2-40B4-BE49-F238E27FC236}">
                <a16:creationId xmlns:a16="http://schemas.microsoft.com/office/drawing/2014/main" id="{89F1377E-D994-0A99-EED7-605D0A876514}"/>
              </a:ext>
            </a:extLst>
          </p:cNvPr>
          <p:cNvSpPr txBox="1"/>
          <p:nvPr/>
        </p:nvSpPr>
        <p:spPr>
          <a:xfrm>
            <a:off x="2835205" y="3002692"/>
            <a:ext cx="631198" cy="3534032"/>
          </a:xfrm>
          <a:prstGeom prst="rect">
            <a:avLst/>
          </a:prstGeom>
          <a:noFill/>
          <a:ln>
            <a:solidFill>
              <a:schemeClr val="accent1"/>
            </a:solidFill>
          </a:ln>
        </p:spPr>
        <p:txBody>
          <a:bodyPr vert="eaVert" wrap="square" rtlCol="0" anchor="ctr">
            <a:spAutoFit/>
          </a:bodyPr>
          <a:lstStyle/>
          <a:p>
            <a:r>
              <a:rPr lang="en-US" altLang="ja-JP" sz="1400" dirty="0"/>
              <a:t>(5)</a:t>
            </a:r>
            <a:r>
              <a:rPr lang="ja-JP" altLang="en-US" sz="1400" dirty="0"/>
              <a:t>なぜならば、最長でも商品化後約</a:t>
            </a:r>
            <a:r>
              <a:rPr lang="en-US" altLang="ja-JP" sz="1400" dirty="0"/>
              <a:t>2</a:t>
            </a:r>
            <a:r>
              <a:rPr lang="ja-JP" altLang="en-US" sz="1400" dirty="0"/>
              <a:t>年で利益化が見込まれるため。</a:t>
            </a:r>
          </a:p>
        </p:txBody>
      </p:sp>
      <p:sp>
        <p:nvSpPr>
          <p:cNvPr id="10" name="テキスト ボックス 9">
            <a:extLst>
              <a:ext uri="{FF2B5EF4-FFF2-40B4-BE49-F238E27FC236}">
                <a16:creationId xmlns:a16="http://schemas.microsoft.com/office/drawing/2014/main" id="{B8C18F3E-F378-634D-F374-0A28A4A18573}"/>
              </a:ext>
            </a:extLst>
          </p:cNvPr>
          <p:cNvSpPr txBox="1"/>
          <p:nvPr/>
        </p:nvSpPr>
        <p:spPr>
          <a:xfrm>
            <a:off x="6762133" y="3015049"/>
            <a:ext cx="846642" cy="3534032"/>
          </a:xfrm>
          <a:prstGeom prst="rect">
            <a:avLst/>
          </a:prstGeom>
          <a:noFill/>
          <a:ln>
            <a:solidFill>
              <a:schemeClr val="accent1"/>
            </a:solidFill>
          </a:ln>
        </p:spPr>
        <p:txBody>
          <a:bodyPr vert="eaVert" wrap="square" rtlCol="0" anchor="ctr">
            <a:spAutoFit/>
          </a:bodyPr>
          <a:lstStyle/>
          <a:p>
            <a:r>
              <a:rPr lang="en-US" altLang="ja-JP" sz="1400" dirty="0"/>
              <a:t>(4)</a:t>
            </a:r>
            <a:r>
              <a:rPr lang="ja-JP" altLang="en-US" sz="1400" dirty="0"/>
              <a:t>なぜならば、既存の営業網を使用できることから、営業上、競合と比較して有利であるため。</a:t>
            </a:r>
          </a:p>
        </p:txBody>
      </p:sp>
      <p:sp>
        <p:nvSpPr>
          <p:cNvPr id="11" name="テキスト ボックス 10">
            <a:extLst>
              <a:ext uri="{FF2B5EF4-FFF2-40B4-BE49-F238E27FC236}">
                <a16:creationId xmlns:a16="http://schemas.microsoft.com/office/drawing/2014/main" id="{3ED40666-23F8-2291-8985-157D15B2009F}"/>
              </a:ext>
            </a:extLst>
          </p:cNvPr>
          <p:cNvSpPr txBox="1"/>
          <p:nvPr/>
        </p:nvSpPr>
        <p:spPr>
          <a:xfrm>
            <a:off x="8833319" y="3002692"/>
            <a:ext cx="846642" cy="3534032"/>
          </a:xfrm>
          <a:prstGeom prst="rect">
            <a:avLst/>
          </a:prstGeom>
          <a:noFill/>
          <a:ln>
            <a:solidFill>
              <a:schemeClr val="accent1"/>
            </a:solidFill>
          </a:ln>
        </p:spPr>
        <p:txBody>
          <a:bodyPr vert="eaVert" wrap="square" rtlCol="0" anchor="ctr">
            <a:spAutoFit/>
          </a:bodyPr>
          <a:lstStyle/>
          <a:p>
            <a:r>
              <a:rPr lang="en-US" altLang="ja-JP" sz="1400" dirty="0"/>
              <a:t>(1)</a:t>
            </a:r>
            <a:r>
              <a:rPr lang="ja-JP" altLang="en-US" sz="1400" dirty="0"/>
              <a:t>なぜならば、市場の先駆者になることにより、誰よりも早く技術イメージを確立することが重要であるため。</a:t>
            </a:r>
          </a:p>
        </p:txBody>
      </p:sp>
      <p:sp>
        <p:nvSpPr>
          <p:cNvPr id="13" name="テキスト ボックス 12">
            <a:extLst>
              <a:ext uri="{FF2B5EF4-FFF2-40B4-BE49-F238E27FC236}">
                <a16:creationId xmlns:a16="http://schemas.microsoft.com/office/drawing/2014/main" id="{030A3B6F-EC49-FFCD-6EF2-39D2095F32B2}"/>
              </a:ext>
            </a:extLst>
          </p:cNvPr>
          <p:cNvSpPr txBox="1"/>
          <p:nvPr/>
        </p:nvSpPr>
        <p:spPr>
          <a:xfrm>
            <a:off x="4690947" y="3002692"/>
            <a:ext cx="1062086" cy="3534032"/>
          </a:xfrm>
          <a:prstGeom prst="rect">
            <a:avLst/>
          </a:prstGeom>
          <a:noFill/>
          <a:ln>
            <a:solidFill>
              <a:schemeClr val="accent1"/>
            </a:solidFill>
          </a:ln>
        </p:spPr>
        <p:txBody>
          <a:bodyPr vert="eaVert" wrap="square" rtlCol="0" anchor="ctr">
            <a:spAutoFit/>
          </a:bodyPr>
          <a:lstStyle/>
          <a:p>
            <a:r>
              <a:rPr lang="en-US" altLang="ja-JP" sz="1400" dirty="0"/>
              <a:t>(2)</a:t>
            </a:r>
            <a:r>
              <a:rPr lang="ja-JP" altLang="en-US" sz="1400" dirty="0"/>
              <a:t>なぜならば、わが社の得意な部品が新製品に含まれていることから、新製品を競合他社と比較して低コストで生産可能であるため。</a:t>
            </a:r>
          </a:p>
        </p:txBody>
      </p:sp>
      <p:sp>
        <p:nvSpPr>
          <p:cNvPr id="16" name="テキスト ボックス 15">
            <a:extLst>
              <a:ext uri="{FF2B5EF4-FFF2-40B4-BE49-F238E27FC236}">
                <a16:creationId xmlns:a16="http://schemas.microsoft.com/office/drawing/2014/main" id="{299056FE-3B22-8DCE-BAED-E224D1DFC105}"/>
              </a:ext>
            </a:extLst>
          </p:cNvPr>
          <p:cNvSpPr txBox="1"/>
          <p:nvPr/>
        </p:nvSpPr>
        <p:spPr>
          <a:xfrm>
            <a:off x="11012227" y="3002692"/>
            <a:ext cx="846642" cy="3534032"/>
          </a:xfrm>
          <a:prstGeom prst="rect">
            <a:avLst/>
          </a:prstGeom>
          <a:noFill/>
          <a:ln>
            <a:solidFill>
              <a:schemeClr val="accent1"/>
            </a:solidFill>
          </a:ln>
        </p:spPr>
        <p:txBody>
          <a:bodyPr vert="eaVert" wrap="square" rtlCol="0" anchor="ctr">
            <a:spAutoFit/>
          </a:bodyPr>
          <a:lstStyle/>
          <a:p>
            <a:r>
              <a:rPr lang="en-US" altLang="ja-JP" sz="1400" dirty="0"/>
              <a:t>(6)1</a:t>
            </a:r>
            <a:r>
              <a:rPr lang="ja-JP" altLang="en-US" sz="1400" dirty="0"/>
              <a:t>年以内に製品開発に着手することにより、開発投資に必要なキャッシュ負担を大幅に軽減できるため。</a:t>
            </a:r>
          </a:p>
        </p:txBody>
      </p:sp>
      <p:grpSp>
        <p:nvGrpSpPr>
          <p:cNvPr id="68" name="グループ化 67">
            <a:extLst>
              <a:ext uri="{FF2B5EF4-FFF2-40B4-BE49-F238E27FC236}">
                <a16:creationId xmlns:a16="http://schemas.microsoft.com/office/drawing/2014/main" id="{FF40DA69-F2C2-D071-90B3-B260E1DB6D7D}"/>
              </a:ext>
            </a:extLst>
          </p:cNvPr>
          <p:cNvGrpSpPr/>
          <p:nvPr/>
        </p:nvGrpSpPr>
        <p:grpSpPr>
          <a:xfrm>
            <a:off x="279550" y="1748481"/>
            <a:ext cx="11592248" cy="864973"/>
            <a:chOff x="279550" y="1637269"/>
            <a:chExt cx="11592248" cy="864973"/>
          </a:xfrm>
        </p:grpSpPr>
        <p:sp>
          <p:nvSpPr>
            <p:cNvPr id="5" name="正方形/長方形 4">
              <a:extLst>
                <a:ext uri="{FF2B5EF4-FFF2-40B4-BE49-F238E27FC236}">
                  <a16:creationId xmlns:a16="http://schemas.microsoft.com/office/drawing/2014/main" id="{ADE78CBE-CE17-C327-1FBA-10938C47FAC9}"/>
                </a:ext>
              </a:extLst>
            </p:cNvPr>
            <p:cNvSpPr/>
            <p:nvPr/>
          </p:nvSpPr>
          <p:spPr>
            <a:xfrm>
              <a:off x="4297824" y="1637269"/>
              <a:ext cx="3555701" cy="864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t>なぜならば、新製品の市場の中でわが社の競争力が高いため。</a:t>
              </a:r>
              <a:endParaRPr lang="ja-JP" altLang="ja-JP" sz="1200" dirty="0"/>
            </a:p>
          </p:txBody>
        </p:sp>
        <p:sp>
          <p:nvSpPr>
            <p:cNvPr id="6" name="正方形/長方形 5">
              <a:extLst>
                <a:ext uri="{FF2B5EF4-FFF2-40B4-BE49-F238E27FC236}">
                  <a16:creationId xmlns:a16="http://schemas.microsoft.com/office/drawing/2014/main" id="{0B228F3D-17A1-F388-5F3C-FA9CC0974B29}"/>
                </a:ext>
              </a:extLst>
            </p:cNvPr>
            <p:cNvSpPr/>
            <p:nvPr/>
          </p:nvSpPr>
          <p:spPr>
            <a:xfrm>
              <a:off x="279550" y="1637269"/>
              <a:ext cx="3555701" cy="864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ja-JP" altLang="en-US" sz="1200" dirty="0"/>
                <a:t>なぜならば、新製品の市場では大きな利益が</a:t>
              </a:r>
              <a:br>
                <a:rPr lang="en-US" altLang="ja-JP" sz="1200" dirty="0"/>
              </a:br>
              <a:r>
                <a:rPr lang="ja-JP" altLang="en-US" sz="1200" dirty="0"/>
                <a:t>見込まれるため。</a:t>
              </a:r>
              <a:endParaRPr lang="ja-JP" altLang="ja-JP" sz="1200" dirty="0"/>
            </a:p>
          </p:txBody>
        </p:sp>
        <p:sp>
          <p:nvSpPr>
            <p:cNvPr id="7" name="正方形/長方形 6">
              <a:extLst>
                <a:ext uri="{FF2B5EF4-FFF2-40B4-BE49-F238E27FC236}">
                  <a16:creationId xmlns:a16="http://schemas.microsoft.com/office/drawing/2014/main" id="{AF6A6274-7582-0A82-FB03-14304F282F51}"/>
                </a:ext>
              </a:extLst>
            </p:cNvPr>
            <p:cNvSpPr/>
            <p:nvPr/>
          </p:nvSpPr>
          <p:spPr>
            <a:xfrm>
              <a:off x="8316097" y="1637269"/>
              <a:ext cx="3555701" cy="864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ja-JP" altLang="en-US" sz="1200" dirty="0"/>
                <a:t>なぜならば、迅速な新製品開発が</a:t>
              </a:r>
              <a:br>
                <a:rPr lang="en-US" altLang="ja-JP" sz="1200" dirty="0"/>
              </a:br>
              <a:r>
                <a:rPr lang="ja-JP" altLang="en-US" sz="1200" dirty="0"/>
                <a:t>より大きな利益をもたらすため。</a:t>
              </a:r>
              <a:endParaRPr lang="ja-JP" altLang="ja-JP" sz="1200" dirty="0"/>
            </a:p>
          </p:txBody>
        </p:sp>
      </p:grpSp>
      <p:cxnSp>
        <p:nvCxnSpPr>
          <p:cNvPr id="25" name="コネクタ: カギ線 24">
            <a:extLst>
              <a:ext uri="{FF2B5EF4-FFF2-40B4-BE49-F238E27FC236}">
                <a16:creationId xmlns:a16="http://schemas.microsoft.com/office/drawing/2014/main" id="{67785B5E-19DA-1A26-AFCD-612514B3C662}"/>
              </a:ext>
            </a:extLst>
          </p:cNvPr>
          <p:cNvCxnSpPr>
            <a:cxnSpLocks/>
            <a:stCxn id="6" idx="2"/>
            <a:endCxn id="8" idx="0"/>
          </p:cNvCxnSpPr>
          <p:nvPr/>
        </p:nvCxnSpPr>
        <p:spPr>
          <a:xfrm rot="5400000">
            <a:off x="1266169" y="2211460"/>
            <a:ext cx="389238" cy="1193227"/>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9" name="コネクタ: カギ線 28">
            <a:extLst>
              <a:ext uri="{FF2B5EF4-FFF2-40B4-BE49-F238E27FC236}">
                <a16:creationId xmlns:a16="http://schemas.microsoft.com/office/drawing/2014/main" id="{B70C82F9-AADB-49DB-0624-80792F990729}"/>
              </a:ext>
            </a:extLst>
          </p:cNvPr>
          <p:cNvCxnSpPr>
            <a:cxnSpLocks/>
            <a:stCxn id="6" idx="2"/>
            <a:endCxn id="9" idx="0"/>
          </p:cNvCxnSpPr>
          <p:nvPr/>
        </p:nvCxnSpPr>
        <p:spPr>
          <a:xfrm rot="16200000" flipH="1">
            <a:off x="2409483" y="2261371"/>
            <a:ext cx="389238" cy="1093403"/>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31" name="コネクタ: カギ線 30">
            <a:extLst>
              <a:ext uri="{FF2B5EF4-FFF2-40B4-BE49-F238E27FC236}">
                <a16:creationId xmlns:a16="http://schemas.microsoft.com/office/drawing/2014/main" id="{3461BA39-E47B-91B5-30FC-F17713A04884}"/>
              </a:ext>
            </a:extLst>
          </p:cNvPr>
          <p:cNvCxnSpPr>
            <a:cxnSpLocks/>
            <a:stCxn id="5" idx="2"/>
            <a:endCxn id="13" idx="0"/>
          </p:cNvCxnSpPr>
          <p:nvPr/>
        </p:nvCxnSpPr>
        <p:spPr>
          <a:xfrm rot="5400000">
            <a:off x="5454214" y="2381231"/>
            <a:ext cx="389238" cy="853685"/>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33" name="コネクタ: カギ線 32">
            <a:extLst>
              <a:ext uri="{FF2B5EF4-FFF2-40B4-BE49-F238E27FC236}">
                <a16:creationId xmlns:a16="http://schemas.microsoft.com/office/drawing/2014/main" id="{48E0B792-E87E-ACA8-A402-3ACAE0D598D6}"/>
              </a:ext>
            </a:extLst>
          </p:cNvPr>
          <p:cNvCxnSpPr>
            <a:stCxn id="5" idx="2"/>
            <a:endCxn id="10" idx="0"/>
          </p:cNvCxnSpPr>
          <p:nvPr/>
        </p:nvCxnSpPr>
        <p:spPr>
          <a:xfrm rot="16200000" flipH="1">
            <a:off x="6429767" y="2259361"/>
            <a:ext cx="401595" cy="1109779"/>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37" name="コネクタ: カギ線 36">
            <a:extLst>
              <a:ext uri="{FF2B5EF4-FFF2-40B4-BE49-F238E27FC236}">
                <a16:creationId xmlns:a16="http://schemas.microsoft.com/office/drawing/2014/main" id="{84F768C5-CFAB-299D-AD1F-BA1E1BE9AE8F}"/>
              </a:ext>
            </a:extLst>
          </p:cNvPr>
          <p:cNvCxnSpPr>
            <a:cxnSpLocks/>
            <a:stCxn id="7" idx="2"/>
            <a:endCxn id="11" idx="0"/>
          </p:cNvCxnSpPr>
          <p:nvPr/>
        </p:nvCxnSpPr>
        <p:spPr>
          <a:xfrm rot="5400000">
            <a:off x="9480675" y="2389419"/>
            <a:ext cx="389238" cy="837308"/>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39" name="コネクタ: カギ線 38">
            <a:extLst>
              <a:ext uri="{FF2B5EF4-FFF2-40B4-BE49-F238E27FC236}">
                <a16:creationId xmlns:a16="http://schemas.microsoft.com/office/drawing/2014/main" id="{3C40B541-31BE-8F38-C02C-FA9DF3F4D0AA}"/>
              </a:ext>
            </a:extLst>
          </p:cNvPr>
          <p:cNvCxnSpPr>
            <a:cxnSpLocks/>
            <a:stCxn id="7" idx="2"/>
            <a:endCxn id="16" idx="0"/>
          </p:cNvCxnSpPr>
          <p:nvPr/>
        </p:nvCxnSpPr>
        <p:spPr>
          <a:xfrm rot="16200000" flipH="1">
            <a:off x="10570129" y="2137273"/>
            <a:ext cx="389238" cy="1341600"/>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51" name="コネクタ: カギ線 50">
            <a:extLst>
              <a:ext uri="{FF2B5EF4-FFF2-40B4-BE49-F238E27FC236}">
                <a16:creationId xmlns:a16="http://schemas.microsoft.com/office/drawing/2014/main" id="{90CC6345-EF30-588B-FDE4-FB1CA94F39CF}"/>
              </a:ext>
            </a:extLst>
          </p:cNvPr>
          <p:cNvCxnSpPr>
            <a:cxnSpLocks/>
            <a:stCxn id="4" idx="2"/>
            <a:endCxn id="6" idx="0"/>
          </p:cNvCxnSpPr>
          <p:nvPr/>
        </p:nvCxnSpPr>
        <p:spPr>
          <a:xfrm rot="5400000">
            <a:off x="3808971" y="-392326"/>
            <a:ext cx="389238" cy="3892377"/>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54" name="コネクタ: カギ線 53">
            <a:extLst>
              <a:ext uri="{FF2B5EF4-FFF2-40B4-BE49-F238E27FC236}">
                <a16:creationId xmlns:a16="http://schemas.microsoft.com/office/drawing/2014/main" id="{BCDBC562-BE1F-92A9-5F16-59FC608311A6}"/>
              </a:ext>
            </a:extLst>
          </p:cNvPr>
          <p:cNvCxnSpPr>
            <a:cxnSpLocks/>
            <a:stCxn id="4" idx="2"/>
            <a:endCxn id="5" idx="0"/>
          </p:cNvCxnSpPr>
          <p:nvPr/>
        </p:nvCxnSpPr>
        <p:spPr>
          <a:xfrm rot="16200000" flipH="1">
            <a:off x="5818107" y="1490913"/>
            <a:ext cx="389238" cy="125897"/>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7" name="コネクタ: カギ線 56">
            <a:extLst>
              <a:ext uri="{FF2B5EF4-FFF2-40B4-BE49-F238E27FC236}">
                <a16:creationId xmlns:a16="http://schemas.microsoft.com/office/drawing/2014/main" id="{C7AEEBAC-FDD3-73B1-EC55-6BFD710FFC20}"/>
              </a:ext>
            </a:extLst>
          </p:cNvPr>
          <p:cNvCxnSpPr>
            <a:cxnSpLocks/>
            <a:stCxn id="4" idx="2"/>
            <a:endCxn id="7" idx="0"/>
          </p:cNvCxnSpPr>
          <p:nvPr/>
        </p:nvCxnSpPr>
        <p:spPr>
          <a:xfrm rot="16200000" flipH="1">
            <a:off x="7827244" y="-518223"/>
            <a:ext cx="389238" cy="4144170"/>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sp>
        <p:nvSpPr>
          <p:cNvPr id="21" name="正方形/長方形 20">
            <a:extLst>
              <a:ext uri="{FF2B5EF4-FFF2-40B4-BE49-F238E27FC236}">
                <a16:creationId xmlns:a16="http://schemas.microsoft.com/office/drawing/2014/main" id="{3E887059-DAB5-E3EE-1EE5-2B376DDF3649}"/>
              </a:ext>
            </a:extLst>
          </p:cNvPr>
          <p:cNvSpPr/>
          <p:nvPr/>
        </p:nvSpPr>
        <p:spPr>
          <a:xfrm>
            <a:off x="333131" y="494270"/>
            <a:ext cx="2394352" cy="389239"/>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lumMod val="65000"/>
                    <a:lumOff val="35000"/>
                  </a:schemeClr>
                </a:solidFill>
              </a:rPr>
              <a:t>製品開発</a:t>
            </a:r>
          </a:p>
        </p:txBody>
      </p:sp>
    </p:spTree>
    <p:extLst>
      <p:ext uri="{BB962C8B-B14F-4D97-AF65-F5344CB8AC3E}">
        <p14:creationId xmlns:p14="http://schemas.microsoft.com/office/powerpoint/2010/main" val="1842136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4D43A-E3A0-A316-FCA7-CF2E2150222F}"/>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DD37DCE2-3F8C-A0B8-9455-8D74825C2811}"/>
              </a:ext>
            </a:extLst>
          </p:cNvPr>
          <p:cNvSpPr/>
          <p:nvPr/>
        </p:nvSpPr>
        <p:spPr>
          <a:xfrm>
            <a:off x="3583459" y="494270"/>
            <a:ext cx="4732638" cy="864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t>業務拡大を待たずに、売上報告システムを入れ替えるべきである。</a:t>
            </a:r>
            <a:endParaRPr lang="ja-JP" altLang="ja-JP" sz="1200" dirty="0"/>
          </a:p>
        </p:txBody>
      </p:sp>
      <p:sp>
        <p:nvSpPr>
          <p:cNvPr id="8" name="テキスト ボックス 7">
            <a:extLst>
              <a:ext uri="{FF2B5EF4-FFF2-40B4-BE49-F238E27FC236}">
                <a16:creationId xmlns:a16="http://schemas.microsoft.com/office/drawing/2014/main" id="{18CBB072-C660-0074-7FC5-0D39B863AD3B}"/>
              </a:ext>
            </a:extLst>
          </p:cNvPr>
          <p:cNvSpPr txBox="1"/>
          <p:nvPr/>
        </p:nvSpPr>
        <p:spPr>
          <a:xfrm>
            <a:off x="548576" y="3002692"/>
            <a:ext cx="631198" cy="3534032"/>
          </a:xfrm>
          <a:prstGeom prst="rect">
            <a:avLst/>
          </a:prstGeom>
          <a:noFill/>
          <a:ln>
            <a:solidFill>
              <a:schemeClr val="accent1"/>
            </a:solidFill>
          </a:ln>
        </p:spPr>
        <p:txBody>
          <a:bodyPr vert="eaVert" wrap="square" rtlCol="0" anchor="ctr">
            <a:spAutoFit/>
          </a:bodyPr>
          <a:lstStyle/>
          <a:p>
            <a:r>
              <a:rPr lang="en-US" altLang="ja-JP" sz="1400" dirty="0"/>
              <a:t>(2)</a:t>
            </a:r>
            <a:r>
              <a:rPr lang="ja-JP" altLang="en-US" sz="1400" dirty="0"/>
              <a:t>なぜならば、売上げ報告表示が数字だらけで見づらいため。</a:t>
            </a:r>
          </a:p>
        </p:txBody>
      </p:sp>
      <p:sp>
        <p:nvSpPr>
          <p:cNvPr id="9" name="テキスト ボックス 8">
            <a:extLst>
              <a:ext uri="{FF2B5EF4-FFF2-40B4-BE49-F238E27FC236}">
                <a16:creationId xmlns:a16="http://schemas.microsoft.com/office/drawing/2014/main" id="{A9299AEB-A652-172E-74E5-06575D4F3D8A}"/>
              </a:ext>
            </a:extLst>
          </p:cNvPr>
          <p:cNvSpPr txBox="1"/>
          <p:nvPr/>
        </p:nvSpPr>
        <p:spPr>
          <a:xfrm>
            <a:off x="2727484" y="3002692"/>
            <a:ext cx="846642" cy="3534032"/>
          </a:xfrm>
          <a:prstGeom prst="rect">
            <a:avLst/>
          </a:prstGeom>
          <a:noFill/>
          <a:ln>
            <a:solidFill>
              <a:schemeClr val="accent1"/>
            </a:solidFill>
          </a:ln>
        </p:spPr>
        <p:txBody>
          <a:bodyPr vert="eaVert" wrap="square" rtlCol="0" anchor="ctr">
            <a:spAutoFit/>
          </a:bodyPr>
          <a:lstStyle/>
          <a:p>
            <a:r>
              <a:rPr lang="en-US" altLang="ja-JP" sz="1400" dirty="0"/>
              <a:t>(3)</a:t>
            </a:r>
            <a:r>
              <a:rPr lang="ja-JP" altLang="en-US" sz="1400" dirty="0"/>
              <a:t>なぜならば、売上げ報告表示中、データの異常値にリマークがなく、報告を見落としがちであるため。</a:t>
            </a:r>
          </a:p>
        </p:txBody>
      </p:sp>
      <p:sp>
        <p:nvSpPr>
          <p:cNvPr id="10" name="テキスト ボックス 9">
            <a:extLst>
              <a:ext uri="{FF2B5EF4-FFF2-40B4-BE49-F238E27FC236}">
                <a16:creationId xmlns:a16="http://schemas.microsoft.com/office/drawing/2014/main" id="{2AFEC07F-B280-1EB0-9F83-D368A3B4912E}"/>
              </a:ext>
            </a:extLst>
          </p:cNvPr>
          <p:cNvSpPr txBox="1"/>
          <p:nvPr/>
        </p:nvSpPr>
        <p:spPr>
          <a:xfrm>
            <a:off x="6762134" y="3015049"/>
            <a:ext cx="846642" cy="3534032"/>
          </a:xfrm>
          <a:prstGeom prst="rect">
            <a:avLst/>
          </a:prstGeom>
          <a:noFill/>
          <a:ln>
            <a:solidFill>
              <a:schemeClr val="accent1"/>
            </a:solidFill>
          </a:ln>
        </p:spPr>
        <p:txBody>
          <a:bodyPr vert="eaVert" wrap="square" rtlCol="0" anchor="ctr">
            <a:spAutoFit/>
          </a:bodyPr>
          <a:lstStyle/>
          <a:p>
            <a:r>
              <a:rPr lang="en-US" altLang="ja-JP" sz="1400" dirty="0"/>
              <a:t>(6)</a:t>
            </a:r>
            <a:r>
              <a:rPr lang="ja-JP" altLang="en-US" sz="1400" dirty="0"/>
              <a:t>なぜならば、キャンペーンにファックス受注が残っていることから、営業管理部が受注データを手入力する必要があるため。</a:t>
            </a:r>
          </a:p>
        </p:txBody>
      </p:sp>
      <p:sp>
        <p:nvSpPr>
          <p:cNvPr id="11" name="テキスト ボックス 10">
            <a:extLst>
              <a:ext uri="{FF2B5EF4-FFF2-40B4-BE49-F238E27FC236}">
                <a16:creationId xmlns:a16="http://schemas.microsoft.com/office/drawing/2014/main" id="{181A995F-0587-F044-5FB2-81BEE9DB0F28}"/>
              </a:ext>
            </a:extLst>
          </p:cNvPr>
          <p:cNvSpPr txBox="1"/>
          <p:nvPr/>
        </p:nvSpPr>
        <p:spPr>
          <a:xfrm>
            <a:off x="8941042" y="3002692"/>
            <a:ext cx="631198" cy="3534032"/>
          </a:xfrm>
          <a:prstGeom prst="rect">
            <a:avLst/>
          </a:prstGeom>
          <a:noFill/>
          <a:ln>
            <a:solidFill>
              <a:schemeClr val="accent1"/>
            </a:solidFill>
          </a:ln>
        </p:spPr>
        <p:txBody>
          <a:bodyPr vert="eaVert" wrap="square" rtlCol="0" anchor="ctr">
            <a:spAutoFit/>
          </a:bodyPr>
          <a:lstStyle/>
          <a:p>
            <a:r>
              <a:rPr lang="en-US" altLang="ja-JP" sz="1400" dirty="0"/>
              <a:t>(1)</a:t>
            </a:r>
            <a:r>
              <a:rPr lang="ja-JP" altLang="en-US" sz="1400" dirty="0"/>
              <a:t>返品データの反映が遅いことから、</a:t>
            </a:r>
            <a:br>
              <a:rPr lang="en-US" altLang="ja-JP" sz="1400"/>
            </a:br>
            <a:r>
              <a:rPr lang="ja-JP" altLang="en-US" sz="1400"/>
              <a:t>物流</a:t>
            </a:r>
            <a:r>
              <a:rPr lang="ja-JP" altLang="en-US" sz="1400" dirty="0"/>
              <a:t>管理の作業の効率が悪いため。</a:t>
            </a:r>
          </a:p>
        </p:txBody>
      </p:sp>
      <p:sp>
        <p:nvSpPr>
          <p:cNvPr id="13" name="テキスト ボックス 12">
            <a:extLst>
              <a:ext uri="{FF2B5EF4-FFF2-40B4-BE49-F238E27FC236}">
                <a16:creationId xmlns:a16="http://schemas.microsoft.com/office/drawing/2014/main" id="{032613C8-570A-4239-7362-478771A6B088}"/>
              </a:ext>
            </a:extLst>
          </p:cNvPr>
          <p:cNvSpPr txBox="1"/>
          <p:nvPr/>
        </p:nvSpPr>
        <p:spPr>
          <a:xfrm>
            <a:off x="4798670" y="3002692"/>
            <a:ext cx="846642" cy="3534032"/>
          </a:xfrm>
          <a:prstGeom prst="rect">
            <a:avLst/>
          </a:prstGeom>
          <a:noFill/>
          <a:ln>
            <a:solidFill>
              <a:schemeClr val="accent1"/>
            </a:solidFill>
          </a:ln>
        </p:spPr>
        <p:txBody>
          <a:bodyPr vert="eaVert" wrap="square" rtlCol="0" anchor="ctr">
            <a:spAutoFit/>
          </a:bodyPr>
          <a:lstStyle/>
          <a:p>
            <a:r>
              <a:rPr lang="en-US" altLang="ja-JP" sz="1400" dirty="0"/>
              <a:t>(4)</a:t>
            </a:r>
            <a:r>
              <a:rPr lang="ja-JP" altLang="en-US" sz="1400" dirty="0"/>
              <a:t>なぜならば、工場からの要望から、</a:t>
            </a:r>
            <a:br>
              <a:rPr lang="en-US" altLang="ja-JP" sz="1400" dirty="0"/>
            </a:br>
            <a:r>
              <a:rPr lang="ja-JP" altLang="en-US" sz="1400" dirty="0"/>
              <a:t>売上げ報告システムのデータの一部を生産管理システムに手打ちする必要があるため。</a:t>
            </a:r>
          </a:p>
        </p:txBody>
      </p:sp>
      <p:sp>
        <p:nvSpPr>
          <p:cNvPr id="16" name="テキスト ボックス 15">
            <a:extLst>
              <a:ext uri="{FF2B5EF4-FFF2-40B4-BE49-F238E27FC236}">
                <a16:creationId xmlns:a16="http://schemas.microsoft.com/office/drawing/2014/main" id="{28BBD476-F798-DD90-FF21-EB662502699F}"/>
              </a:ext>
            </a:extLst>
          </p:cNvPr>
          <p:cNvSpPr txBox="1"/>
          <p:nvPr/>
        </p:nvSpPr>
        <p:spPr>
          <a:xfrm>
            <a:off x="11119950" y="3002692"/>
            <a:ext cx="631198" cy="3534032"/>
          </a:xfrm>
          <a:prstGeom prst="rect">
            <a:avLst/>
          </a:prstGeom>
          <a:noFill/>
          <a:ln>
            <a:solidFill>
              <a:schemeClr val="accent1"/>
            </a:solidFill>
          </a:ln>
        </p:spPr>
        <p:txBody>
          <a:bodyPr vert="eaVert" wrap="square" rtlCol="0" anchor="ctr">
            <a:spAutoFit/>
          </a:bodyPr>
          <a:lstStyle/>
          <a:p>
            <a:r>
              <a:rPr lang="en-US" altLang="ja-JP" sz="1400" dirty="0"/>
              <a:t>(5)</a:t>
            </a:r>
            <a:r>
              <a:rPr lang="ja-JP" altLang="en-US" sz="1400" dirty="0"/>
              <a:t>業務出荷データの反映が遅いことから、確認作業の効率が悪いため。</a:t>
            </a:r>
          </a:p>
        </p:txBody>
      </p:sp>
      <p:grpSp>
        <p:nvGrpSpPr>
          <p:cNvPr id="68" name="グループ化 67">
            <a:extLst>
              <a:ext uri="{FF2B5EF4-FFF2-40B4-BE49-F238E27FC236}">
                <a16:creationId xmlns:a16="http://schemas.microsoft.com/office/drawing/2014/main" id="{914251A2-3CA0-F28F-AB5A-6D9CE13F2D4E}"/>
              </a:ext>
            </a:extLst>
          </p:cNvPr>
          <p:cNvGrpSpPr/>
          <p:nvPr/>
        </p:nvGrpSpPr>
        <p:grpSpPr>
          <a:xfrm>
            <a:off x="279550" y="1748481"/>
            <a:ext cx="11592248" cy="864973"/>
            <a:chOff x="279550" y="1637269"/>
            <a:chExt cx="11592248" cy="864973"/>
          </a:xfrm>
        </p:grpSpPr>
        <p:sp>
          <p:nvSpPr>
            <p:cNvPr id="5" name="正方形/長方形 4">
              <a:extLst>
                <a:ext uri="{FF2B5EF4-FFF2-40B4-BE49-F238E27FC236}">
                  <a16:creationId xmlns:a16="http://schemas.microsoft.com/office/drawing/2014/main" id="{6DDBC73E-0C9C-F019-F963-2D1488F2DAA8}"/>
                </a:ext>
              </a:extLst>
            </p:cNvPr>
            <p:cNvSpPr/>
            <p:nvPr/>
          </p:nvSpPr>
          <p:spPr>
            <a:xfrm>
              <a:off x="4297824" y="1637269"/>
              <a:ext cx="3555701" cy="864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ja-JP" altLang="en-US" sz="1200" dirty="0"/>
                <a:t>なぜならば、新機能開発の需要に応えられていないため。</a:t>
              </a:r>
              <a:endParaRPr lang="ja-JP" altLang="ja-JP" sz="1200" dirty="0"/>
            </a:p>
          </p:txBody>
        </p:sp>
        <p:sp>
          <p:nvSpPr>
            <p:cNvPr id="6" name="正方形/長方形 5">
              <a:extLst>
                <a:ext uri="{FF2B5EF4-FFF2-40B4-BE49-F238E27FC236}">
                  <a16:creationId xmlns:a16="http://schemas.microsoft.com/office/drawing/2014/main" id="{7F6CB1CB-315B-7556-AAAD-235C0E04DCCE}"/>
                </a:ext>
              </a:extLst>
            </p:cNvPr>
            <p:cNvSpPr/>
            <p:nvPr/>
          </p:nvSpPr>
          <p:spPr>
            <a:xfrm>
              <a:off x="279550" y="1637269"/>
              <a:ext cx="3555701" cy="864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t>なぜならば、売上報告表示画面が見づらいため。</a:t>
              </a:r>
              <a:endParaRPr lang="ja-JP" altLang="ja-JP" sz="1200" dirty="0"/>
            </a:p>
          </p:txBody>
        </p:sp>
        <p:sp>
          <p:nvSpPr>
            <p:cNvPr id="7" name="正方形/長方形 6">
              <a:extLst>
                <a:ext uri="{FF2B5EF4-FFF2-40B4-BE49-F238E27FC236}">
                  <a16:creationId xmlns:a16="http://schemas.microsoft.com/office/drawing/2014/main" id="{ECA7D98C-3055-6BC9-37B7-EF47F6C4C12D}"/>
                </a:ext>
              </a:extLst>
            </p:cNvPr>
            <p:cNvSpPr/>
            <p:nvPr/>
          </p:nvSpPr>
          <p:spPr>
            <a:xfrm>
              <a:off x="8316097" y="1637269"/>
              <a:ext cx="3555701" cy="864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ja-JP" altLang="en-US" sz="1200" dirty="0"/>
                <a:t>なぜならば、データの反映が遅いため。</a:t>
              </a:r>
              <a:endParaRPr lang="ja-JP" altLang="ja-JP" sz="1200" dirty="0"/>
            </a:p>
          </p:txBody>
        </p:sp>
      </p:grpSp>
      <p:cxnSp>
        <p:nvCxnSpPr>
          <p:cNvPr id="25" name="コネクタ: カギ線 24">
            <a:extLst>
              <a:ext uri="{FF2B5EF4-FFF2-40B4-BE49-F238E27FC236}">
                <a16:creationId xmlns:a16="http://schemas.microsoft.com/office/drawing/2014/main" id="{71335C26-1F65-4C6F-E82A-150D1FEE2ED1}"/>
              </a:ext>
            </a:extLst>
          </p:cNvPr>
          <p:cNvCxnSpPr>
            <a:cxnSpLocks/>
            <a:stCxn id="6" idx="2"/>
            <a:endCxn id="8" idx="0"/>
          </p:cNvCxnSpPr>
          <p:nvPr/>
        </p:nvCxnSpPr>
        <p:spPr>
          <a:xfrm rot="5400000">
            <a:off x="1266169" y="2211460"/>
            <a:ext cx="389238" cy="1193226"/>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9" name="コネクタ: カギ線 28">
            <a:extLst>
              <a:ext uri="{FF2B5EF4-FFF2-40B4-BE49-F238E27FC236}">
                <a16:creationId xmlns:a16="http://schemas.microsoft.com/office/drawing/2014/main" id="{C4C02839-B5F0-2C01-AED3-68E829A9DB05}"/>
              </a:ext>
            </a:extLst>
          </p:cNvPr>
          <p:cNvCxnSpPr>
            <a:cxnSpLocks/>
            <a:stCxn id="6" idx="2"/>
            <a:endCxn id="9" idx="0"/>
          </p:cNvCxnSpPr>
          <p:nvPr/>
        </p:nvCxnSpPr>
        <p:spPr>
          <a:xfrm rot="16200000" flipH="1">
            <a:off x="2409484" y="2261371"/>
            <a:ext cx="389238" cy="1093404"/>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31" name="コネクタ: カギ線 30">
            <a:extLst>
              <a:ext uri="{FF2B5EF4-FFF2-40B4-BE49-F238E27FC236}">
                <a16:creationId xmlns:a16="http://schemas.microsoft.com/office/drawing/2014/main" id="{334C4C91-C5E3-2E9F-EE23-53FD6ACE2CB6}"/>
              </a:ext>
            </a:extLst>
          </p:cNvPr>
          <p:cNvCxnSpPr>
            <a:cxnSpLocks/>
            <a:stCxn id="5" idx="2"/>
            <a:endCxn id="13" idx="0"/>
          </p:cNvCxnSpPr>
          <p:nvPr/>
        </p:nvCxnSpPr>
        <p:spPr>
          <a:xfrm rot="5400000">
            <a:off x="5454214" y="2381231"/>
            <a:ext cx="389238" cy="853684"/>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33" name="コネクタ: カギ線 32">
            <a:extLst>
              <a:ext uri="{FF2B5EF4-FFF2-40B4-BE49-F238E27FC236}">
                <a16:creationId xmlns:a16="http://schemas.microsoft.com/office/drawing/2014/main" id="{F322634C-0BA9-672F-AD8F-E7DE3DA750CD}"/>
              </a:ext>
            </a:extLst>
          </p:cNvPr>
          <p:cNvCxnSpPr>
            <a:stCxn id="5" idx="2"/>
            <a:endCxn id="10" idx="0"/>
          </p:cNvCxnSpPr>
          <p:nvPr/>
        </p:nvCxnSpPr>
        <p:spPr>
          <a:xfrm rot="16200000" flipH="1">
            <a:off x="6429768" y="2259361"/>
            <a:ext cx="401595" cy="1109780"/>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37" name="コネクタ: カギ線 36">
            <a:extLst>
              <a:ext uri="{FF2B5EF4-FFF2-40B4-BE49-F238E27FC236}">
                <a16:creationId xmlns:a16="http://schemas.microsoft.com/office/drawing/2014/main" id="{B860F011-687A-06B9-E31C-23C22F89C6E9}"/>
              </a:ext>
            </a:extLst>
          </p:cNvPr>
          <p:cNvCxnSpPr>
            <a:cxnSpLocks/>
            <a:stCxn id="7" idx="2"/>
            <a:endCxn id="11" idx="0"/>
          </p:cNvCxnSpPr>
          <p:nvPr/>
        </p:nvCxnSpPr>
        <p:spPr>
          <a:xfrm rot="5400000">
            <a:off x="9480676" y="2389420"/>
            <a:ext cx="389238" cy="837307"/>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39" name="コネクタ: カギ線 38">
            <a:extLst>
              <a:ext uri="{FF2B5EF4-FFF2-40B4-BE49-F238E27FC236}">
                <a16:creationId xmlns:a16="http://schemas.microsoft.com/office/drawing/2014/main" id="{B17D790D-6213-DA70-0D1F-9818B5420C7C}"/>
              </a:ext>
            </a:extLst>
          </p:cNvPr>
          <p:cNvCxnSpPr>
            <a:cxnSpLocks/>
            <a:stCxn id="7" idx="2"/>
            <a:endCxn id="16" idx="0"/>
          </p:cNvCxnSpPr>
          <p:nvPr/>
        </p:nvCxnSpPr>
        <p:spPr>
          <a:xfrm rot="16200000" flipH="1">
            <a:off x="10570129" y="2137272"/>
            <a:ext cx="389238" cy="1341601"/>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51" name="コネクタ: カギ線 50">
            <a:extLst>
              <a:ext uri="{FF2B5EF4-FFF2-40B4-BE49-F238E27FC236}">
                <a16:creationId xmlns:a16="http://schemas.microsoft.com/office/drawing/2014/main" id="{AFF092D5-1B61-AC03-EEF5-81F3D6C2BF9F}"/>
              </a:ext>
            </a:extLst>
          </p:cNvPr>
          <p:cNvCxnSpPr>
            <a:cxnSpLocks/>
            <a:stCxn id="4" idx="2"/>
            <a:endCxn id="6" idx="0"/>
          </p:cNvCxnSpPr>
          <p:nvPr/>
        </p:nvCxnSpPr>
        <p:spPr>
          <a:xfrm rot="5400000">
            <a:off x="3808971" y="-392326"/>
            <a:ext cx="389238" cy="3892377"/>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54" name="コネクタ: カギ線 53">
            <a:extLst>
              <a:ext uri="{FF2B5EF4-FFF2-40B4-BE49-F238E27FC236}">
                <a16:creationId xmlns:a16="http://schemas.microsoft.com/office/drawing/2014/main" id="{81619033-841B-3DAC-DEDB-7760F906D70C}"/>
              </a:ext>
            </a:extLst>
          </p:cNvPr>
          <p:cNvCxnSpPr>
            <a:cxnSpLocks/>
            <a:stCxn id="4" idx="2"/>
            <a:endCxn id="5" idx="0"/>
          </p:cNvCxnSpPr>
          <p:nvPr/>
        </p:nvCxnSpPr>
        <p:spPr>
          <a:xfrm rot="16200000" flipH="1">
            <a:off x="5818107" y="1490913"/>
            <a:ext cx="389238" cy="125897"/>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7" name="コネクタ: カギ線 56">
            <a:extLst>
              <a:ext uri="{FF2B5EF4-FFF2-40B4-BE49-F238E27FC236}">
                <a16:creationId xmlns:a16="http://schemas.microsoft.com/office/drawing/2014/main" id="{ECB901D8-84B4-2668-F296-1FEF272551E8}"/>
              </a:ext>
            </a:extLst>
          </p:cNvPr>
          <p:cNvCxnSpPr>
            <a:cxnSpLocks/>
            <a:stCxn id="4" idx="2"/>
            <a:endCxn id="7" idx="0"/>
          </p:cNvCxnSpPr>
          <p:nvPr/>
        </p:nvCxnSpPr>
        <p:spPr>
          <a:xfrm rot="16200000" flipH="1">
            <a:off x="7827244" y="-518223"/>
            <a:ext cx="389238" cy="4144170"/>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sp>
        <p:nvSpPr>
          <p:cNvPr id="3" name="正方形/長方形 2">
            <a:extLst>
              <a:ext uri="{FF2B5EF4-FFF2-40B4-BE49-F238E27FC236}">
                <a16:creationId xmlns:a16="http://schemas.microsoft.com/office/drawing/2014/main" id="{21003FF5-DB04-0FF0-7AD6-8D32891D3EE3}"/>
              </a:ext>
            </a:extLst>
          </p:cNvPr>
          <p:cNvSpPr/>
          <p:nvPr/>
        </p:nvSpPr>
        <p:spPr>
          <a:xfrm>
            <a:off x="333131" y="494270"/>
            <a:ext cx="2394352" cy="389239"/>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lumMod val="65000"/>
                    <a:lumOff val="35000"/>
                  </a:schemeClr>
                </a:solidFill>
              </a:rPr>
              <a:t>売上げ報告システム</a:t>
            </a:r>
          </a:p>
        </p:txBody>
      </p:sp>
    </p:spTree>
    <p:extLst>
      <p:ext uri="{BB962C8B-B14F-4D97-AF65-F5344CB8AC3E}">
        <p14:creationId xmlns:p14="http://schemas.microsoft.com/office/powerpoint/2010/main" val="150205046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TotalTime>
  <Words>680</Words>
  <Application>Microsoft Office PowerPoint</Application>
  <PresentationFormat>ワイド画面</PresentationFormat>
  <Paragraphs>34</Paragraphs>
  <Slides>3</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vt:i4>
      </vt:variant>
    </vt:vector>
  </HeadingPairs>
  <TitlesOfParts>
    <vt:vector size="7"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ishowaseda</dc:creator>
  <cp:lastModifiedBy>ishowaseda</cp:lastModifiedBy>
  <cp:revision>4</cp:revision>
  <dcterms:created xsi:type="dcterms:W3CDTF">2026-06-15T13:27:10Z</dcterms:created>
  <dcterms:modified xsi:type="dcterms:W3CDTF">2026-06-15T14:41:35Z</dcterms:modified>
</cp:coreProperties>
</file>