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"/>
  </p:notesMasterIdLst>
  <p:sldIdLst>
    <p:sldId id="548" r:id="rId2"/>
    <p:sldId id="549" r:id="rId3"/>
    <p:sldId id="550" r:id="rId4"/>
    <p:sldId id="551" r:id="rId5"/>
    <p:sldId id="545" r:id="rId6"/>
    <p:sldId id="555" r:id="rId7"/>
    <p:sldId id="559" r:id="rId8"/>
    <p:sldId id="473" r:id="rId9"/>
  </p:sldIdLst>
  <p:sldSz cx="9906000" cy="6858000" type="A4"/>
  <p:notesSz cx="7099300" cy="10234613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B4E3"/>
    <a:srgbClr val="D0A163"/>
    <a:srgbClr val="E2BE8E"/>
    <a:srgbClr val="D1A66F"/>
    <a:srgbClr val="CD9D5B"/>
    <a:srgbClr val="ECDCC7"/>
    <a:srgbClr val="C48C41"/>
    <a:srgbClr val="B9CDE5"/>
    <a:srgbClr val="558ED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淡色スタイル 2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451" autoAdjust="0"/>
  </p:normalViewPr>
  <p:slideViewPr>
    <p:cSldViewPr showGuides="1">
      <p:cViewPr varScale="1">
        <p:scale>
          <a:sx n="65" d="100"/>
          <a:sy n="65" d="100"/>
        </p:scale>
        <p:origin x="1116" y="32"/>
      </p:cViewPr>
      <p:guideLst>
        <p:guide orient="horz" pos="2205"/>
        <p:guide pos="3120"/>
      </p:guideLst>
    </p:cSldViewPr>
  </p:slideViewPr>
  <p:outlineViewPr>
    <p:cViewPr>
      <p:scale>
        <a:sx n="33" d="100"/>
        <a:sy n="33" d="100"/>
      </p:scale>
      <p:origin x="0" y="-2182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18992"/>
    </p:cViewPr>
  </p:sorterViewPr>
  <p:notesViewPr>
    <p:cSldViewPr showGuides="1">
      <p:cViewPr varScale="1">
        <p:scale>
          <a:sx n="50" d="100"/>
          <a:sy n="50" d="100"/>
        </p:scale>
        <p:origin x="-2694" y="-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4021295" y="1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93AEEDAA-138E-467C-BD93-27AE9BBEACBA}" type="datetimeFigureOut">
              <a:rPr lang="ja-JP" altLang="en-US" smtClean="0"/>
              <a:pPr/>
              <a:t>2025/1/8</a:t>
            </a:fld>
            <a:endParaRPr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6763"/>
            <a:ext cx="55435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54" tIns="47728" rIns="95454" bIns="47728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</p:spPr>
        <p:txBody>
          <a:bodyPr vert="horz" lIns="95454" tIns="47728" rIns="95454" bIns="47728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2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l">
              <a:defRPr sz="1300">
                <a:latin typeface="Arial Unicode MS" panose="020B0604020202020204" pitchFamily="50" charset="-128"/>
              </a:defRPr>
            </a:lvl1pPr>
          </a:lstStyle>
          <a:p>
            <a:endParaRPr lang="ja-JP" altLang="en-US" dirty="0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4021295" y="9721106"/>
            <a:ext cx="3076364" cy="511731"/>
          </a:xfrm>
          <a:prstGeom prst="rect">
            <a:avLst/>
          </a:prstGeom>
        </p:spPr>
        <p:txBody>
          <a:bodyPr vert="horz" lIns="95454" tIns="47728" rIns="95454" bIns="47728" rtlCol="0" anchor="b"/>
          <a:lstStyle>
            <a:lvl1pPr algn="r">
              <a:defRPr sz="1300">
                <a:latin typeface="Arial Unicode MS" panose="020B0604020202020204" pitchFamily="50" charset="-128"/>
              </a:defRPr>
            </a:lvl1pPr>
          </a:lstStyle>
          <a:p>
            <a:fld id="{2387BCBC-5AA8-4F2B-B14D-5C8B2E94AE7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017861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Arial Unicode MS" panose="020B0604020202020204" pitchFamily="50" charset="-128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2101398" y="2296890"/>
            <a:ext cx="6743464" cy="1038225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4D4D4D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kumimoji="1" lang="ja-JP" altLang="en-US" dirty="0"/>
              <a:t>タイトル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910662" y="4052664"/>
            <a:ext cx="6934200" cy="1752600"/>
          </a:xfrm>
        </p:spPr>
        <p:txBody>
          <a:bodyPr anchor="b">
            <a:normAutofit/>
          </a:bodyPr>
          <a:lstStyle>
            <a:lvl1pPr marL="0" indent="0" algn="r">
              <a:buNone/>
              <a:defRPr sz="2000">
                <a:solidFill>
                  <a:srgbClr val="4D4D4D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年月日</a:t>
            </a:r>
            <a:br>
              <a:rPr kumimoji="1" lang="en-US" altLang="ja-JP" dirty="0"/>
            </a:br>
            <a:r>
              <a:rPr kumimoji="1" lang="ja-JP" altLang="en-US" dirty="0"/>
              <a:t>名前</a:t>
            </a:r>
          </a:p>
        </p:txBody>
      </p:sp>
      <p:sp>
        <p:nvSpPr>
          <p:cNvPr id="8" name="正方形/長方形 7"/>
          <p:cNvSpPr/>
          <p:nvPr userDrawn="1"/>
        </p:nvSpPr>
        <p:spPr>
          <a:xfrm>
            <a:off x="0" y="0"/>
            <a:ext cx="1286593" cy="6858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latin typeface="Arial Unicode MS" panose="020B0604020202020204" pitchFamily="50" charset="-128"/>
            </a:endParaRPr>
          </a:p>
        </p:txBody>
      </p:sp>
      <p:sp>
        <p:nvSpPr>
          <p:cNvPr id="7" name="正方形/長方形 6"/>
          <p:cNvSpPr/>
          <p:nvPr userDrawn="1"/>
        </p:nvSpPr>
        <p:spPr>
          <a:xfrm>
            <a:off x="7964857" y="1196753"/>
            <a:ext cx="1286593" cy="1698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 dirty="0">
              <a:solidFill>
                <a:schemeClr val="bg1"/>
              </a:solidFill>
            </a:endParaRPr>
          </a:p>
        </p:txBody>
      </p:sp>
      <p:cxnSp>
        <p:nvCxnSpPr>
          <p:cNvPr id="15" name="直線コネクタ 14"/>
          <p:cNvCxnSpPr/>
          <p:nvPr userDrawn="1"/>
        </p:nvCxnSpPr>
        <p:spPr>
          <a:xfrm>
            <a:off x="2101398" y="3379440"/>
            <a:ext cx="666545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5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出所：　</a:t>
            </a:r>
            <a:endParaRPr lang="ja-JP" altLang="en-US" dirty="0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333333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cxnSp>
        <p:nvCxnSpPr>
          <p:cNvPr id="8" name="直線コネクタ 7"/>
          <p:cNvCxnSpPr/>
          <p:nvPr userDrawn="1"/>
        </p:nvCxnSpPr>
        <p:spPr>
          <a:xfrm>
            <a:off x="0" y="869531"/>
            <a:ext cx="9906000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"/>
          <p:cNvSpPr>
            <a:spLocks noChangeArrowheads="1"/>
          </p:cNvSpPr>
          <p:nvPr userDrawn="1"/>
        </p:nvSpPr>
        <p:spPr bwMode="auto">
          <a:xfrm>
            <a:off x="6591182" y="6674616"/>
            <a:ext cx="3198355" cy="18338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lIns="90488" tIns="44450" rIns="90488" bIns="0" anchor="b">
            <a:spAutoFit/>
          </a:bodyPr>
          <a:lstStyle/>
          <a:p>
            <a:pPr algn="r"/>
            <a:r>
              <a:rPr lang="en-US" altLang="ja-JP" sz="900" b="0" dirty="0">
                <a:solidFill>
                  <a:schemeClr val="tx1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©Rubato</a:t>
            </a:r>
            <a:r>
              <a:rPr lang="en-US" altLang="ja-JP" sz="900" dirty="0">
                <a:solidFill>
                  <a:schemeClr val="tx1"/>
                </a:solidFill>
                <a:latin typeface="Arial Unicode MS" panose="020B0604020202020204" pitchFamily="50" charset="-128"/>
                <a:ea typeface="Arial Unicode MS" panose="020B0604020202020204" pitchFamily="50" charset="-128"/>
                <a:cs typeface="Arial Unicode MS" panose="020B0604020202020204" pitchFamily="50" charset="-128"/>
              </a:rPr>
              <a:t> Co., Ltd. –Confidential-</a:t>
            </a:r>
            <a:endParaRPr lang="en-US" altLang="ja-JP" sz="1100" b="0" dirty="0">
              <a:solidFill>
                <a:schemeClr val="tx1"/>
              </a:solidFill>
              <a:latin typeface="Arial Unicode MS" panose="020B0604020202020204" pitchFamily="50" charset="-128"/>
              <a:ea typeface="Arial Unicode MS" panose="020B0604020202020204" pitchFamily="50" charset="-128"/>
              <a:cs typeface="Arial Unicode MS" panose="020B0604020202020204" pitchFamily="50" charset="-128"/>
            </a:endParaRPr>
          </a:p>
        </p:txBody>
      </p:sp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0" y="1"/>
            <a:ext cx="9906000" cy="836712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r>
              <a:rPr kumimoji="1" lang="en-US" altLang="ja-JP" dirty="0"/>
              <a:t>T1</a:t>
            </a:r>
            <a:endParaRPr kumimoji="1" lang="ja-JP" altLang="en-US" dirty="0"/>
          </a:p>
        </p:txBody>
      </p:sp>
      <p:sp>
        <p:nvSpPr>
          <p:cNvPr id="13" name="テキスト プレースホルダー 12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869950"/>
            <a:ext cx="9906000" cy="470818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T2</a:t>
            </a:r>
            <a:endParaRPr kumimoji="1" lang="ja-JP" altLang="en-US" dirty="0"/>
          </a:p>
        </p:txBody>
      </p:sp>
      <p:pic>
        <p:nvPicPr>
          <p:cNvPr id="14" name="図 13"/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91"/>
          <a:stretch/>
        </p:blipFill>
        <p:spPr>
          <a:xfrm>
            <a:off x="8190359" y="115794"/>
            <a:ext cx="1517022" cy="6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971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78" userDrawn="1">
          <p15:clr>
            <a:srgbClr val="FBAE40"/>
          </p15:clr>
        </p15:guide>
        <p15:guide id="2" pos="308">
          <p15:clr>
            <a:srgbClr val="FBAE40"/>
          </p15:clr>
        </p15:guide>
        <p15:guide id="3" pos="5932">
          <p15:clr>
            <a:srgbClr val="FBAE40"/>
          </p15:clr>
        </p15:guide>
        <p15:guide id="4" orient="horz" pos="1026">
          <p15:clr>
            <a:srgbClr val="FBAE40"/>
          </p15:clr>
        </p15:guide>
        <p15:guide id="5" orient="horz" pos="3974">
          <p15:clr>
            <a:srgbClr val="FBAE40"/>
          </p15:clr>
        </p15:guide>
        <p15:guide id="6" pos="31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600201"/>
            <a:ext cx="89154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21291" y="6485617"/>
            <a:ext cx="69436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rgbClr val="4D4D4D"/>
                </a:solidFill>
                <a:latin typeface="Arial Unicode MS" panose="020B0604020202020204" pitchFamily="50" charset="-128"/>
              </a:defRPr>
            </a:lvl1pPr>
          </a:lstStyle>
          <a:p>
            <a:r>
              <a:rPr lang="ja-JP" altLang="en-US" dirty="0"/>
              <a:t>出所：　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7595051" y="6508228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rgbClr val="4D4D4D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defRPr>
            </a:lvl1pPr>
          </a:lstStyle>
          <a:p>
            <a:fld id="{618100BA-33A5-45E8-9E48-58FC381EFEDD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17461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ＭＳ Ｐゴシック" panose="020B0600070205080204" pitchFamily="50" charset="-128"/>
          <a:ea typeface="ＭＳ Ｐゴシック" panose="020B0600070205080204" pitchFamily="5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入会者増加のための</a:t>
            </a:r>
            <a:br>
              <a:rPr lang="en-US" altLang="ja-JP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プロモーション企画書</a:t>
            </a:r>
            <a:endParaRPr kumimoji="1" lang="ja-JP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サブタイトル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 dirty="0">
                <a:solidFill>
                  <a:schemeClr val="tx1"/>
                </a:solidFill>
                <a:latin typeface="+mj-ea"/>
                <a:ea typeface="+mj-ea"/>
              </a:rPr>
              <a:t>20XX</a:t>
            </a:r>
            <a:r>
              <a:rPr kumimoji="1" lang="ja-JP" altLang="en-US" dirty="0">
                <a:solidFill>
                  <a:schemeClr val="tx1"/>
                </a:solidFill>
                <a:latin typeface="+mj-ea"/>
                <a:ea typeface="+mj-ea"/>
              </a:rPr>
              <a:t>年</a:t>
            </a:r>
            <a:r>
              <a:rPr lang="en-US" altLang="ja-JP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月</a:t>
            </a:r>
            <a:r>
              <a:rPr lang="en-US" altLang="ja-JP" dirty="0">
                <a:solidFill>
                  <a:schemeClr val="tx1"/>
                </a:solidFill>
                <a:latin typeface="+mj-ea"/>
                <a:ea typeface="+mj-ea"/>
              </a:rPr>
              <a:t>15</a:t>
            </a:r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日</a:t>
            </a:r>
            <a:endParaRPr lang="en-US" altLang="ja-JP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ja-JP" altLang="en-US" dirty="0">
                <a:solidFill>
                  <a:schemeClr val="tx1"/>
                </a:solidFill>
                <a:latin typeface="+mj-ea"/>
                <a:ea typeface="+mj-ea"/>
              </a:rPr>
              <a:t>  営業部　高橋　葵</a:t>
            </a:r>
            <a:endParaRPr kumimoji="1" lang="ja-JP" altLang="en-US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891"/>
          <a:stretch/>
        </p:blipFill>
        <p:spPr>
          <a:xfrm>
            <a:off x="7257256" y="620688"/>
            <a:ext cx="1919869" cy="765817"/>
          </a:xfrm>
          <a:prstGeom prst="rect">
            <a:avLst/>
          </a:prstGeo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174917" y="6316762"/>
            <a:ext cx="7692629" cy="35266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0" anchor="b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©Rubato.</a:t>
            </a:r>
            <a:endParaRPr kumimoji="0" lang="en-US" altLang="ja-JP" sz="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COMPANY CONFIDENTIAL</a:t>
            </a:r>
          </a:p>
        </p:txBody>
      </p:sp>
      <p:sp>
        <p:nvSpPr>
          <p:cNvPr id="11" name="コンテンツ プレースホルダー 16"/>
          <p:cNvSpPr txBox="1">
            <a:spLocks/>
          </p:cNvSpPr>
          <p:nvPr/>
        </p:nvSpPr>
        <p:spPr>
          <a:xfrm>
            <a:off x="1286404" y="6443664"/>
            <a:ext cx="889133" cy="2254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 marL="0" indent="0" algn="l" defTabSz="457200" rtl="0" eaLnBrk="1" latinLnBrk="0" hangingPunct="1">
              <a:buNone/>
              <a:defRPr sz="1200" kern="1200">
                <a:solidFill>
                  <a:srgbClr val="4D4D4D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n-cs"/>
              </a:defRPr>
            </a:lvl1pPr>
            <a:lvl2pPr marL="457200" indent="0" algn="l" defTabSz="457200" rtl="0" eaLnBrk="1" latinLnBrk="0" hangingPunct="1">
              <a:buNone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buNone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50" charset="-128"/>
                <a:cs typeface="Arial" panose="020B0604020202020204" pitchFamily="34" charset="0"/>
              </a:rPr>
              <a:t>091-aa1</a:t>
            </a: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50" charset="-128"/>
              <a:cs typeface="Arial" panose="020B0604020202020204" pitchFamily="34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E4AA030-FC33-45A2-BDEF-6BA8AB4B22B7}"/>
              </a:ext>
            </a:extLst>
          </p:cNvPr>
          <p:cNvSpPr/>
          <p:nvPr/>
        </p:nvSpPr>
        <p:spPr>
          <a:xfrm>
            <a:off x="7423387" y="1723224"/>
            <a:ext cx="1587606" cy="57606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" rIns="3600" rtlCol="0" anchor="ctr"/>
          <a:lstStyle/>
          <a:p>
            <a:pPr algn="ctr"/>
            <a:r>
              <a:rPr kumimoji="1" lang="en-US" altLang="ja-JP" sz="1600" b="1" dirty="0"/>
              <a:t>ver. 0.1</a:t>
            </a:r>
            <a:endParaRPr kumimoji="1" lang="ja-JP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346917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4294967295"/>
          </p:nvPr>
        </p:nvSpPr>
        <p:spPr>
          <a:xfrm>
            <a:off x="632521" y="1684767"/>
            <a:ext cx="8892479" cy="4320479"/>
          </a:xfrm>
        </p:spPr>
        <p:txBody>
          <a:bodyPr>
            <a:noAutofit/>
          </a:bodyPr>
          <a:lstStyle/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フィットネスルバートの入会者数は過去</a:t>
            </a:r>
            <a:r>
              <a:rPr lang="en-US" altLang="ja-JP" sz="2000" dirty="0">
                <a:latin typeface="+mj-ea"/>
                <a:ea typeface="+mj-ea"/>
              </a:rPr>
              <a:t>3</a:t>
            </a:r>
            <a:r>
              <a:rPr lang="ja-JP" altLang="en-US" sz="2000" dirty="0">
                <a:latin typeface="+mj-ea"/>
                <a:ea typeface="+mj-ea"/>
              </a:rPr>
              <a:t>か月間で前年同月比</a:t>
            </a:r>
            <a:r>
              <a:rPr lang="en-US" altLang="ja-JP" sz="2000" dirty="0">
                <a:latin typeface="+mj-ea"/>
                <a:ea typeface="+mj-ea"/>
              </a:rPr>
              <a:t>5%</a:t>
            </a:r>
            <a:r>
              <a:rPr lang="ja-JP" altLang="en-US" sz="2000" dirty="0">
                <a:latin typeface="+mj-ea"/>
                <a:ea typeface="+mj-ea"/>
              </a:rPr>
              <a:t>低下している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ja-JP" altLang="en-US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その要因として体験入会者数が前年同月比で</a:t>
            </a:r>
            <a:r>
              <a:rPr lang="en-US" altLang="ja-JP" sz="2000" dirty="0">
                <a:latin typeface="+mj-ea"/>
                <a:ea typeface="+mj-ea"/>
              </a:rPr>
              <a:t>5%</a:t>
            </a:r>
            <a:r>
              <a:rPr lang="ja-JP" altLang="en-US" sz="2000" dirty="0">
                <a:latin typeface="+mj-ea"/>
                <a:ea typeface="+mj-ea"/>
              </a:rPr>
              <a:t>減少している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ja-JP" altLang="en-US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体験入会者を増やすためにトレーナー無料お試しキャンペーンが他の方法と比較して労力と効果の点から最適と思われる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ja-JP" altLang="en-US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プロモーションの効果として平均で</a:t>
            </a:r>
            <a:r>
              <a:rPr lang="en-US" altLang="ja-JP" sz="2000" dirty="0">
                <a:latin typeface="+mj-ea"/>
                <a:ea typeface="+mj-ea"/>
              </a:rPr>
              <a:t>15</a:t>
            </a:r>
            <a:r>
              <a:rPr lang="ja-JP" altLang="en-US" sz="2000" dirty="0">
                <a:latin typeface="+mj-ea"/>
                <a:ea typeface="+mj-ea"/>
              </a:rPr>
              <a:t>人／月の入会者の増加が期待できる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2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+mj-ea"/>
                <a:ea typeface="+mj-ea"/>
              </a:rPr>
              <a:t>サマリー</a:t>
            </a:r>
            <a:endParaRPr kumimoji="1"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48047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/>
          <p:cNvSpPr>
            <a:spLocks noGrp="1"/>
          </p:cNvSpPr>
          <p:nvPr>
            <p:ph idx="4294967295"/>
          </p:nvPr>
        </p:nvSpPr>
        <p:spPr>
          <a:xfrm>
            <a:off x="632521" y="1684767"/>
            <a:ext cx="8892479" cy="4320479"/>
          </a:xfrm>
        </p:spPr>
        <p:txBody>
          <a:bodyPr>
            <a:noAutofit/>
          </a:bodyPr>
          <a:lstStyle/>
          <a:p>
            <a:pPr marL="0" defTabSz="763588" fontAlgn="ctr"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背景：</a:t>
            </a:r>
            <a:r>
              <a:rPr lang="en-US" altLang="ja-JP" sz="2000" dirty="0">
                <a:latin typeface="+mj-ea"/>
                <a:ea typeface="+mj-ea"/>
              </a:rPr>
              <a:t>	</a:t>
            </a:r>
            <a:r>
              <a:rPr lang="ja-JP" altLang="ja-JP" sz="2000" dirty="0">
                <a:latin typeface="+mj-ea"/>
                <a:ea typeface="+mj-ea"/>
              </a:rPr>
              <a:t>入会者の推移</a:t>
            </a:r>
            <a:endParaRPr lang="en-US" altLang="ja-JP" sz="2000" dirty="0">
              <a:latin typeface="+mj-ea"/>
              <a:ea typeface="+mj-ea"/>
            </a:endParaRPr>
          </a:p>
          <a:p>
            <a:pPr marL="0" indent="0" defTabSz="763588" fontAlgn="ctr">
              <a:spcBef>
                <a:spcPts val="0"/>
              </a:spcBef>
              <a:buNone/>
            </a:pPr>
            <a:endParaRPr lang="ja-JP" altLang="ja-JP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課題：</a:t>
            </a:r>
            <a:r>
              <a:rPr lang="en-US" altLang="ja-JP" sz="2000" dirty="0">
                <a:latin typeface="+mj-ea"/>
                <a:ea typeface="+mj-ea"/>
              </a:rPr>
              <a:t>	</a:t>
            </a:r>
            <a:r>
              <a:rPr lang="ja-JP" altLang="ja-JP" sz="2000" dirty="0">
                <a:latin typeface="+mj-ea"/>
                <a:ea typeface="+mj-ea"/>
              </a:rPr>
              <a:t>入会者減少の原因</a:t>
            </a:r>
            <a:endParaRPr lang="en-US" altLang="ja-JP" sz="2000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endParaRPr lang="ja-JP" altLang="ja-JP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解決策：</a:t>
            </a:r>
            <a:r>
              <a:rPr lang="en-US" altLang="ja-JP" sz="2000" dirty="0">
                <a:latin typeface="+mj-ea"/>
                <a:ea typeface="+mj-ea"/>
              </a:rPr>
              <a:t>	</a:t>
            </a:r>
            <a:r>
              <a:rPr lang="ja-JP" altLang="ja-JP" sz="2000" dirty="0">
                <a:latin typeface="+mj-ea"/>
                <a:ea typeface="+mj-ea"/>
              </a:rPr>
              <a:t>入会者増加のためのプロモーション</a:t>
            </a:r>
            <a:endParaRPr lang="en-US" altLang="ja-JP" sz="2000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endParaRPr lang="en-US" altLang="ja-JP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効果：</a:t>
            </a:r>
            <a:r>
              <a:rPr lang="en-US" altLang="ja-JP" sz="2000" dirty="0">
                <a:latin typeface="+mj-ea"/>
                <a:ea typeface="+mj-ea"/>
              </a:rPr>
              <a:t>	</a:t>
            </a:r>
            <a:r>
              <a:rPr lang="ja-JP" altLang="ja-JP" sz="2000" dirty="0">
                <a:latin typeface="+mj-ea"/>
                <a:ea typeface="+mj-ea"/>
              </a:rPr>
              <a:t>プロモーションの効果</a:t>
            </a:r>
            <a:endParaRPr lang="en-US" altLang="ja-JP" sz="2000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endParaRPr lang="en-US" altLang="ja-JP" dirty="0">
              <a:latin typeface="+mj-ea"/>
              <a:ea typeface="+mj-ea"/>
            </a:endParaRPr>
          </a:p>
          <a:p>
            <a:pPr marL="0" defTabSz="763588" fontAlgn="ctr"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結論</a:t>
            </a:r>
            <a:endParaRPr lang="en-US" altLang="ja-JP" sz="2000" dirty="0">
              <a:latin typeface="+mj-ea"/>
              <a:ea typeface="+mj-ea"/>
            </a:endParaRP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3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+mj-ea"/>
                <a:ea typeface="+mj-ea"/>
              </a:rPr>
              <a:t>目次</a:t>
            </a:r>
            <a:endParaRPr kumimoji="1" lang="ja-JP" altLang="en-US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90022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出所：　</a:t>
            </a:r>
            <a:endParaRPr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4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>
                <a:latin typeface="+mj-ea"/>
              </a:rPr>
              <a:t>入会者</a:t>
            </a:r>
            <a:r>
              <a:rPr lang="ja-JP" altLang="en-US" dirty="0">
                <a:latin typeface="+mj-ea"/>
              </a:rPr>
              <a:t>数の推移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入会者数が前年同月比で５％低下している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67026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出所：　</a:t>
            </a:r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5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solidFill>
                  <a:schemeClr val="tx1"/>
                </a:solidFill>
              </a:rPr>
              <a:t>入会者減少の原因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体験入会者数が前年同月比で</a:t>
            </a:r>
            <a:r>
              <a:rPr lang="en-US" altLang="ja-JP" dirty="0"/>
              <a:t>5%</a:t>
            </a:r>
            <a:r>
              <a:rPr lang="ja-JP" altLang="en-US" dirty="0"/>
              <a:t>減少している</a:t>
            </a: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563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/>
              <a:t>出所：　</a:t>
            </a:r>
            <a:endParaRPr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6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ja-JP" dirty="0"/>
              <a:t>入会者増加のためのプロモーション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トレーナー無料</a:t>
            </a:r>
            <a:r>
              <a:rPr lang="ja-JP" altLang="en-US"/>
              <a:t>お試しキャンペーン</a:t>
            </a:r>
            <a:r>
              <a:rPr lang="ja-JP" altLang="en-US" dirty="0"/>
              <a:t>はコストと効果の点から</a:t>
            </a:r>
            <a:r>
              <a:rPr lang="ja-JP" altLang="en-US"/>
              <a:t>最適と思われる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8974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ja-JP" altLang="en-US" dirty="0"/>
              <a:t>出所：</a:t>
            </a:r>
            <a:r>
              <a:rPr lang="ja-JP" altLang="en-US"/>
              <a:t>　</a:t>
            </a:r>
            <a:endParaRPr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7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プロモーションの効果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段階的な導入でプロモーションの効果として平均</a:t>
            </a:r>
            <a:r>
              <a:rPr lang="en-US" altLang="ja-JP" dirty="0"/>
              <a:t>15</a:t>
            </a:r>
            <a:r>
              <a:rPr lang="ja-JP" altLang="en-US" dirty="0"/>
              <a:t>人／月の入会者の増加が期待できる</a:t>
            </a:r>
          </a:p>
        </p:txBody>
      </p:sp>
    </p:spTree>
    <p:extLst>
      <p:ext uri="{BB962C8B-B14F-4D97-AF65-F5344CB8AC3E}">
        <p14:creationId xmlns:p14="http://schemas.microsoft.com/office/powerpoint/2010/main" val="1765961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フッター プレースホルダー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1" lang="ja-JP" altLang="en-US"/>
              <a:t>出所：　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8100BA-33A5-45E8-9E48-58FC381EFEDD}" type="slidenum">
              <a:rPr lang="ja-JP" altLang="en-US" smtClean="0"/>
              <a:pPr/>
              <a:t>8</a:t>
            </a:fld>
            <a:endParaRPr lang="ja-JP" altLang="en-US" dirty="0"/>
          </a:p>
        </p:txBody>
      </p:sp>
      <p:sp>
        <p:nvSpPr>
          <p:cNvPr id="4" name="タイトル 3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pPr fontAlgn="ctr"/>
            <a:r>
              <a:rPr lang="ja-JP" altLang="en-US" dirty="0"/>
              <a:t>結論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endParaRPr lang="ja-JP" altLang="en-US">
              <a:cs typeface="+mj-cs"/>
            </a:endParaRPr>
          </a:p>
        </p:txBody>
      </p:sp>
      <p:sp>
        <p:nvSpPr>
          <p:cNvPr id="6" name="コンテンツ プレースホルダー 1"/>
          <p:cNvSpPr txBox="1">
            <a:spLocks/>
          </p:cNvSpPr>
          <p:nvPr/>
        </p:nvSpPr>
        <p:spPr>
          <a:xfrm>
            <a:off x="632521" y="1518380"/>
            <a:ext cx="8892479" cy="432047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32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8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4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kumimoji="1" sz="20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kumimoji="1" sz="2000" kern="120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フィットネスルバートの入会者数が減少している要因として、体験入会者数が前年同月比で</a:t>
            </a:r>
            <a:r>
              <a:rPr lang="en-US" altLang="ja-JP" sz="2000" dirty="0">
                <a:latin typeface="+mj-ea"/>
                <a:ea typeface="+mj-ea"/>
              </a:rPr>
              <a:t>5%</a:t>
            </a:r>
            <a:r>
              <a:rPr lang="ja-JP" altLang="en-US" sz="2000" dirty="0">
                <a:latin typeface="+mj-ea"/>
                <a:ea typeface="+mj-ea"/>
              </a:rPr>
              <a:t>減少していることが挙げられる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ja-JP" altLang="en-US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体験入会者を増やすために</a:t>
            </a:r>
            <a:r>
              <a:rPr lang="ja-JP" altLang="en-US" sz="2000" dirty="0">
                <a:latin typeface="+mj-ea"/>
              </a:rPr>
              <a:t>トレーナー無料お試しキャンペーンが他の方法と比較して労力と効果の点から最適と思われる</a:t>
            </a:r>
            <a:endParaRPr lang="en-US" altLang="ja-JP" sz="2000" dirty="0">
              <a:latin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プロモーションの効果として平均で</a:t>
            </a:r>
            <a:r>
              <a:rPr lang="en-US" altLang="ja-JP" sz="2000" dirty="0">
                <a:latin typeface="+mj-ea"/>
                <a:ea typeface="+mj-ea"/>
              </a:rPr>
              <a:t>15</a:t>
            </a:r>
            <a:r>
              <a:rPr lang="ja-JP" altLang="en-US" sz="2000" dirty="0">
                <a:latin typeface="+mj-ea"/>
                <a:ea typeface="+mj-ea"/>
              </a:rPr>
              <a:t>人／月の入会者の増加が期待できる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前例のないプロモーションなので、まずはパイロット的に地域限定での実施を提案する</a:t>
            </a: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endParaRPr lang="en-US" altLang="ja-JP" sz="2000" dirty="0">
              <a:latin typeface="+mj-ea"/>
              <a:ea typeface="+mj-ea"/>
            </a:endParaRPr>
          </a:p>
          <a:p>
            <a:pPr marL="361950" indent="-276225" defTabSz="763588" fontAlgn="ctr">
              <a:lnSpc>
                <a:spcPts val="2900"/>
              </a:lnSpc>
              <a:spcBef>
                <a:spcPts val="0"/>
              </a:spcBef>
            </a:pPr>
            <a:r>
              <a:rPr lang="ja-JP" altLang="en-US" sz="2000" dirty="0">
                <a:latin typeface="+mj-ea"/>
                <a:ea typeface="+mj-ea"/>
              </a:rPr>
              <a:t>本企画内容につきご検討いただき、問題がなければ</a:t>
            </a:r>
            <a:r>
              <a:rPr lang="en-US" altLang="ja-JP" sz="2000" dirty="0">
                <a:latin typeface="+mj-ea"/>
                <a:ea typeface="+mj-ea"/>
              </a:rPr>
              <a:t>3</a:t>
            </a:r>
            <a:r>
              <a:rPr lang="ja-JP" altLang="en-US" sz="2000" dirty="0">
                <a:latin typeface="+mj-ea"/>
                <a:ea typeface="+mj-ea"/>
              </a:rPr>
              <a:t>月</a:t>
            </a:r>
            <a:r>
              <a:rPr lang="en-US" altLang="ja-JP" sz="2000" dirty="0">
                <a:latin typeface="+mj-ea"/>
                <a:ea typeface="+mj-ea"/>
              </a:rPr>
              <a:t>8</a:t>
            </a:r>
            <a:r>
              <a:rPr lang="ja-JP" altLang="en-US" sz="2000" dirty="0">
                <a:latin typeface="+mj-ea"/>
                <a:ea typeface="+mj-ea"/>
              </a:rPr>
              <a:t>日（水）までに</a:t>
            </a:r>
            <a:r>
              <a:rPr lang="ja-JP" altLang="en-US" sz="2000" dirty="0">
                <a:latin typeface="+mj-ea"/>
              </a:rPr>
              <a:t>推進のご承認を</a:t>
            </a:r>
            <a:r>
              <a:rPr lang="ja-JP" altLang="en-US" sz="2000" dirty="0">
                <a:latin typeface="+mj-ea"/>
                <a:ea typeface="+mj-ea"/>
              </a:rPr>
              <a:t>いただきたい</a:t>
            </a:r>
          </a:p>
        </p:txBody>
      </p:sp>
    </p:spTree>
    <p:extLst>
      <p:ext uri="{BB962C8B-B14F-4D97-AF65-F5344CB8AC3E}">
        <p14:creationId xmlns:p14="http://schemas.microsoft.com/office/powerpoint/2010/main" val="70141678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lIns="3600" rIns="3600" rtlCol="0" anchor="ctr"/>
      <a:lstStyle>
        <a:defPPr algn="ctr">
          <a:defRPr kumimoji="1" sz="1600" b="1" i="1" u="sng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1400" dirty="0" smtClean="0">
            <a:solidFill>
              <a:srgbClr val="4D4D4D"/>
            </a:solidFill>
            <a:latin typeface="Meiryo UI" panose="020B0604030504040204" pitchFamily="50" charset="-128"/>
            <a:ea typeface="Meiryo UI" panose="020B0604030504040204" pitchFamily="50" charset="-128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35070</TotalTime>
  <Words>334</Words>
  <Application>Microsoft Office PowerPoint</Application>
  <PresentationFormat>A4 210 x 297 mm</PresentationFormat>
  <Paragraphs>55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Arial Unicode MS</vt:lpstr>
      <vt:lpstr>ＭＳ Ｐゴシック</vt:lpstr>
      <vt:lpstr>Arial</vt:lpstr>
      <vt:lpstr>1_Office テーマ</vt:lpstr>
      <vt:lpstr>入会者増加のための プロモーション企画書</vt:lpstr>
      <vt:lpstr>サマリー</vt:lpstr>
      <vt:lpstr>目次</vt:lpstr>
      <vt:lpstr>入会者数の推移</vt:lpstr>
      <vt:lpstr>入会者減少の原因</vt:lpstr>
      <vt:lpstr>入会者増加のためのプロモーション</vt:lpstr>
      <vt:lpstr>プロモーションの効果</vt:lpstr>
      <vt:lpstr>結論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Junichiro MATSUGAMI</dc:creator>
  <cp:lastModifiedBy>junichiro matsugami</cp:lastModifiedBy>
  <cp:revision>651</cp:revision>
  <cp:lastPrinted>2014-01-26T16:38:26Z</cp:lastPrinted>
  <dcterms:created xsi:type="dcterms:W3CDTF">2010-08-14T15:39:40Z</dcterms:created>
  <dcterms:modified xsi:type="dcterms:W3CDTF">2025-01-08T00:25:55Z</dcterms:modified>
</cp:coreProperties>
</file>